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4.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Cambria"/>
              </a:defRPr>
            </a:pPr>
            <a:r>
              <a:rPr sz="1400" b="0" i="0" u="none" strike="noStrike">
                <a:solidFill>
                  <a:srgbClr val="16324F"/>
                </a:solidFill>
                <a:latin typeface="Cambria"/>
              </a:rPr>
              <a:t>QWK (mean over five folds)</a:t>
            </a:r>
          </a:p>
        </c:rich>
      </c:tx>
      <c:layout/>
      <c:overlay val="0"/>
    </c:title>
    <c:autoTitleDeleted val="0"/>
    <c:plotArea>
      <c:layout/>
      <c:barChart>
        <c:barDir val="col"/>
        <c:grouping val="clustered"/>
        <c:varyColors val="0"/>
        <c:ser>
          <c:idx val="0"/>
          <c:order val="0"/>
          <c:tx>
            <c:strRef>
              <c:f>Sheet1!$B$1</c:f>
              <c:strCache>
                <c:ptCount val="1"/>
                <c:pt idx="0">
                  <c:v>CNN baseline</c:v>
                </c:pt>
              </c:strCache>
            </c:strRef>
          </c:tx>
          <c:spPr>
            <a:solidFill>
              <a:srgbClr val="A7B4C2"/>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Kaggle DR</c:v>
                  </c:pt>
                  <c:pt idx="1">
                    <c:v>Messidor-2</c:v>
                  </c:pt>
                  <c:pt idx="2">
                    <c:v>APTOS 2019</c:v>
                  </c:pt>
                </c:lvl>
              </c:multiLvlStrCache>
            </c:multiLvlStrRef>
          </c:cat>
          <c:val>
            <c:numRef>
              <c:f>Sheet1!$B$2:$B$4</c:f>
              <c:numCache>
                <c:formatCode>General</c:formatCode>
                <c:ptCount val="3"/>
                <c:pt idx="0">
                  <c:v>0.84</c:v>
                </c:pt>
                <c:pt idx="1">
                  <c:v>0.83</c:v>
                </c:pt>
                <c:pt idx="2">
                  <c:v>0.82</c:v>
                </c:pt>
              </c:numCache>
            </c:numRef>
          </c:val>
        </c:ser>
        <c:ser>
          <c:idx val="1"/>
          <c:order val="1"/>
          <c:tx>
            <c:strRef>
              <c:f>Sheet1!$C$1</c:f>
              <c:strCache>
                <c:ptCount val="1"/>
                <c:pt idx="0">
                  <c:v>TOPORET</c:v>
                </c:pt>
              </c:strCache>
            </c:strRef>
          </c:tx>
          <c:spPr>
            <a:solidFill>
              <a:srgbClr val="1F4E79"/>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Kaggle DR</c:v>
                  </c:pt>
                  <c:pt idx="1">
                    <c:v>Messidor-2</c:v>
                  </c:pt>
                  <c:pt idx="2">
                    <c:v>APTOS 2019</c:v>
                  </c:pt>
                </c:lvl>
              </c:multiLvlStrCache>
            </c:multiLvlStrRef>
          </c:cat>
          <c:val>
            <c:numRef>
              <c:f>Sheet1!$C$2:$C$4</c:f>
              <c:numCache>
                <c:formatCode>General</c:formatCode>
                <c:ptCount val="3"/>
                <c:pt idx="0">
                  <c:v>0.88</c:v>
                </c:pt>
                <c:pt idx="1">
                  <c:v>0.9</c:v>
                </c:pt>
                <c:pt idx="2">
                  <c:v>0.86</c:v>
                </c:pt>
              </c:numCache>
            </c:numRef>
          </c:val>
        </c:ser>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95"/>
          <c:min val="0.75"/>
        </c:scaling>
        <c:delete val="0"/>
        <c:axPos val="l"/>
        <c:majorGridlines>
          <c:spPr>
            <a:ln w="6350" cap="flat">
              <a:solidFill>
                <a:srgbClr val="E3E7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Cambria"/>
              </a:defRPr>
            </a:pPr>
            <a:r>
              <a:rPr sz="1400" b="0" i="0" u="none" strike="noStrike">
                <a:solidFill>
                  <a:srgbClr val="16324F"/>
                </a:solidFill>
                <a:latin typeface="Cambria"/>
              </a:rPr>
              <a:t>QWK on Kaggle DR (five folds)</a:t>
            </a:r>
          </a:p>
        </c:rich>
      </c:tx>
      <c:layout/>
      <c:overlay val="0"/>
    </c:title>
    <c:autoTitleDeleted val="0"/>
    <c:plotArea>
      <c:layout/>
      <c:barChart>
        <c:barDir val="col"/>
        <c:grouping val="clustered"/>
        <c:varyColors val="0"/>
        <c:ser>
          <c:idx val="0"/>
          <c:order val="0"/>
          <c:tx>
            <c:strRef>
              <c:f>Sheet1!$B$1</c:f>
              <c:strCache>
                <c:ptCount val="1"/>
                <c:pt idx="0">
                  <c:v>QWK</c:v>
                </c:pt>
              </c:strCache>
            </c:strRef>
          </c:tx>
          <c:spPr>
            <a:solidFill>
              <a:srgbClr val="1F4E79"/>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Sheet1!$A$2:$A$5</c:f>
              <c:multiLvlStrCache>
                <c:ptCount val="4"/>
                <c:lvl>
                  <c:pt idx="0">
                    <c:v>(A) CNN only</c:v>
                  </c:pt>
                  <c:pt idx="1">
                    <c:v>(B) + TDA features</c:v>
                  </c:pt>
                  <c:pt idx="2">
                    <c:v>(C) + graph (TDA in edges)</c:v>
                  </c:pt>
                  <c:pt idx="3">
                    <c:v>(D) Full TOPORET</c:v>
                  </c:pt>
                </c:lvl>
              </c:multiLvlStrCache>
            </c:multiLvlStrRef>
          </c:cat>
          <c:val>
            <c:numRef>
              <c:f>Sheet1!$B$2:$B$5</c:f>
              <c:numCache>
                <c:formatCode>General</c:formatCode>
                <c:ptCount val="4"/>
                <c:pt idx="0">
                  <c:v>0.84</c:v>
                </c:pt>
                <c:pt idx="1">
                  <c:v>0.86</c:v>
                </c:pt>
                <c:pt idx="2">
                  <c:v>0.87</c:v>
                </c:pt>
                <c:pt idx="3">
                  <c:v>0.88</c:v>
                </c:pt>
              </c:numCache>
            </c:numRef>
          </c:val>
        </c:ser>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9"/>
          <c:min val="0.8"/>
        </c:scaling>
        <c:delete val="0"/>
        <c:axPos val="l"/>
        <c:majorGridlines>
          <c:spPr>
            <a:ln w="6350" cap="flat">
              <a:solidFill>
                <a:srgbClr val="E3E7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Cambria"/>
              </a:defRPr>
            </a:pPr>
            <a:r>
              <a:rPr sz="1400" b="0" i="0" u="none" strike="noStrike">
                <a:solidFill>
                  <a:srgbClr val="16324F"/>
                </a:solidFill>
                <a:latin typeface="Cambria"/>
              </a:rPr>
              <a:t>DGTS ablation, QWK (A1-A5 on APTOS 2019)</a:t>
            </a:r>
          </a:p>
        </c:rich>
      </c:tx>
      <c:layout/>
      <c:overlay val="0"/>
    </c:title>
    <c:autoTitleDeleted val="0"/>
    <c:plotArea>
      <c:layout/>
      <c:barChart>
        <c:barDir val="col"/>
        <c:grouping val="clustered"/>
        <c:varyColors val="0"/>
        <c:ser>
          <c:idx val="0"/>
          <c:order val="0"/>
          <c:tx>
            <c:strRef>
              <c:f>Sheet1!$B$1</c:f>
              <c:strCache>
                <c:ptCount val="1"/>
                <c:pt idx="0">
                  <c:v>QWK</c:v>
                </c:pt>
              </c:strCache>
            </c:strRef>
          </c:tx>
          <c:spPr>
            <a:solidFill>
              <a:srgbClr val="1B7A4E"/>
            </a:solidFill>
            <a:effectLst/>
          </c:spPr>
          <c:invertIfNegative val="0"/>
          <c:dLbls>
            <c:numFmt formatCode="0.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Sheet1!$A$2:$A$8</c:f>
              <c:multiLvlStrCache>
                <c:ptCount val="7"/>
                <c:lvl>
                  <c:pt idx="0">
                    <c:v>A1 CNN</c:v>
                  </c:pt>
                  <c:pt idx="1">
                    <c:v>A2 + focal</c:v>
                  </c:pt>
                  <c:pt idx="2">
                    <c:v>A3 + graph</c:v>
                  </c:pt>
                  <c:pt idx="3">
                    <c:v>A4 + PH</c:v>
                  </c:pt>
                  <c:pt idx="4">
                    <c:v>A5 graph+PH</c:v>
                  </c:pt>
                  <c:pt idx="5">
                    <c:v>A6 DGTS (fused)</c:v>
                  </c:pt>
                  <c:pt idx="6">
                    <c:v>A7 EMD loss</c:v>
                  </c:pt>
                </c:lvl>
              </c:multiLvlStrCache>
            </c:multiLvlStrRef>
          </c:cat>
          <c:val>
            <c:numRef>
              <c:f>Sheet1!$B$2:$B$8</c:f>
              <c:numCache>
                <c:formatCode>General</c:formatCode>
                <c:ptCount val="7"/>
                <c:pt idx="0">
                  <c:v>0.858</c:v>
                </c:pt>
                <c:pt idx="1">
                  <c:v>0.878</c:v>
                </c:pt>
                <c:pt idx="2">
                  <c:v>0.896</c:v>
                </c:pt>
                <c:pt idx="3">
                  <c:v>0.908</c:v>
                </c:pt>
                <c:pt idx="4">
                  <c:v>0.93</c:v>
                </c:pt>
                <c:pt idx="5">
                  <c:v>0.941</c:v>
                </c:pt>
                <c:pt idx="6">
                  <c:v>0.921</c:v>
                </c:pt>
              </c:numCache>
            </c:numRef>
          </c:val>
        </c:ser>
        <c:dLbls>
          <c:numFmt formatCode="0.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96"/>
          <c:min val="0.8"/>
        </c:scaling>
        <c:delete val="0"/>
        <c:axPos val="l"/>
        <c:majorGridlines>
          <c:spPr>
            <a:ln w="6350" cap="flat">
              <a:solidFill>
                <a:srgbClr val="E3E7EC"/>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324F"/>
                </a:solidFill>
                <a:latin typeface="Cambria"/>
              </a:defRPr>
            </a:pPr>
            <a:r>
              <a:rPr sz="1400" b="0" i="0" u="none" strike="noStrike">
                <a:solidFill>
                  <a:srgbClr val="16324F"/>
                </a:solidFill>
                <a:latin typeface="Cambria"/>
              </a:rPr>
              <a:t>Progressive ablation, QWK (5-fold CV, 10 epochs)</a:t>
            </a:r>
          </a:p>
        </c:rich>
      </c:tx>
      <c:layout/>
      <c:overlay val="0"/>
    </c:title>
    <c:autoTitleDeleted val="0"/>
    <c:plotArea>
      <c:layout/>
      <c:barChart>
        <c:barDir val="col"/>
        <c:grouping val="clustered"/>
        <c:varyColors val="0"/>
        <c:ser>
          <c:idx val="0"/>
          <c:order val="0"/>
          <c:tx>
            <c:strRef>
              <c:f>Sheet1!$B$1</c:f>
              <c:strCache>
                <c:ptCount val="1"/>
                <c:pt idx="0">
                  <c:v>QWK</c:v>
                </c:pt>
              </c:strCache>
            </c:strRef>
          </c:tx>
          <c:spPr>
            <a:solidFill>
              <a:srgbClr val="6B3D8C"/>
            </a:solidFill>
            <a:effectLst/>
          </c:spPr>
          <c:invertIfNegative val="0"/>
          <c:dLbls>
            <c:numFmt formatCode="0.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Sheet1!$A$2:$A$6</c:f>
              <c:multiLvlStrCache>
                <c:ptCount val="5"/>
                <c:lvl>
                  <c:pt idx="0">
                    <c:v>EfficientNet-B3</c:v>
                  </c:pt>
                  <c:pt idx="1">
                    <c:v>+ TTA ×5</c:v>
                  </c:pt>
                  <c:pt idx="2">
                    <c:v>+ GraphSAGE</c:v>
                  </c:pt>
                  <c:pt idx="3">
                    <c:v>FRE replacing graph</c:v>
                  </c:pt>
                  <c:pt idx="4">
                    <c:v>+ CORAL (DOTS)</c:v>
                  </c:pt>
                </c:lvl>
              </c:multiLvlStrCache>
            </c:multiLvlStrRef>
          </c:cat>
          <c:val>
            <c:numRef>
              <c:f>Sheet1!$B$2:$B$6</c:f>
              <c:numCache>
                <c:formatCode>General</c:formatCode>
                <c:ptCount val="5"/>
                <c:pt idx="0">
                  <c:v>0.903</c:v>
                </c:pt>
                <c:pt idx="1">
                  <c:v>0.918</c:v>
                </c:pt>
                <c:pt idx="2">
                  <c:v>0.928</c:v>
                </c:pt>
                <c:pt idx="3">
                  <c:v>0.937</c:v>
                </c:pt>
                <c:pt idx="4">
                  <c:v>0.943</c:v>
                </c:pt>
              </c:numCache>
            </c:numRef>
          </c:val>
        </c:ser>
        <c:dLbls>
          <c:numFmt formatCode="0.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95"/>
          <c:min val="0.88"/>
        </c:scaling>
        <c:delete val="0"/>
        <c:axPos val="l"/>
        <c:majorGridlines>
          <c:spPr>
            <a:ln w="6350" cap="flat">
              <a:solidFill>
                <a:srgbClr val="E3E7EC"/>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0:45] Bonjour. Je remercie les membres du jury. Je vais présenter ma thèse intitulée « Deep Learning-Based Prediction of Disease Severity Using Medical Imaging: An Application to Diabetology ». En une phrase : la thèse étudie comment trois types d'information – les relations entre images, la topologie des vaisseaux rétiniens et l'ordre des grades – peuvent améliorer le classement automatique de la rétinopathie diabétique. Les trois cercles R, S, O sur cette diapositive reviendront tout au long de la présentation : R pour Relationnel, S pour Structurel (topologie), O pour Ordinal.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1:15] Le plan suit la logique de la thèse : d'abord le contexte médical expliqué simplement, puis le problème et les hypothèses, les outils utilisés, les premiers résultats, puis les trois systèmes TOPORET, DGTS et DOTS, la partie logicielle, et enfin la synthèse : ce qui est établi, ce qui ne l'est pas, et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Première partie : le contexte. Je vais l'expliquer simplement, sans prérequis médical.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 3:00] Explication simple : le diabète abîme progressivement les petits vaisseaux sanguins, y compris ceux de la rétine, au fond de l'œil. C'est la rétinopathie diabétique. Environ 537 millions d'adultes sont diabétiques, 783 millions attendus en 2045, et environ 103 millions ont une rétinopathie. Le point essentiel : la maladie est silencieuse. Le patient voit bien jusqu'à un stade avancé, alors que le traitement est surtout efficace tôt. D'où la nécessité de dépister chaque diabétique régulièrement, en photographiant le fond d'œil.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4:30] Voici les cinq grades de l'échelle internationale ICDR, de 0 (pas de rétinopathie) à 4 (rétinopathie proliférante). Les signes apparaissent dans les vaisseaux : micro-anévrismes, hémorragies, puis, au stade proliférant, de nouveaux vaisseaux anormaux. Ce qui compte pour la sécurité : les grades 3 et 4 doivent être orientés vers l'ophtalmologiste en quelques semaines, voire en urgence. Les grades sont ordonnés : confondre 0 et 4 est bien plus grave que confondre 1 et 2. C'est une idée clé de la 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 – 6:00] Un système peut avoir une bonne précision globale et pourtant rater des cas graves. La mesure de sécurité de la thèse est le Sev-NR : la proportion d'images sévères classées « pas de RD » ou « légère », donc non orientées. Exemple illustratif : un programme de 500 000 patients par an, dont environ 25 000 cas sévères. Avec un Sev-NR de 5,8 % – celui d'un CNN de référence sur Messidor-2 dans cette thèse – environ 1 450 cas sévères ne seraient pas orientés chaque année. C'est une projection sous hypothèses, pas un résultat clinique, mais elle montre pourquoi on mesure la sécurité à côté de la précision.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7:30] En étudiant les systèmes représentatifs – Gulshan 2016, CABNet, RETFound – on observe trois limites architecturales. L1 : chaque image est classée seule ; des patients qui se ressemblent ne s'informent jamais. L2 : les réseaux voient la texture locale, mais ne mesurent pas explicitement la structure globale de l'arbre vasculaire, ses composantes et ses boucles. L3 : les grades sont traités comme des catégories sans ordre et le taux de cas sévères non orientés est rarement mesuré. Précision importante : c'est une remarque d'architecture, pas un jugement sur toute la littérature ; plusieurs systèmes ont été validés prospectivement.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Deuxième partie : ce que la thèse cherche à tester, et comment.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 – 9:15] Objectif unique : exploiter les relations, la topologie et l'ordinalité pour améliorer le grading. Trois hypothèses, chacune liée à une limite. H1 : un graphe de population apporte une information au-delà d'un classifieur image par image. H2 : l'homologie persistante du réseau vasculaire est statistiquement associée à la sévérité. H3 : une chaîne ordinale satisfait des objectifs de sécurité fixés à l'avance – QWK ≥ 0,80, Sev-NR et PDR-NR ≤ 2 %, aucune confusion 0↔4 – en interne et sur données externes (H3a), alors qu'aucune de ses variantes réduites n'y parvient (H3b). Point méthodologique important : pour H1 et H2, le test, le seuil et la taille d'effet ont été fixés avant l'expérience.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 – 10:45] Choix méthodologique essentiel : la thèse propose un cadre de recherche à trois axes, pas un modèle unique. Chaque axe est porté par un système dédié, pour mesurer sa contribution séparément. TOPORET teste relations et topologie vasculaire (H1, H2), en mode transductif. DGTS reprend ces deux ingrédients en mode inductif, avec un régulariseur topologique dans l'espace des caractéristiques, et l'évalue sur EyePACS. DOTS ajoute l'ordinalité et est testé contre les objectifs de sécurité (H3), sur Messidor-2. Les trois systèmes ne fournissent donc pas la même forme de preuve – et je le dis explicitement. Tous les jeux de données sont publics et les graines fixées.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 – 11:30] Tous les systèmes reposent sur une chaîne en six étapes à interfaces typées : prétraitement et squelette vasculaire, backbone CNN, homologie persistante, fusion, graphe de population, puis tête de classement. Chaque étape appartient à un axe (couleurs). Les interfaces typées permettent de tester chaque étape séparément, ce que j'exploite au chapitre 6 pour la vérification logicielle.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 Troisième partie : les trois outils, puis les premiers résultats qui ont motivé TOPORET.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 13:45] Trois outils, expliqués simplement. (1) Graphe de population et GraphSAGE : chaque image est un nœud ; on relie les images qui se ressemblent ; le réseau agrège l'information des voisins – l'idée est qu'un cas ressemble à ses voisins. (2) Homologie persistante : on regarde le squelette des vaisseaux comme un nuage de points et on fait grossir des boules autour de chaque point ; on compte les composantes (H0) et les boucles (H1) qui apparaissent et disparaissent. Les boucles qui persistent longtemps sont les vraies structures, les autres sont du bruit. (3) CORAL : au lieu de prédire 5 classes sans ordre, on répond à 4 questions binaires emboîtées « le grade est-il ≥ 1 ? ≥ 2 ? ≥ 3 ? ≥ 4 ? », ce qui respecte l'ordre des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 – 15:30] Avant de construire TOPORET, j'ai accumulé des indices. F1 : le gabarit de graphe a d'abord été testé hors médecine – orchestration de microservices et détection d'anomalies – avec un F1 de 94,4 à 97,0 % dans l'étude de conférence. Mais la réévaluation sur dix exécutions montre honnêtement que les invariants ajoutés apportent interprétabilité et robustesse à la dérive, pas un gain de précision significatif. F2 : sur APTOS en binaire, le modèle hybride CNN-GNN avec géométrie et topologie gagne +7,0 points (95,1 %), plus que la somme des gains individuels, sur un seul découpage. F3 : la structure vasculaire globale est discriminante, confirmée par trois méthodes ; SAMF-GB, un modèle sur CPU, gagne +0,042 de QWK face à EfficientNet-B3 sur GPU. Ce n'est pas une comparaison d'architectures à armes égales, mais cela montre que la structure contient de l'information.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Quatrième partie : TOPORET, le cœur des hypothèses H1 et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[15:45 – 17:15] TOPORET relie les images dans un graphe de population. Deux images sont proches si elles se ressemblent pour le CNN (similarité cosinus) ET si leurs réseaux vasculaires ont une topologie similaire (terme exponentiel sur la distance des descripteurs topologiques). α = 0,6 et τ = 0,65 ont été choisis par grid search sur la validation. La topologie joue un double rôle : dans les arêtes et dans les caractéristiques des nœuds (1 536 dimensions CNN + 6 topologiques = 1 542). Protocole, à dire clairement : validation croisée 5 plis, graine 42, au niveau image, transductive – les images de test sont des nœuds non étiquetés du graphe. À ma connaissance, les descripteurs de persistance du squelette vasculaire n'avaient pas été utilisés dans les arêtes d'un graphe de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[17:15 – 18:30] Concrètement : on améliore le contraste avec CLAHE, on extrait le squelette des vaisseaux, on prend les points de bifurcation comme nuage de points, puis on calcule la filtration de Vietoris-Rips avec GUDHI. On résume les diagrammes par six nombres : persistance totale, entropie et nombre de composantes longues pour H0, et la même chose pour H1 (les boucles). Une barre est « longue » si elle dépasse 5 % de la plus longue barre. Précision honnête : la similarité compare ces six statistiques, pas les diagrammes complets – c'est un résumé grossier de la topologie.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[18:30 – 19:30] Sur les trois bases, TOPORET améliore toutes les métriques : +0,04 de QWK sur Kaggle DR, +0,07 sur Messidor-2, +0,04 sur APTOS, et +1,5 à +2,3 points de précision. Le gain est le plus grand sur Messidor-2, dont l'acquisition standardisée donne des squelettes plus propres. Attention : ces chiffres absolus sont obtenus en transductif au niveau image ; ils ne se comparent pas directement aux systèmes publiés. Ce qui est valide, c'est la comparaison appariée avec le même CNN, les mêmes caractéristiques, les mêmes plis.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 21:30] Le test pré-spécifié : t-test apparié sur les 5 plis, seuil |t4| &gt; 2,78. Sur Kaggle DR, t4 = 3,82, p = 0,019 : H1 passe, et aussi sur Messidor-2 et APTOS. Mais 5 plis, c'est peu : j'ai ajouté un bootstrap (IC [+0,021 ; +0,059], exclut zéro) et un test de permutation exact (p = 1/32, le minimum possible : le gain est positif dans chaque pli). Et comme les plis partagent leurs données d'entraînement, j'ai appliqué la correction de Nadeau-Bengio : aucune base seule ne reste sous 0,05 (p = 0,070 ; 0,058 ; 0,088), mais les trois bases indépendantes combinées par la méthode de Fisher donnent p = 0,015. Verdict : des preuves convergentes mais limitées en faveur de H1, pas une preuve générale. Je préfère le dire moi-même.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 – 22:30] L'ablation sur Kaggle DR isole chaque composant. Les descripteurs topologiques seuls sur les nœuds (B) : +0,02. Le graphe avec des caractéristiques CNN seules, la topologie uniquement dans les arêtes (C) : +0,03, le plus gros contributeur. Le modèle complet (D) : +0,04. Les contributions sont complémentaires et à peu près additives. La matrice de confusion montre que le gain le plus net est à la frontière Légère–Modérée, la plus ambiguë aussi pour les humains. Les tests de l'ablation ne sont pas corrigés du chevauchement des plis – je le signale.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[22:30 – 24:00] H2 : une ANOVA pré-spécifiée de la persistance totale H1 sur les cinq grades, sur les 35 126 images de Kaggle DR. F = 84,3, p &lt; 0,001, environ 23 fois la valeur critique. Le seuil de décision 0,005 est inférieur au niveau de Bonferroni pour six descripteurs. Et même si l'échantillon effectif était divisé par deux, F resterait autour de 42. MAIS la taille d'effet est petite : η² ≈ 0,01, le grade explique environ 1 % de la variance. Donc : association statistique robuste, pas une causalité, pas un biomarqueur, pas une signification biologique démontrée. Un lien avec la néovascularisation est plausible mais non vérifié. C'est cohérent avec l'ablation : la topologie est une information complémentaire.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[24:00 – 25:00] Les limites de TOPORET, que j'expose moi-même. Transductif : les caractéristiques des images de test, pas leurs grades, influencent leurs voisins pendant l'entraînement ; ce n'est pas équivalent à une évaluation strictement inductive et indépendante du patient. Œil adelphe : Kaggle DR et Messidor-2 contiennent les deux yeux, une image test peut être reliée à l'autre œil du même patient. Deux faits limitent ce risque : le gain est aussi observé sur APTOS, une image par patient, et DGTS montre un gain du graphe en mode inductif. La réévaluation au niveau patient est la première perspective : le code publié n'a besoin que d'un découpage groupé.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Cinquième partie : les deux systèmes entraînés sur un corpus multi-source, et le test de H3.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[25:15 – 26:30] TOPORET laissait trois lacunes : entraînement sur une seule source, perte qui ignore l'ordre, sécurité non mesurée. DGTS et DOTS partagent le même corpus fusionné : APTOS 2019 (3 662 images) + KaggleDR-F1 (2 197) = 5 859 images, 309 sévères et 472 PDR. Ici le découpage image est aussi un découpage patient. Honnêteté sur la provenance : KaggleDR-F1 contient exactement 60 % des effectifs d'APTOS dans chaque grade ; un chevauchement n'est pas exclu, donc la validation croisée est lue comme une preuve interne multi-source, possiblement optimiste. Les conclusions reposent donc sur les évaluations externes : EyePACS pour DGTS (35 126 images, vérifié sans doublon) et Messidor-2 pour DOTS (1 744 images,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 – 28:00] DGTS : EfficientNet-B4 gelé, graphe k-plus-proches-voisins cosinus avec k = 8 construit uniquement sur le pli d'entraînement – donc inductif – et GraphSAGE à deux couches. En parallèle, une branche d'homologie persistante décrit la forme du voisinage de chaque nœud dans l'espace des caractéristiques. Point subtil, souvent demandé : à l'inférence, le descripteur vaut zéro ; la topologie agit comme un régulariseur d'entraînement, via les gradients. Tous les chiffres sont mesurés dans ce réglage. Et ce n'est pas la topologie des vaisseaux. L'ablation (sur APTOS) : le graphe apporte +0,018 de QWK (A2→A3), le régulariseur +0,030 (A2→A4), les deux ensemble +0,052, la fusion +0,011. Wilcoxon DGTS contre CNN : p = 0,031.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 – 29:00] Appliqué sans réentraînement aux 35 126 images EyePACS, DGTS atteint un QWK de 0,925, soit une baisse de seulement 0,016 par rapport à la validation croisée (0,941). C'est une bonne généralisation. Mais le Sev-NR externe est d'environ 2,1 %, légèrement au-dessus de l'objectif de 2 %. Leçon principale de la thèse : une bonne précision ne garantit pas la sécurité ; il faut les mesurer séparément. C'est ce qui motive DOTS. Côté pratique : 18,3 ms par image sur un GPU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 – 29:45] Les objectifs de H3, fixés à l'avance : QWK ≥ 0,80, Sev-NR ≤ 2 %, PDR-NR ≤ 2 %, aucune confusion 0↔4. Ils viennent de l'article DOTS et s'inspirent de la pratique du dépistage (essai pivot d'IA autonome, programme national anglais). Ce ne sont pas des seuils réglementaires. Et la définition est volontairement explicite : une image sévère prédite « Modérée » compte comme orientée, ce qui correspond à un parcours où le grade Modéré est déjà orientable ; une définition plus stricte donnerait des taux plus élevés.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[29:45 – 31:15] DOTS : EfficientNet-B3 fine-tuné, une projection, un encodeur de raffinement (FRE), une tête ordinale CORAL et une augmentation au test (5 transformations). Honnêteté sur le FRE : il a la forme d'un bloc transformer mais opère sur une séquence de longueur un, donc l'attention ne fait rien ; c'est en pratique un MLP résiduel normalisé, et je ne revendique aucun bénéfice de l'attention. L'ablation, avec le même budget de 10 époques : 0,903 → TTA 0,918 → GraphSAGE 0,928 → FRE à la place du graphe 0,937 → CORAL 0,943. Le graphe aide ici aussi (cohérent avec H1), mais le FRE fait mieux à moindre coût. CORAL apporte le plus petit gain de QWK, mais c'est la sécurité qui compte, comme on va le voir.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[31:15 – 32:45] Résultats de DOTS. En interne, sur 5 859 prédictions hors pli : QWK 0,953, Sev-NR 0,97 % (3 images sur 309), PDR-NR 1,27 % (6 sur 472), aucune confusion 0↔4. Sur Messidor-2, jamais vu à l'entraînement : QWK 0,931, Sev-NR 1,4 %, PDR-NR 1,9 %. Les performances observées satisfont donc tous les objectifs en estimation ponctuelle. Mais – et c'est essentiel – avec 309 images sévères, l'intervalle exact du Sev-NR interne est [0,2 % ; 2,8 %], il dépasse 2 %. La sécurité n'est donc pas démontrée. Il faudrait environ 650 images sévères pour que la borne supérieure passe sous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 – 34:00] H3b sur Messidor-2 : chaque variante réduite échoue sur le Sev-NR : 5,8 % pour le CNN de base, 4,1 % avec GraphSAGE, 3,7 % avec CORAL seul, 2,9 % avec TTA seule. Seule la chaîne complète descend à 1,4 %. Les barres montrent le QWK, les lignes les taux de non-orientation. Enseignement : le composant qui améliore le plus la sécurité n'est pas celui qui améliore le plus le QWK. Limite : la conclusion vaut pour les variantes de cette ablation, pas pour tout système sans l'un de ces composants.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[34:00 – 34:45] La structure des erreurs compte autant que leur nombre. Sur 597 erreurs, 82,9 % sont entre grades adjacents, aucune ne traverse quatre grades. La confusion dominante est Légère → Modérée, une sur-orientation, pas une sous-orientation. Les images sévères ont une faible précision mais un rappel de 0,770 : DOTS prédit « Sévère » plus souvent qu'il ne faudrait, ce qui est la bonne direction pour l'orientation. Calibration : l'ECE passe de 0,067 à 0,031 par temperature scaling, sans changer le QWK. McNemar DOTS contre CNN : p = 0,013.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[34:45] Sixième partie, brièvement : l'ingénierie logicielle.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 – 36:15] Le chapitre 6 relie l'architecture aux exigences d'IEC 62304 (cycle de vie et vérification unitaire), d'ISO 14971 (gestion des risques, AMDEC sur six dangers) et de l'EU AI Act (système à haut risque, traçabilité, supervision humaine). C'est un exercice d'ingénierie, pas une évaluation de conformité, ni un marquage CE, ni une autorisation FDA. Le tableau d'état le dit clairement : les pipelines sont implémentés en code de recherche et évalués rétrospectivement ; le plan de vérification est spécifié ; l'adaptateur FHIR est conçu mais pas implémenté ; pas de déploiement ni de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[36:15] Dernière partie : la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[36:30 – 37:15] Cette figure résume l'ensemble : un objectif commun, trois systèmes qui apportent chacun un type de preuve différent – transductive pour TOPORET, inductive et externe pour DGTS, orientée dépistage pour DOTS –, toute cette preuve est rétrospective, et elle s'arrête avant l'évaluation prospective. En bas, en rouge, ce qui n'est pas encore évalué.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[37:15 – 38:30] Je distingue trois niveaux. Montré directement : les quantités mesurées – gain de TOPORET dans chaque pli des trois bases, gains du graphe et du régulariseur dans DGTS, QWK externe de DGTS, estimations ponctuelles de DOTS qui satisfont les objectifs, échec des quatre variantes réduites. Soutenu sans être établi de façon concluante : que l'information relationnelle améliore le grading, que la topologie porte une information liée à la sévérité, que la chaîne ordinale est assez sûre pour le dépistage. Non revendiqué : sécurité clinique, conformité réglementaire, prédiction longitudinale, supériorité générale des graphes.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 – 39:30] Les limites définissent directement les perspectives, dans l'ordre de coût. D'abord réévaluer TOPORET au niveau patient avec un graphe par pli ; puis répéter les expériences sur plusieurs graines ; ajouter de nouvelles bases externes avec assez de cas sévères ; construire un modèle unifié – graphe, topologie vasculaire, tête CORAL – avec un mécanisme d'abstention fondé sur les probabilités calibrées de DOTS ; puis une étude de lecteurs, une étude prospective pré-enregistrée, dimensionnée sur environ 1 240 images sévères pour 80 % de puissance, une vraie validation multi-site ou fédérée, et enfin la validation clinique au sens du règlement sur les dispositifs médicaux.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[39:30 – 39:45] Treize publications soutiennent la thèse : neuf acceptées ou publiées – sept articles de conférence (ICAART 2025 et 2026, ICPRAM, ENASE, MIUA, IJCNN) et deux chapitres de livre LNAI chez Springer – et quatre articles de revue, dont un en révision à PLOS ONE et trois en cours d'évaluation.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[39:45 – 40:30] Pour conclure, sur les trois axes : R, des preuves en faveur de H1, cohérentes mais limitées par cinq plis, confirmées en inductif avec DGTS. S, une association statistique faible mais robuste, et un régulariseur utile dans DGTS – pas un biomarqueur. O, DOTS satisfait les objectifs de dépistage en estimation ponctuelle, en interne et sur Messidor-2, mais la sécurité n'est pas encore démontrée. Phrase finale, à dire lentement : les informations relationnelles, topologiques et ordinales peuvent compléter les représentations visuelles profondes pour le grading de la rétinopathie diabétique – voici la preuve, et voici exactement où elle s'arrête. Je vous remercie de votre attention, et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pic>
        <p:nvPicPr>
          <p:cNvPr id="2" name="Image 0" descr="/home/user/SRT26/img/logo_manouba.png">    </p:cNvPr>
          <p:cNvPicPr>
            <a:picLocks noChangeAspect="1"/>
          </p:cNvPicPr>
          <p:nvPr/>
        </p:nvPicPr>
        <p:blipFill>
          <a:blip r:embed="rId1"/>
          <a:stretch>
            <a:fillRect/>
          </a:stretch>
        </p:blipFill>
        <p:spPr>
          <a:xfrm>
            <a:off x="640080" y="411480"/>
            <a:ext cx="868680" cy="868680"/>
          </a:xfrm>
          <a:prstGeom prst="rect">
            <a:avLst/>
          </a:prstGeom>
        </p:spPr>
      </p:pic>
      <p:pic>
        <p:nvPicPr>
          <p:cNvPr id="3" name="Image 1" descr="/home/user/SRT26/img/logo_ensi.png">    </p:cNvPr>
          <p:cNvPicPr>
            <a:picLocks noChangeAspect="1"/>
          </p:cNvPicPr>
          <p:nvPr/>
        </p:nvPicPr>
        <p:blipFill>
          <a:blip r:embed="rId2"/>
          <a:stretch>
            <a:fillRect/>
          </a:stretch>
        </p:blipFill>
        <p:spPr>
          <a:xfrm>
            <a:off x="10682935" y="411480"/>
            <a:ext cx="868680" cy="868680"/>
          </a:xfrm>
          <a:prstGeom prst="rect">
            <a:avLst/>
          </a:prstGeom>
        </p:spPr>
      </p:pic>
      <p:sp>
        <p:nvSpPr>
          <p:cNvPr id="4" name="Text 0"/>
          <p:cNvSpPr txBox="1"/>
          <p:nvPr/>
        </p:nvSpPr>
        <p:spPr>
          <a:xfrm>
            <a:off x="2011680" y="548640"/>
            <a:ext cx="8138160" cy="54864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University of Manouba  |  National School of Computer Sciences (ENSI)  |  HANALab</a:t>
            </a:r>
            <a:endParaRPr lang="en-US" sz="1400" dirty="0"/>
          </a:p>
        </p:txBody>
      </p:sp>
      <p:sp>
        <p:nvSpPr>
          <p:cNvPr id="5" name="Text 1"/>
          <p:cNvSpPr txBox="1"/>
          <p:nvPr/>
        </p:nvSpPr>
        <p:spPr>
          <a:xfrm>
            <a:off x="822960" y="1417320"/>
            <a:ext cx="10515600" cy="146304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Deep Learning-Based Prediction of Disease Severity Using Medical Imaging</a:t>
            </a:r>
            <a:endParaRPr lang="en-US" sz="3400" dirty="0"/>
          </a:p>
        </p:txBody>
      </p:sp>
      <p:sp>
        <p:nvSpPr>
          <p:cNvPr id="6" name="Text 2"/>
          <p:cNvSpPr txBox="1"/>
          <p:nvPr/>
        </p:nvSpPr>
        <p:spPr>
          <a:xfrm>
            <a:off x="822960" y="3017520"/>
            <a:ext cx="10515600" cy="548640"/>
          </a:xfrm>
          <a:prstGeom prst="rect">
            <a:avLst/>
          </a:prstGeom>
          <a:noFill/>
          <a:ln/>
        </p:spPr>
        <p:txBody>
          <a:bodyPr wrap="square" lIns="0" tIns="0" rIns="0" bIns="0" rtlCol="0" anchor="ctr"/>
          <a:lstStyle/>
          <a:p>
            <a:pPr algn="ctr" indent="0" marL="0">
              <a:buNone/>
            </a:pPr>
            <a:r>
              <a:rPr lang="en-US" sz="2400" i="1" dirty="0">
                <a:solidFill>
                  <a:srgbClr val="CADCFC"/>
                </a:solidFill>
                <a:latin typeface="Cambria" pitchFamily="34" charset="0"/>
                <a:ea typeface="Cambria" pitchFamily="34" charset="-122"/>
                <a:cs typeface="Cambria" pitchFamily="34" charset="-120"/>
              </a:rPr>
              <a:t>An Application to Diabetology</a:t>
            </a:r>
            <a:endParaRPr lang="en-US" sz="2400" dirty="0"/>
          </a:p>
        </p:txBody>
      </p:sp>
      <p:sp>
        <p:nvSpPr>
          <p:cNvPr id="7" name="Shape 3"/>
          <p:cNvSpPr/>
          <p:nvPr/>
        </p:nvSpPr>
        <p:spPr>
          <a:xfrm>
            <a:off x="5138928" y="3840480"/>
            <a:ext cx="502920" cy="502920"/>
          </a:xfrm>
          <a:prstGeom prst="ellipse">
            <a:avLst/>
          </a:prstGeom>
          <a:solidFill>
            <a:srgbClr val="1F4E79"/>
          </a:solidFill>
          <a:ln w="19050">
            <a:solidFill>
              <a:srgbClr val="FFFFFF"/>
            </a:solidFill>
            <a:prstDash val="solid"/>
          </a:ln>
        </p:spPr>
      </p:sp>
      <p:sp>
        <p:nvSpPr>
          <p:cNvPr id="8" name="Text 4"/>
          <p:cNvSpPr txBox="1"/>
          <p:nvPr/>
        </p:nvSpPr>
        <p:spPr>
          <a:xfrm>
            <a:off x="5138928"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R</a:t>
            </a:r>
            <a:endParaRPr lang="en-US" sz="1600" dirty="0"/>
          </a:p>
        </p:txBody>
      </p:sp>
      <p:sp>
        <p:nvSpPr>
          <p:cNvPr id="9" name="Shape 5"/>
          <p:cNvSpPr/>
          <p:nvPr/>
        </p:nvSpPr>
        <p:spPr>
          <a:xfrm>
            <a:off x="5824728" y="3840480"/>
            <a:ext cx="502920" cy="502920"/>
          </a:xfrm>
          <a:prstGeom prst="ellipse">
            <a:avLst/>
          </a:prstGeom>
          <a:solidFill>
            <a:srgbClr val="1B7A4E"/>
          </a:solidFill>
          <a:ln w="19050">
            <a:solidFill>
              <a:srgbClr val="FFFFFF"/>
            </a:solidFill>
            <a:prstDash val="solid"/>
          </a:ln>
        </p:spPr>
      </p:sp>
      <p:sp>
        <p:nvSpPr>
          <p:cNvPr id="10" name="Text 6"/>
          <p:cNvSpPr txBox="1"/>
          <p:nvPr/>
        </p:nvSpPr>
        <p:spPr>
          <a:xfrm>
            <a:off x="5824728"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S</a:t>
            </a:r>
            <a:endParaRPr lang="en-US" sz="1600" dirty="0"/>
          </a:p>
        </p:txBody>
      </p:sp>
      <p:sp>
        <p:nvSpPr>
          <p:cNvPr id="11" name="Shape 7"/>
          <p:cNvSpPr/>
          <p:nvPr/>
        </p:nvSpPr>
        <p:spPr>
          <a:xfrm>
            <a:off x="6510528" y="3840480"/>
            <a:ext cx="502920" cy="502920"/>
          </a:xfrm>
          <a:prstGeom prst="ellipse">
            <a:avLst/>
          </a:prstGeom>
          <a:solidFill>
            <a:srgbClr val="6B3D8C"/>
          </a:solidFill>
          <a:ln w="19050">
            <a:solidFill>
              <a:srgbClr val="FFFFFF"/>
            </a:solidFill>
            <a:prstDash val="solid"/>
          </a:ln>
        </p:spPr>
      </p:sp>
      <p:sp>
        <p:nvSpPr>
          <p:cNvPr id="12" name="Text 8"/>
          <p:cNvSpPr txBox="1"/>
          <p:nvPr/>
        </p:nvSpPr>
        <p:spPr>
          <a:xfrm>
            <a:off x="6510528" y="3840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a:t>
            </a:r>
            <a:endParaRPr lang="en-US" sz="1600" dirty="0"/>
          </a:p>
        </p:txBody>
      </p:sp>
      <p:sp>
        <p:nvSpPr>
          <p:cNvPr id="13" name="Text 9"/>
          <p:cNvSpPr txBox="1"/>
          <p:nvPr/>
        </p:nvSpPr>
        <p:spPr>
          <a:xfrm>
            <a:off x="822960" y="4572000"/>
            <a:ext cx="105156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Nader BELHADJ</a:t>
            </a:r>
            <a:endParaRPr lang="en-US" sz="2400" dirty="0"/>
          </a:p>
        </p:txBody>
      </p:sp>
      <p:sp>
        <p:nvSpPr>
          <p:cNvPr id="14" name="Text 10"/>
          <p:cNvSpPr txBox="1"/>
          <p:nvPr/>
        </p:nvSpPr>
        <p:spPr>
          <a:xfrm>
            <a:off x="822960" y="5074920"/>
            <a:ext cx="10515600" cy="82296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Doctoral thesis in Computer Science (Artificial Intelligence)</a:t>
            </a:r>
            <a:endParaRPr lang="en-US" sz="1400" dirty="0"/>
          </a:p>
          <a:p>
            <a:pPr algn="ctr" indent="0" marL="0">
              <a:buNone/>
            </a:pPr>
            <a:r>
              <a:rPr lang="en-US" sz="1400" dirty="0">
                <a:solidFill>
                  <a:srgbClr val="CADCFC"/>
                </a:solidFill>
                <a:latin typeface="Calibri" pitchFamily="34" charset="0"/>
                <a:ea typeface="Calibri" pitchFamily="34" charset="-122"/>
                <a:cs typeface="Calibri" pitchFamily="34" charset="-120"/>
              </a:rPr>
              <a:t>Supervisor: Prof. Lassaad Latrach  |  Co-supervisor: Prof. Ridha Ghayoula (Laval University)  |  Co-advisor: Mohamed Amine Mezghich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Outline</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731520" y="1463040"/>
            <a:ext cx="640080" cy="640080"/>
          </a:xfrm>
          <a:prstGeom prst="ellipse">
            <a:avLst/>
          </a:prstGeom>
          <a:solidFill>
            <a:srgbClr val="16324F"/>
          </a:solidFill>
          <a:ln w="12700">
            <a:solidFill>
              <a:srgbClr val="16324F"/>
            </a:solidFill>
            <a:prstDash val="solid"/>
          </a:ln>
        </p:spPr>
      </p:sp>
      <p:sp>
        <p:nvSpPr>
          <p:cNvPr id="9" name="Text 6"/>
          <p:cNvSpPr txBox="1"/>
          <p:nvPr/>
        </p:nvSpPr>
        <p:spPr>
          <a:xfrm>
            <a:off x="73152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1600200" y="1417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Context and problem</a:t>
            </a:r>
            <a:endParaRPr lang="en-US" sz="2000" dirty="0"/>
          </a:p>
        </p:txBody>
      </p:sp>
      <p:sp>
        <p:nvSpPr>
          <p:cNvPr id="11" name="Text 8"/>
          <p:cNvSpPr txBox="1"/>
          <p:nvPr/>
        </p:nvSpPr>
        <p:spPr>
          <a:xfrm>
            <a:off x="1600200" y="1828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Diabetic retinopathy, screening, three limitations</a:t>
            </a:r>
            <a:endParaRPr lang="en-US" sz="1400" dirty="0"/>
          </a:p>
        </p:txBody>
      </p:sp>
      <p:sp>
        <p:nvSpPr>
          <p:cNvPr id="12" name="Shape 9"/>
          <p:cNvSpPr/>
          <p:nvPr/>
        </p:nvSpPr>
        <p:spPr>
          <a:xfrm>
            <a:off x="731520" y="2606040"/>
            <a:ext cx="640080" cy="640080"/>
          </a:xfrm>
          <a:prstGeom prst="ellipse">
            <a:avLst/>
          </a:prstGeom>
          <a:solidFill>
            <a:srgbClr val="16324F"/>
          </a:solidFill>
          <a:ln w="12700">
            <a:solidFill>
              <a:srgbClr val="16324F"/>
            </a:solidFill>
            <a:prstDash val="solid"/>
          </a:ln>
        </p:spPr>
      </p:sp>
      <p:sp>
        <p:nvSpPr>
          <p:cNvPr id="13" name="Text 10"/>
          <p:cNvSpPr txBox="1"/>
          <p:nvPr/>
        </p:nvSpPr>
        <p:spPr>
          <a:xfrm>
            <a:off x="731520" y="2606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txBox="1"/>
          <p:nvPr/>
        </p:nvSpPr>
        <p:spPr>
          <a:xfrm>
            <a:off x="1600200" y="2560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Hypotheses and methodology</a:t>
            </a:r>
            <a:endParaRPr lang="en-US" sz="2000" dirty="0"/>
          </a:p>
        </p:txBody>
      </p:sp>
      <p:sp>
        <p:nvSpPr>
          <p:cNvPr id="15" name="Text 12"/>
          <p:cNvSpPr txBox="1"/>
          <p:nvPr/>
        </p:nvSpPr>
        <p:spPr>
          <a:xfrm>
            <a:off x="1600200" y="2971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H1, H2, H3; three systems; pre-specified tests</a:t>
            </a:r>
            <a:endParaRPr lang="en-US" sz="1400" dirty="0"/>
          </a:p>
        </p:txBody>
      </p:sp>
      <p:sp>
        <p:nvSpPr>
          <p:cNvPr id="16" name="Shape 13"/>
          <p:cNvSpPr/>
          <p:nvPr/>
        </p:nvSpPr>
        <p:spPr>
          <a:xfrm>
            <a:off x="731520" y="3749040"/>
            <a:ext cx="640080" cy="640080"/>
          </a:xfrm>
          <a:prstGeom prst="ellipse">
            <a:avLst/>
          </a:prstGeom>
          <a:solidFill>
            <a:srgbClr val="5A6470"/>
          </a:solidFill>
          <a:ln w="12700">
            <a:solidFill>
              <a:srgbClr val="5A6470"/>
            </a:solidFill>
            <a:prstDash val="solid"/>
          </a:ln>
        </p:spPr>
      </p:sp>
      <p:sp>
        <p:nvSpPr>
          <p:cNvPr id="17" name="Text 14"/>
          <p:cNvSpPr txBox="1"/>
          <p:nvPr/>
        </p:nvSpPr>
        <p:spPr>
          <a:xfrm>
            <a:off x="731520" y="3749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5"/>
          <p:cNvSpPr txBox="1"/>
          <p:nvPr/>
        </p:nvSpPr>
        <p:spPr>
          <a:xfrm>
            <a:off x="1600200" y="3703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Tools and first evidence</a:t>
            </a:r>
            <a:endParaRPr lang="en-US" sz="2000" dirty="0"/>
          </a:p>
        </p:txBody>
      </p:sp>
      <p:sp>
        <p:nvSpPr>
          <p:cNvPr id="19" name="Text 16"/>
          <p:cNvSpPr txBox="1"/>
          <p:nvPr/>
        </p:nvSpPr>
        <p:spPr>
          <a:xfrm>
            <a:off x="1600200" y="4114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Graphs, persistent homology, ordinal regression (Ch. 2-3)</a:t>
            </a:r>
            <a:endParaRPr lang="en-US" sz="1400" dirty="0"/>
          </a:p>
        </p:txBody>
      </p:sp>
      <p:sp>
        <p:nvSpPr>
          <p:cNvPr id="20" name="Shape 17"/>
          <p:cNvSpPr/>
          <p:nvPr/>
        </p:nvSpPr>
        <p:spPr>
          <a:xfrm>
            <a:off x="731520" y="4892040"/>
            <a:ext cx="640080" cy="640080"/>
          </a:xfrm>
          <a:prstGeom prst="ellipse">
            <a:avLst/>
          </a:prstGeom>
          <a:solidFill>
            <a:srgbClr val="1F4E79"/>
          </a:solidFill>
          <a:ln w="12700">
            <a:solidFill>
              <a:srgbClr val="1F4E79"/>
            </a:solidFill>
            <a:prstDash val="solid"/>
          </a:ln>
        </p:spPr>
      </p:sp>
      <p:sp>
        <p:nvSpPr>
          <p:cNvPr id="21" name="Text 18"/>
          <p:cNvSpPr txBox="1"/>
          <p:nvPr/>
        </p:nvSpPr>
        <p:spPr>
          <a:xfrm>
            <a:off x="731520" y="4892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19"/>
          <p:cNvSpPr txBox="1"/>
          <p:nvPr/>
        </p:nvSpPr>
        <p:spPr>
          <a:xfrm>
            <a:off x="1600200" y="4846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TOPORET</a:t>
            </a:r>
            <a:endParaRPr lang="en-US" sz="2000" dirty="0"/>
          </a:p>
        </p:txBody>
      </p:sp>
      <p:sp>
        <p:nvSpPr>
          <p:cNvPr id="23" name="Text 20"/>
          <p:cNvSpPr txBox="1"/>
          <p:nvPr/>
        </p:nvSpPr>
        <p:spPr>
          <a:xfrm>
            <a:off x="1600200" y="5257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Relations + vessel topology; tests of H1 and H2 (Ch. 4)</a:t>
            </a:r>
            <a:endParaRPr lang="en-US" sz="1400" dirty="0"/>
          </a:p>
        </p:txBody>
      </p:sp>
      <p:sp>
        <p:nvSpPr>
          <p:cNvPr id="24" name="Shape 21"/>
          <p:cNvSpPr/>
          <p:nvPr/>
        </p:nvSpPr>
        <p:spPr>
          <a:xfrm>
            <a:off x="6309360" y="1463040"/>
            <a:ext cx="640080" cy="640080"/>
          </a:xfrm>
          <a:prstGeom prst="ellipse">
            <a:avLst/>
          </a:prstGeom>
          <a:solidFill>
            <a:srgbClr val="6B3D8C"/>
          </a:solidFill>
          <a:ln w="12700">
            <a:solidFill>
              <a:srgbClr val="6B3D8C"/>
            </a:solidFill>
            <a:prstDash val="solid"/>
          </a:ln>
        </p:spPr>
      </p:sp>
      <p:sp>
        <p:nvSpPr>
          <p:cNvPr id="25" name="Text 22"/>
          <p:cNvSpPr txBox="1"/>
          <p:nvPr/>
        </p:nvSpPr>
        <p:spPr>
          <a:xfrm>
            <a:off x="6309360" y="1463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6" name="Text 23"/>
          <p:cNvSpPr txBox="1"/>
          <p:nvPr/>
        </p:nvSpPr>
        <p:spPr>
          <a:xfrm>
            <a:off x="7178040" y="1417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DGTS and DOTS</a:t>
            </a:r>
            <a:endParaRPr lang="en-US" sz="2000" dirty="0"/>
          </a:p>
        </p:txBody>
      </p:sp>
      <p:sp>
        <p:nvSpPr>
          <p:cNvPr id="27" name="Text 24"/>
          <p:cNvSpPr txBox="1"/>
          <p:nvPr/>
        </p:nvSpPr>
        <p:spPr>
          <a:xfrm>
            <a:off x="7178040" y="1828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Inductive graph; ordinal safety; test of H3 (Ch. 5)</a:t>
            </a:r>
            <a:endParaRPr lang="en-US" sz="1400" dirty="0"/>
          </a:p>
        </p:txBody>
      </p:sp>
      <p:sp>
        <p:nvSpPr>
          <p:cNvPr id="28" name="Shape 25"/>
          <p:cNvSpPr/>
          <p:nvPr/>
        </p:nvSpPr>
        <p:spPr>
          <a:xfrm>
            <a:off x="6309360" y="2606040"/>
            <a:ext cx="640080" cy="640080"/>
          </a:xfrm>
          <a:prstGeom prst="ellipse">
            <a:avLst/>
          </a:prstGeom>
          <a:solidFill>
            <a:srgbClr val="B35C00"/>
          </a:solidFill>
          <a:ln w="12700">
            <a:solidFill>
              <a:srgbClr val="B35C00"/>
            </a:solidFill>
            <a:prstDash val="solid"/>
          </a:ln>
        </p:spPr>
      </p:sp>
      <p:sp>
        <p:nvSpPr>
          <p:cNvPr id="29" name="Text 26"/>
          <p:cNvSpPr txBox="1"/>
          <p:nvPr/>
        </p:nvSpPr>
        <p:spPr>
          <a:xfrm>
            <a:off x="6309360" y="2606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0" name="Text 27"/>
          <p:cNvSpPr txBox="1"/>
          <p:nvPr/>
        </p:nvSpPr>
        <p:spPr>
          <a:xfrm>
            <a:off x="7178040" y="2560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Engineering</a:t>
            </a:r>
            <a:endParaRPr lang="en-US" sz="2000" dirty="0"/>
          </a:p>
        </p:txBody>
      </p:sp>
      <p:sp>
        <p:nvSpPr>
          <p:cNvPr id="31" name="Text 28"/>
          <p:cNvSpPr txBox="1"/>
          <p:nvPr/>
        </p:nvSpPr>
        <p:spPr>
          <a:xfrm>
            <a:off x="7178040" y="2971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Six-stage architecture, regulatory-oriented design (Ch. 6)</a:t>
            </a:r>
            <a:endParaRPr lang="en-US" sz="1400" dirty="0"/>
          </a:p>
        </p:txBody>
      </p:sp>
      <p:sp>
        <p:nvSpPr>
          <p:cNvPr id="32" name="Shape 29"/>
          <p:cNvSpPr/>
          <p:nvPr/>
        </p:nvSpPr>
        <p:spPr>
          <a:xfrm>
            <a:off x="6309360" y="3749040"/>
            <a:ext cx="640080" cy="640080"/>
          </a:xfrm>
          <a:prstGeom prst="ellipse">
            <a:avLst/>
          </a:prstGeom>
          <a:solidFill>
            <a:srgbClr val="16324F"/>
          </a:solidFill>
          <a:ln w="12700">
            <a:solidFill>
              <a:srgbClr val="16324F"/>
            </a:solidFill>
            <a:prstDash val="solid"/>
          </a:ln>
        </p:spPr>
      </p:sp>
      <p:sp>
        <p:nvSpPr>
          <p:cNvPr id="33" name="Text 30"/>
          <p:cNvSpPr txBox="1"/>
          <p:nvPr/>
        </p:nvSpPr>
        <p:spPr>
          <a:xfrm>
            <a:off x="6309360" y="374904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4" name="Text 31"/>
          <p:cNvSpPr txBox="1"/>
          <p:nvPr/>
        </p:nvSpPr>
        <p:spPr>
          <a:xfrm>
            <a:off x="7178040" y="3703320"/>
            <a:ext cx="4480560" cy="411480"/>
          </a:xfrm>
          <a:prstGeom prst="rect">
            <a:avLst/>
          </a:prstGeom>
          <a:noFill/>
          <a:ln/>
        </p:spPr>
        <p:txBody>
          <a:bodyPr wrap="square" lIns="0" tIns="0" rIns="0" bIns="0" rtlCol="0" anchor="ctr"/>
          <a:lstStyle/>
          <a:p>
            <a:pPr indent="0" marL="0">
              <a:buNone/>
            </a:pPr>
            <a:r>
              <a:rPr lang="en-US" sz="2000" b="1" dirty="0">
                <a:solidFill>
                  <a:srgbClr val="16324F"/>
                </a:solidFill>
                <a:latin typeface="Cambria" pitchFamily="34" charset="0"/>
                <a:ea typeface="Cambria" pitchFamily="34" charset="-122"/>
                <a:cs typeface="Cambria" pitchFamily="34" charset="-120"/>
              </a:rPr>
              <a:t>Synthesis</a:t>
            </a:r>
            <a:endParaRPr lang="en-US" sz="2000" dirty="0"/>
          </a:p>
        </p:txBody>
      </p:sp>
      <p:sp>
        <p:nvSpPr>
          <p:cNvPr id="35" name="Text 32"/>
          <p:cNvSpPr txBox="1"/>
          <p:nvPr/>
        </p:nvSpPr>
        <p:spPr>
          <a:xfrm>
            <a:off x="7178040" y="4114800"/>
            <a:ext cx="4480560" cy="365760"/>
          </a:xfrm>
          <a:prstGeom prst="rect">
            <a:avLst/>
          </a:prstGeom>
          <a:noFill/>
          <a:ln/>
        </p:spPr>
        <p:txBody>
          <a:bodyPr wrap="square" lIns="0" tIns="0" rIns="0" bIns="0" rtlCol="0" anchor="ctr"/>
          <a:lstStyle/>
          <a:p>
            <a:pPr indent="0" marL="0">
              <a:buNone/>
            </a:pPr>
            <a:r>
              <a:rPr lang="en-US" sz="1400" dirty="0">
                <a:solidFill>
                  <a:srgbClr val="5A6470"/>
                </a:solidFill>
                <a:latin typeface="Calibri" pitchFamily="34" charset="0"/>
                <a:ea typeface="Calibri" pitchFamily="34" charset="-122"/>
                <a:cs typeface="Calibri" pitchFamily="34" charset="-120"/>
              </a:rPr>
              <a:t>Evidence, limits, perspectives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16324F"/>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1</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Context and Problem</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Why grading diabetic retinopathy is a safety problem, not only an accuracy problem</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DR: a silent, preventable cause of blindness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4</a:t>
            </a:r>
            <a:endParaRPr lang="en-US" sz="1000" dirty="0"/>
          </a:p>
        </p:txBody>
      </p:sp>
      <p:sp>
        <p:nvSpPr>
          <p:cNvPr id="8" name="Text 5"/>
          <p:cNvSpPr txBox="1"/>
          <p:nvPr/>
        </p:nvSpPr>
        <p:spPr>
          <a:xfrm>
            <a:off x="731520" y="1463040"/>
            <a:ext cx="3291840" cy="914400"/>
          </a:xfrm>
          <a:prstGeom prst="rect">
            <a:avLst/>
          </a:prstGeom>
          <a:noFill/>
          <a:ln/>
        </p:spPr>
        <p:txBody>
          <a:bodyPr wrap="square" lIns="0" tIns="0" rIns="0" bIns="0" rtlCol="0" anchor="ctr"/>
          <a:lstStyle/>
          <a:p>
            <a:pPr algn="l" indent="0" marL="0">
              <a:buNone/>
            </a:pPr>
            <a:r>
              <a:rPr lang="en-US" sz="5000" b="1" dirty="0">
                <a:solidFill>
                  <a:srgbClr val="16324F"/>
                </a:solidFill>
                <a:latin typeface="Cambria" pitchFamily="34" charset="0"/>
                <a:ea typeface="Cambria" pitchFamily="34" charset="-122"/>
                <a:cs typeface="Cambria" pitchFamily="34" charset="-120"/>
              </a:rPr>
              <a:t>537 M</a:t>
            </a:r>
            <a:endParaRPr lang="en-US" sz="5000" dirty="0"/>
          </a:p>
        </p:txBody>
      </p:sp>
      <p:sp>
        <p:nvSpPr>
          <p:cNvPr id="9" name="Text 6"/>
          <p:cNvSpPr txBox="1"/>
          <p:nvPr/>
        </p:nvSpPr>
        <p:spPr>
          <a:xfrm>
            <a:off x="73152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adults with diabetes (783 M expected by 2045)</a:t>
            </a:r>
            <a:endParaRPr lang="en-US" sz="1500" dirty="0"/>
          </a:p>
        </p:txBody>
      </p:sp>
      <p:sp>
        <p:nvSpPr>
          <p:cNvPr id="10" name="Text 7"/>
          <p:cNvSpPr txBox="1"/>
          <p:nvPr/>
        </p:nvSpPr>
        <p:spPr>
          <a:xfrm>
            <a:off x="4343400" y="1463040"/>
            <a:ext cx="3291840" cy="914400"/>
          </a:xfrm>
          <a:prstGeom prst="rect">
            <a:avLst/>
          </a:prstGeom>
          <a:noFill/>
          <a:ln/>
        </p:spPr>
        <p:txBody>
          <a:bodyPr wrap="square" lIns="0" tIns="0" rIns="0" bIns="0" rtlCol="0" anchor="ctr"/>
          <a:lstStyle/>
          <a:p>
            <a:pPr algn="l" indent="0" marL="0">
              <a:buNone/>
            </a:pPr>
            <a:r>
              <a:rPr lang="en-US" sz="5000" b="1" dirty="0">
                <a:solidFill>
                  <a:srgbClr val="A32020"/>
                </a:solidFill>
                <a:latin typeface="Cambria" pitchFamily="34" charset="0"/>
                <a:ea typeface="Cambria" pitchFamily="34" charset="-122"/>
                <a:cs typeface="Cambria" pitchFamily="34" charset="-120"/>
              </a:rPr>
              <a:t>103 M</a:t>
            </a:r>
            <a:endParaRPr lang="en-US" sz="5000" dirty="0"/>
          </a:p>
        </p:txBody>
      </p:sp>
      <p:sp>
        <p:nvSpPr>
          <p:cNvPr id="11" name="Text 8"/>
          <p:cNvSpPr txBox="1"/>
          <p:nvPr/>
        </p:nvSpPr>
        <p:spPr>
          <a:xfrm>
            <a:off x="434340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people with diabetic retinopathy (DR)</a:t>
            </a:r>
            <a:endParaRPr lang="en-US" sz="1500" dirty="0"/>
          </a:p>
        </p:txBody>
      </p:sp>
      <p:sp>
        <p:nvSpPr>
          <p:cNvPr id="12" name="Text 9"/>
          <p:cNvSpPr txBox="1"/>
          <p:nvPr/>
        </p:nvSpPr>
        <p:spPr>
          <a:xfrm>
            <a:off x="7955280" y="1463040"/>
            <a:ext cx="3566160" cy="914400"/>
          </a:xfrm>
          <a:prstGeom prst="rect">
            <a:avLst/>
          </a:prstGeom>
          <a:noFill/>
          <a:ln/>
        </p:spPr>
        <p:txBody>
          <a:bodyPr wrap="square" lIns="0" tIns="0" rIns="0" bIns="0" rtlCol="0" anchor="ctr"/>
          <a:lstStyle/>
          <a:p>
            <a:pPr algn="l" indent="0" marL="0">
              <a:buNone/>
            </a:pPr>
            <a:r>
              <a:rPr lang="en-US" sz="5000" b="1" dirty="0">
                <a:solidFill>
                  <a:srgbClr val="6B3D8C"/>
                </a:solidFill>
                <a:latin typeface="Cambria" pitchFamily="34" charset="0"/>
                <a:ea typeface="Cambria" pitchFamily="34" charset="-122"/>
                <a:cs typeface="Cambria" pitchFamily="34" charset="-120"/>
              </a:rPr>
              <a:t>Silent</a:t>
            </a:r>
            <a:endParaRPr lang="en-US" sz="5000" dirty="0"/>
          </a:p>
        </p:txBody>
      </p:sp>
      <p:sp>
        <p:nvSpPr>
          <p:cNvPr id="13" name="Text 10"/>
          <p:cNvSpPr txBox="1"/>
          <p:nvPr/>
        </p:nvSpPr>
        <p:spPr>
          <a:xfrm>
            <a:off x="7955280" y="2377440"/>
            <a:ext cx="356616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vision is preserved until the disease is advanced; treatment works best early</a:t>
            </a:r>
            <a:endParaRPr lang="en-US" sz="1500" dirty="0"/>
          </a:p>
        </p:txBody>
      </p:sp>
      <p:sp>
        <p:nvSpPr>
          <p:cNvPr id="14" name="Shape 11"/>
          <p:cNvSpPr/>
          <p:nvPr/>
        </p:nvSpPr>
        <p:spPr>
          <a:xfrm>
            <a:off x="731520" y="3703320"/>
            <a:ext cx="10744200" cy="2331720"/>
          </a:xfrm>
          <a:prstGeom prst="roundRect">
            <a:avLst>
              <a:gd name="adj" fmla="val 3137"/>
            </a:avLst>
          </a:prstGeom>
          <a:solidFill>
            <a:srgbClr val="F3F5F8"/>
          </a:solidFill>
          <a:ln w="12700">
            <a:solidFill>
              <a:srgbClr val="F3F5F8"/>
            </a:solidFill>
            <a:prstDash val="solid"/>
          </a:ln>
        </p:spPr>
      </p:sp>
      <p:sp>
        <p:nvSpPr>
          <p:cNvPr id="15" name="Text 12"/>
          <p:cNvSpPr txBox="1"/>
          <p:nvPr/>
        </p:nvSpPr>
        <p:spPr>
          <a:xfrm>
            <a:off x="914400" y="3840480"/>
            <a:ext cx="10378440" cy="411480"/>
          </a:xfrm>
          <a:prstGeom prst="rect">
            <a:avLst/>
          </a:prstGeom>
          <a:noFill/>
          <a:ln/>
        </p:spPr>
        <p:txBody>
          <a:bodyPr wrap="square" lIns="0" tIns="0" rIns="0" bIns="0" rtlCol="0" anchor="t"/>
          <a:lstStyle/>
          <a:p>
            <a:pPr indent="0" marL="0">
              <a:buNone/>
            </a:pPr>
            <a:r>
              <a:rPr lang="en-US" sz="1800" b="1" dirty="0">
                <a:solidFill>
                  <a:srgbClr val="16324F"/>
                </a:solidFill>
                <a:latin typeface="Cambria" pitchFamily="34" charset="0"/>
                <a:ea typeface="Cambria" pitchFamily="34" charset="-122"/>
                <a:cs typeface="Cambria" pitchFamily="34" charset="-120"/>
              </a:rPr>
              <a:t>What it means in practice</a:t>
            </a:r>
            <a:endParaRPr lang="en-US" sz="1800" dirty="0"/>
          </a:p>
        </p:txBody>
      </p:sp>
      <p:sp>
        <p:nvSpPr>
          <p:cNvPr id="16" name="Text 13"/>
          <p:cNvSpPr txBox="1"/>
          <p:nvPr/>
        </p:nvSpPr>
        <p:spPr>
          <a:xfrm>
            <a:off x="914400" y="4297680"/>
            <a:ext cx="10378440" cy="16459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Every diabetic patient should have the retina photographed regularly (fundus photograph).</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Each image is graded by an expert on the five-level international ICDR scale.</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 number of images now far exceeds the number of available graders, especially where ophthalmologists are scarce: automated grading is the natural answer.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What the grader sees: the five ICDR grades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5</a:t>
            </a:r>
            <a:endParaRPr lang="en-US" sz="1000" dirty="0"/>
          </a:p>
        </p:txBody>
      </p:sp>
      <p:pic>
        <p:nvPicPr>
          <p:cNvPr id="8" name="Image 0" descr="/home/user/SRT26/img/fundus_grade0.png">    </p:cNvPr>
          <p:cNvPicPr>
            <a:picLocks noChangeAspect="1"/>
          </p:cNvPicPr>
          <p:nvPr/>
        </p:nvPicPr>
        <p:blipFill>
          <a:blip r:embed="rId1"/>
          <a:stretch>
            <a:fillRect/>
          </a:stretch>
        </p:blipFill>
        <p:spPr>
          <a:xfrm>
            <a:off x="640080" y="1325880"/>
            <a:ext cx="2011680" cy="2011680"/>
          </a:xfrm>
          <a:prstGeom prst="rect">
            <a:avLst/>
          </a:prstGeom>
        </p:spPr>
      </p:pic>
      <p:sp>
        <p:nvSpPr>
          <p:cNvPr id="9" name="Text 5"/>
          <p:cNvSpPr txBox="1"/>
          <p:nvPr/>
        </p:nvSpPr>
        <p:spPr>
          <a:xfrm>
            <a:off x="640080" y="3474720"/>
            <a:ext cx="2011680" cy="411480"/>
          </a:xfrm>
          <a:prstGeom prst="rect">
            <a:avLst/>
          </a:prstGeom>
          <a:noFill/>
          <a:ln/>
        </p:spPr>
        <p:txBody>
          <a:bodyPr wrap="square" lIns="0" tIns="0" rIns="0" bIns="0" rtlCol="0" anchor="ctr"/>
          <a:lstStyle/>
          <a:p>
            <a:pPr algn="ctr" indent="0" marL="0">
              <a:buNone/>
            </a:pPr>
            <a:r>
              <a:rPr lang="en-US" sz="1600" b="1" dirty="0">
                <a:solidFill>
                  <a:srgbClr val="16324F"/>
                </a:solidFill>
                <a:latin typeface="Cambria" pitchFamily="34" charset="0"/>
                <a:ea typeface="Cambria" pitchFamily="34" charset="-122"/>
                <a:cs typeface="Cambria" pitchFamily="34" charset="-120"/>
              </a:rPr>
              <a:t>Grade 0  No DR</a:t>
            </a:r>
            <a:endParaRPr lang="en-US" sz="1600" dirty="0"/>
          </a:p>
        </p:txBody>
      </p:sp>
      <p:sp>
        <p:nvSpPr>
          <p:cNvPr id="10" name="Text 6"/>
          <p:cNvSpPr txBox="1"/>
          <p:nvPr/>
        </p:nvSpPr>
        <p:spPr>
          <a:xfrm>
            <a:off x="640080" y="3886200"/>
            <a:ext cx="2011680" cy="36576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No lesion</a:t>
            </a:r>
            <a:endParaRPr lang="en-US" sz="1300" dirty="0"/>
          </a:p>
        </p:txBody>
      </p:sp>
      <p:sp>
        <p:nvSpPr>
          <p:cNvPr id="11" name="Text 7"/>
          <p:cNvSpPr txBox="1"/>
          <p:nvPr/>
        </p:nvSpPr>
        <p:spPr>
          <a:xfrm>
            <a:off x="640080" y="4251960"/>
            <a:ext cx="2011680" cy="365760"/>
          </a:xfrm>
          <a:prstGeom prst="rect">
            <a:avLst/>
          </a:prstGeom>
          <a:noFill/>
          <a:ln/>
        </p:spPr>
        <p:txBody>
          <a:bodyPr wrap="square" lIns="0" tIns="0" rIns="0" bIns="0" rtlCol="0" anchor="ctr"/>
          <a:lstStyle/>
          <a:p>
            <a:pPr algn="ctr" indent="0" marL="0">
              <a:buNone/>
            </a:pPr>
            <a:r>
              <a:rPr lang="en-US" sz="1300" i="1" dirty="0">
                <a:solidFill>
                  <a:srgbClr val="5A6470"/>
                </a:solidFill>
                <a:latin typeface="Calibri" pitchFamily="34" charset="0"/>
                <a:ea typeface="Calibri" pitchFamily="34" charset="-122"/>
                <a:cs typeface="Calibri" pitchFamily="34" charset="-120"/>
              </a:rPr>
              <a:t>Annual recall</a:t>
            </a:r>
            <a:endParaRPr lang="en-US" sz="1300" dirty="0"/>
          </a:p>
        </p:txBody>
      </p:sp>
      <p:pic>
        <p:nvPicPr>
          <p:cNvPr id="12" name="Image 1" descr="/home/user/SRT26/img/fundus_grade1.png">    </p:cNvPr>
          <p:cNvPicPr>
            <a:picLocks noChangeAspect="1"/>
          </p:cNvPicPr>
          <p:nvPr/>
        </p:nvPicPr>
        <p:blipFill>
          <a:blip r:embed="rId2"/>
          <a:stretch>
            <a:fillRect/>
          </a:stretch>
        </p:blipFill>
        <p:spPr>
          <a:xfrm>
            <a:off x="2862072" y="1325880"/>
            <a:ext cx="2011680" cy="2011680"/>
          </a:xfrm>
          <a:prstGeom prst="rect">
            <a:avLst/>
          </a:prstGeom>
        </p:spPr>
      </p:pic>
      <p:sp>
        <p:nvSpPr>
          <p:cNvPr id="13" name="Text 8"/>
          <p:cNvSpPr txBox="1"/>
          <p:nvPr/>
        </p:nvSpPr>
        <p:spPr>
          <a:xfrm>
            <a:off x="2862072" y="3474720"/>
            <a:ext cx="2011680" cy="411480"/>
          </a:xfrm>
          <a:prstGeom prst="rect">
            <a:avLst/>
          </a:prstGeom>
          <a:noFill/>
          <a:ln/>
        </p:spPr>
        <p:txBody>
          <a:bodyPr wrap="square" lIns="0" tIns="0" rIns="0" bIns="0" rtlCol="0" anchor="ctr"/>
          <a:lstStyle/>
          <a:p>
            <a:pPr algn="ctr" indent="0" marL="0">
              <a:buNone/>
            </a:pPr>
            <a:r>
              <a:rPr lang="en-US" sz="1600" b="1" dirty="0">
                <a:solidFill>
                  <a:srgbClr val="16324F"/>
                </a:solidFill>
                <a:latin typeface="Cambria" pitchFamily="34" charset="0"/>
                <a:ea typeface="Cambria" pitchFamily="34" charset="-122"/>
                <a:cs typeface="Cambria" pitchFamily="34" charset="-120"/>
              </a:rPr>
              <a:t>Grade 1  Mild</a:t>
            </a:r>
            <a:endParaRPr lang="en-US" sz="1600" dirty="0"/>
          </a:p>
        </p:txBody>
      </p:sp>
      <p:sp>
        <p:nvSpPr>
          <p:cNvPr id="14" name="Text 9"/>
          <p:cNvSpPr txBox="1"/>
          <p:nvPr/>
        </p:nvSpPr>
        <p:spPr>
          <a:xfrm>
            <a:off x="2862072" y="3886200"/>
            <a:ext cx="2011680" cy="36576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Microaneurysms only</a:t>
            </a:r>
            <a:endParaRPr lang="en-US" sz="1300" dirty="0"/>
          </a:p>
        </p:txBody>
      </p:sp>
      <p:sp>
        <p:nvSpPr>
          <p:cNvPr id="15" name="Text 10"/>
          <p:cNvSpPr txBox="1"/>
          <p:nvPr/>
        </p:nvSpPr>
        <p:spPr>
          <a:xfrm>
            <a:off x="2862072" y="4251960"/>
            <a:ext cx="2011680" cy="365760"/>
          </a:xfrm>
          <a:prstGeom prst="rect">
            <a:avLst/>
          </a:prstGeom>
          <a:noFill/>
          <a:ln/>
        </p:spPr>
        <p:txBody>
          <a:bodyPr wrap="square" lIns="0" tIns="0" rIns="0" bIns="0" rtlCol="0" anchor="ctr"/>
          <a:lstStyle/>
          <a:p>
            <a:pPr algn="ctr" indent="0" marL="0">
              <a:buNone/>
            </a:pPr>
            <a:r>
              <a:rPr lang="en-US" sz="1300" i="1" dirty="0">
                <a:solidFill>
                  <a:srgbClr val="5A6470"/>
                </a:solidFill>
                <a:latin typeface="Calibri" pitchFamily="34" charset="0"/>
                <a:ea typeface="Calibri" pitchFamily="34" charset="-122"/>
                <a:cs typeface="Calibri" pitchFamily="34" charset="-120"/>
              </a:rPr>
              <a:t>12 months</a:t>
            </a:r>
            <a:endParaRPr lang="en-US" sz="1300" dirty="0"/>
          </a:p>
        </p:txBody>
      </p:sp>
      <p:pic>
        <p:nvPicPr>
          <p:cNvPr id="16" name="Image 2" descr="/home/user/SRT26/img/fundus_grade2.png">    </p:cNvPr>
          <p:cNvPicPr>
            <a:picLocks noChangeAspect="1"/>
          </p:cNvPicPr>
          <p:nvPr/>
        </p:nvPicPr>
        <p:blipFill>
          <a:blip r:embed="rId3"/>
          <a:stretch>
            <a:fillRect/>
          </a:stretch>
        </p:blipFill>
        <p:spPr>
          <a:xfrm>
            <a:off x="5084064" y="1325880"/>
            <a:ext cx="2011680" cy="2011680"/>
          </a:xfrm>
          <a:prstGeom prst="rect">
            <a:avLst/>
          </a:prstGeom>
        </p:spPr>
      </p:pic>
      <p:sp>
        <p:nvSpPr>
          <p:cNvPr id="17" name="Text 11"/>
          <p:cNvSpPr txBox="1"/>
          <p:nvPr/>
        </p:nvSpPr>
        <p:spPr>
          <a:xfrm>
            <a:off x="5084064" y="3474720"/>
            <a:ext cx="2011680" cy="411480"/>
          </a:xfrm>
          <a:prstGeom prst="rect">
            <a:avLst/>
          </a:prstGeom>
          <a:noFill/>
          <a:ln/>
        </p:spPr>
        <p:txBody>
          <a:bodyPr wrap="square" lIns="0" tIns="0" rIns="0" bIns="0" rtlCol="0" anchor="ctr"/>
          <a:lstStyle/>
          <a:p>
            <a:pPr algn="ctr" indent="0" marL="0">
              <a:buNone/>
            </a:pPr>
            <a:r>
              <a:rPr lang="en-US" sz="1600" b="1" dirty="0">
                <a:solidFill>
                  <a:srgbClr val="16324F"/>
                </a:solidFill>
                <a:latin typeface="Cambria" pitchFamily="34" charset="0"/>
                <a:ea typeface="Cambria" pitchFamily="34" charset="-122"/>
                <a:cs typeface="Cambria" pitchFamily="34" charset="-120"/>
              </a:rPr>
              <a:t>Grade 2  Moderate</a:t>
            </a:r>
            <a:endParaRPr lang="en-US" sz="1600" dirty="0"/>
          </a:p>
        </p:txBody>
      </p:sp>
      <p:sp>
        <p:nvSpPr>
          <p:cNvPr id="18" name="Text 12"/>
          <p:cNvSpPr txBox="1"/>
          <p:nvPr/>
        </p:nvSpPr>
        <p:spPr>
          <a:xfrm>
            <a:off x="5084064" y="3886200"/>
            <a:ext cx="2011680" cy="36576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Haemorrhages, exudates</a:t>
            </a:r>
            <a:endParaRPr lang="en-US" sz="1300" dirty="0"/>
          </a:p>
        </p:txBody>
      </p:sp>
      <p:sp>
        <p:nvSpPr>
          <p:cNvPr id="19" name="Text 13"/>
          <p:cNvSpPr txBox="1"/>
          <p:nvPr/>
        </p:nvSpPr>
        <p:spPr>
          <a:xfrm>
            <a:off x="5084064" y="4251960"/>
            <a:ext cx="2011680" cy="365760"/>
          </a:xfrm>
          <a:prstGeom prst="rect">
            <a:avLst/>
          </a:prstGeom>
          <a:noFill/>
          <a:ln/>
        </p:spPr>
        <p:txBody>
          <a:bodyPr wrap="square" lIns="0" tIns="0" rIns="0" bIns="0" rtlCol="0" anchor="ctr"/>
          <a:lstStyle/>
          <a:p>
            <a:pPr algn="ctr" indent="0" marL="0">
              <a:buNone/>
            </a:pPr>
            <a:r>
              <a:rPr lang="en-US" sz="1300" i="1" dirty="0">
                <a:solidFill>
                  <a:srgbClr val="5A6470"/>
                </a:solidFill>
                <a:latin typeface="Calibri" pitchFamily="34" charset="0"/>
                <a:ea typeface="Calibri" pitchFamily="34" charset="-122"/>
                <a:cs typeface="Calibri" pitchFamily="34" charset="-120"/>
              </a:rPr>
              <a:t>6 months</a:t>
            </a:r>
            <a:endParaRPr lang="en-US" sz="1300" dirty="0"/>
          </a:p>
        </p:txBody>
      </p:sp>
      <p:pic>
        <p:nvPicPr>
          <p:cNvPr id="20" name="Image 3" descr="/home/user/SRT26/img/fundus_grade3.png">    </p:cNvPr>
          <p:cNvPicPr>
            <a:picLocks noChangeAspect="1"/>
          </p:cNvPicPr>
          <p:nvPr/>
        </p:nvPicPr>
        <p:blipFill>
          <a:blip r:embed="rId4"/>
          <a:stretch>
            <a:fillRect/>
          </a:stretch>
        </p:blipFill>
        <p:spPr>
          <a:xfrm>
            <a:off x="7306056" y="1325880"/>
            <a:ext cx="2011680" cy="2011680"/>
          </a:xfrm>
          <a:prstGeom prst="rect">
            <a:avLst/>
          </a:prstGeom>
        </p:spPr>
      </p:pic>
      <p:sp>
        <p:nvSpPr>
          <p:cNvPr id="21" name="Text 14"/>
          <p:cNvSpPr txBox="1"/>
          <p:nvPr/>
        </p:nvSpPr>
        <p:spPr>
          <a:xfrm>
            <a:off x="7306056" y="3474720"/>
            <a:ext cx="2011680" cy="411480"/>
          </a:xfrm>
          <a:prstGeom prst="rect">
            <a:avLst/>
          </a:prstGeom>
          <a:noFill/>
          <a:ln/>
        </p:spPr>
        <p:txBody>
          <a:bodyPr wrap="square" lIns="0" tIns="0" rIns="0" bIns="0" rtlCol="0" anchor="ctr"/>
          <a:lstStyle/>
          <a:p>
            <a:pPr algn="ctr" indent="0" marL="0">
              <a:buNone/>
            </a:pPr>
            <a:r>
              <a:rPr lang="en-US" sz="1600" b="1" dirty="0">
                <a:solidFill>
                  <a:srgbClr val="A32020"/>
                </a:solidFill>
                <a:latin typeface="Cambria" pitchFamily="34" charset="0"/>
                <a:ea typeface="Cambria" pitchFamily="34" charset="-122"/>
                <a:cs typeface="Cambria" pitchFamily="34" charset="-120"/>
              </a:rPr>
              <a:t>Grade 3  Severe</a:t>
            </a:r>
            <a:endParaRPr lang="en-US" sz="1600" dirty="0"/>
          </a:p>
        </p:txBody>
      </p:sp>
      <p:sp>
        <p:nvSpPr>
          <p:cNvPr id="22" name="Text 15"/>
          <p:cNvSpPr txBox="1"/>
          <p:nvPr/>
        </p:nvSpPr>
        <p:spPr>
          <a:xfrm>
            <a:off x="7306056" y="3886200"/>
            <a:ext cx="2011680" cy="36576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4-2-1 rule</a:t>
            </a:r>
            <a:endParaRPr lang="en-US" sz="1300" dirty="0"/>
          </a:p>
        </p:txBody>
      </p:sp>
      <p:sp>
        <p:nvSpPr>
          <p:cNvPr id="23" name="Text 16"/>
          <p:cNvSpPr txBox="1"/>
          <p:nvPr/>
        </p:nvSpPr>
        <p:spPr>
          <a:xfrm>
            <a:off x="7306056" y="4251960"/>
            <a:ext cx="2011680" cy="365760"/>
          </a:xfrm>
          <a:prstGeom prst="rect">
            <a:avLst/>
          </a:prstGeom>
          <a:noFill/>
          <a:ln/>
        </p:spPr>
        <p:txBody>
          <a:bodyPr wrap="square" lIns="0" tIns="0" rIns="0" bIns="0" rtlCol="0" anchor="ctr"/>
          <a:lstStyle/>
          <a:p>
            <a:pPr algn="ctr" indent="0" marL="0">
              <a:buNone/>
            </a:pPr>
            <a:r>
              <a:rPr lang="en-US" sz="1300" i="1" dirty="0">
                <a:solidFill>
                  <a:srgbClr val="A32020"/>
                </a:solidFill>
                <a:latin typeface="Calibri" pitchFamily="34" charset="0"/>
                <a:ea typeface="Calibri" pitchFamily="34" charset="-122"/>
                <a:cs typeface="Calibri" pitchFamily="34" charset="-120"/>
              </a:rPr>
              <a:t>2-4 weeks</a:t>
            </a:r>
            <a:endParaRPr lang="en-US" sz="1300" dirty="0"/>
          </a:p>
        </p:txBody>
      </p:sp>
      <p:pic>
        <p:nvPicPr>
          <p:cNvPr id="24" name="Image 4" descr="/home/user/SRT26/img/fundus_grade4.png">    </p:cNvPr>
          <p:cNvPicPr>
            <a:picLocks noChangeAspect="1"/>
          </p:cNvPicPr>
          <p:nvPr/>
        </p:nvPicPr>
        <p:blipFill>
          <a:blip r:embed="rId5"/>
          <a:stretch>
            <a:fillRect/>
          </a:stretch>
        </p:blipFill>
        <p:spPr>
          <a:xfrm>
            <a:off x="9528048" y="1325880"/>
            <a:ext cx="2011680" cy="2011680"/>
          </a:xfrm>
          <a:prstGeom prst="rect">
            <a:avLst/>
          </a:prstGeom>
        </p:spPr>
      </p:pic>
      <p:sp>
        <p:nvSpPr>
          <p:cNvPr id="25" name="Text 17"/>
          <p:cNvSpPr txBox="1"/>
          <p:nvPr/>
        </p:nvSpPr>
        <p:spPr>
          <a:xfrm>
            <a:off x="9528048" y="3474720"/>
            <a:ext cx="2011680" cy="411480"/>
          </a:xfrm>
          <a:prstGeom prst="rect">
            <a:avLst/>
          </a:prstGeom>
          <a:noFill/>
          <a:ln/>
        </p:spPr>
        <p:txBody>
          <a:bodyPr wrap="square" lIns="0" tIns="0" rIns="0" bIns="0" rtlCol="0" anchor="ctr"/>
          <a:lstStyle/>
          <a:p>
            <a:pPr algn="ctr" indent="0" marL="0">
              <a:buNone/>
            </a:pPr>
            <a:r>
              <a:rPr lang="en-US" sz="1600" b="1" dirty="0">
                <a:solidFill>
                  <a:srgbClr val="A32020"/>
                </a:solidFill>
                <a:latin typeface="Cambria" pitchFamily="34" charset="0"/>
                <a:ea typeface="Cambria" pitchFamily="34" charset="-122"/>
                <a:cs typeface="Cambria" pitchFamily="34" charset="-120"/>
              </a:rPr>
              <a:t>Grade 4  Proliferative</a:t>
            </a:r>
            <a:endParaRPr lang="en-US" sz="1600" dirty="0"/>
          </a:p>
        </p:txBody>
      </p:sp>
      <p:sp>
        <p:nvSpPr>
          <p:cNvPr id="26" name="Text 18"/>
          <p:cNvSpPr txBox="1"/>
          <p:nvPr/>
        </p:nvSpPr>
        <p:spPr>
          <a:xfrm>
            <a:off x="9528048" y="3886200"/>
            <a:ext cx="2011680" cy="365760"/>
          </a:xfrm>
          <a:prstGeom prst="rect">
            <a:avLst/>
          </a:prstGeom>
          <a:noFill/>
          <a:ln/>
        </p:spPr>
        <p:txBody>
          <a:bodyPr wrap="square" lIns="0" tIns="0" rIns="0" bIns="0" rtlCol="0" anchor="ctr"/>
          <a:lstStyle/>
          <a:p>
            <a:pPr algn="ctr" indent="0" marL="0">
              <a:buNone/>
            </a:pPr>
            <a:r>
              <a:rPr lang="en-US" sz="1300" dirty="0">
                <a:solidFill>
                  <a:srgbClr val="1F2933"/>
                </a:solidFill>
                <a:latin typeface="Calibri" pitchFamily="34" charset="0"/>
                <a:ea typeface="Calibri" pitchFamily="34" charset="-122"/>
                <a:cs typeface="Calibri" pitchFamily="34" charset="-120"/>
              </a:rPr>
              <a:t>New vessels</a:t>
            </a:r>
            <a:endParaRPr lang="en-US" sz="1300" dirty="0"/>
          </a:p>
        </p:txBody>
      </p:sp>
      <p:sp>
        <p:nvSpPr>
          <p:cNvPr id="27" name="Text 19"/>
          <p:cNvSpPr txBox="1"/>
          <p:nvPr/>
        </p:nvSpPr>
        <p:spPr>
          <a:xfrm>
            <a:off x="9528048" y="4251960"/>
            <a:ext cx="2011680" cy="365760"/>
          </a:xfrm>
          <a:prstGeom prst="rect">
            <a:avLst/>
          </a:prstGeom>
          <a:noFill/>
          <a:ln/>
        </p:spPr>
        <p:txBody>
          <a:bodyPr wrap="square" lIns="0" tIns="0" rIns="0" bIns="0" rtlCol="0" anchor="ctr"/>
          <a:lstStyle/>
          <a:p>
            <a:pPr algn="ctr" indent="0" marL="0">
              <a:buNone/>
            </a:pPr>
            <a:r>
              <a:rPr lang="en-US" sz="1300" i="1" dirty="0">
                <a:solidFill>
                  <a:srgbClr val="A32020"/>
                </a:solidFill>
                <a:latin typeface="Calibri" pitchFamily="34" charset="0"/>
                <a:ea typeface="Calibri" pitchFamily="34" charset="-122"/>
                <a:cs typeface="Calibri" pitchFamily="34" charset="-120"/>
              </a:rPr>
              <a:t>Emergency</a:t>
            </a:r>
            <a:endParaRPr lang="en-US" sz="1300" dirty="0"/>
          </a:p>
        </p:txBody>
      </p:sp>
      <p:sp>
        <p:nvSpPr>
          <p:cNvPr id="28" name="Shape 20"/>
          <p:cNvSpPr/>
          <p:nvPr/>
        </p:nvSpPr>
        <p:spPr>
          <a:xfrm>
            <a:off x="640080" y="4892040"/>
            <a:ext cx="10881360" cy="1188720"/>
          </a:xfrm>
          <a:prstGeom prst="roundRect">
            <a:avLst>
              <a:gd name="adj" fmla="val 6154"/>
            </a:avLst>
          </a:prstGeom>
          <a:solidFill>
            <a:srgbClr val="F3F5F8"/>
          </a:solidFill>
          <a:ln w="12700">
            <a:solidFill>
              <a:srgbClr val="F3F5F8"/>
            </a:solidFill>
            <a:prstDash val="solid"/>
          </a:ln>
        </p:spPr>
      </p:sp>
      <p:sp>
        <p:nvSpPr>
          <p:cNvPr id="29" name="Text 21"/>
          <p:cNvSpPr txBox="1"/>
          <p:nvPr/>
        </p:nvSpPr>
        <p:spPr>
          <a:xfrm>
            <a:off x="822960" y="5029200"/>
            <a:ext cx="10515600" cy="411480"/>
          </a:xfrm>
          <a:prstGeom prst="rect">
            <a:avLst/>
          </a:prstGeom>
          <a:noFill/>
          <a:ln/>
        </p:spPr>
        <p:txBody>
          <a:bodyPr wrap="square" lIns="0" tIns="0" rIns="0" bIns="0" rtlCol="0" anchor="t"/>
          <a:lstStyle/>
          <a:p>
            <a:pPr indent="0" marL="0">
              <a:buNone/>
            </a:pPr>
            <a:r>
              <a:rPr lang="en-US" sz="1800" b="1" dirty="0">
                <a:solidFill>
                  <a:srgbClr val="16324F"/>
                </a:solidFill>
                <a:latin typeface="Cambria" pitchFamily="34" charset="0"/>
                <a:ea typeface="Cambria" pitchFamily="34" charset="-122"/>
                <a:cs typeface="Cambria" pitchFamily="34" charset="-120"/>
              </a:rPr>
              <a:t>Two facts that drive the thesis</a:t>
            </a:r>
            <a:endParaRPr lang="en-US" sz="1800" dirty="0"/>
          </a:p>
        </p:txBody>
      </p:sp>
      <p:sp>
        <p:nvSpPr>
          <p:cNvPr id="30" name="Text 22"/>
          <p:cNvSpPr txBox="1"/>
          <p:nvPr/>
        </p:nvSpPr>
        <p:spPr>
          <a:xfrm>
            <a:off x="822960" y="5486400"/>
            <a:ext cx="10515600" cy="50292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The grades are ordered (confusing 0 with 4 is far worse than 1 with 2), and Severe (3) and Proliferative (4) cases must be referred quickly.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A32020"/>
          </a:solidFill>
          <a:ln w="12700">
            <a:solidFill>
              <a:srgbClr val="A32020"/>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Why accuracy is not enough: missed severe cases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731520" y="1371600"/>
            <a:ext cx="5120640" cy="2194560"/>
          </a:xfrm>
          <a:prstGeom prst="roundRect">
            <a:avLst>
              <a:gd name="adj" fmla="val 3333"/>
            </a:avLst>
          </a:prstGeom>
          <a:solidFill>
            <a:srgbClr val="F8D6D6"/>
          </a:solidFill>
          <a:ln w="12700">
            <a:solidFill>
              <a:srgbClr val="F8D6D6"/>
            </a:solidFill>
            <a:prstDash val="solid"/>
          </a:ln>
        </p:spPr>
      </p:sp>
      <p:sp>
        <p:nvSpPr>
          <p:cNvPr id="9" name="Text 6"/>
          <p:cNvSpPr txBox="1"/>
          <p:nvPr/>
        </p:nvSpPr>
        <p:spPr>
          <a:xfrm>
            <a:off x="960120" y="1508760"/>
            <a:ext cx="4663440" cy="1920240"/>
          </a:xfrm>
          <a:prstGeom prst="rect">
            <a:avLst/>
          </a:prstGeom>
          <a:noFill/>
          <a:ln/>
        </p:spPr>
        <p:txBody>
          <a:bodyPr wrap="square" lIns="0" tIns="0" rIns="0" bIns="0" rtlCol="0" anchor="t"/>
          <a:lstStyle/>
          <a:p>
            <a:pPr indent="0" marL="0">
              <a:buNone/>
            </a:pPr>
            <a:r>
              <a:rPr lang="en-US" sz="2600" b="1" dirty="0">
                <a:solidFill>
                  <a:srgbClr val="A32020"/>
                </a:solidFill>
                <a:latin typeface="Calibri" pitchFamily="34" charset="0"/>
                <a:ea typeface="Calibri" pitchFamily="34" charset="-122"/>
                <a:cs typeface="Calibri" pitchFamily="34" charset="-120"/>
              </a:rPr>
              <a:t>Sev-NR</a:t>
            </a:r>
            <a:endParaRPr lang="en-US" sz="2600" dirty="0"/>
          </a:p>
          <a:p>
            <a:pPr indent="0" marL="0">
              <a:buNone/>
            </a:pPr>
            <a:r>
              <a:rPr lang="en-US" sz="1600" dirty="0">
                <a:solidFill>
                  <a:srgbClr val="1F2933"/>
                </a:solidFill>
                <a:latin typeface="Calibri" pitchFamily="34" charset="0"/>
                <a:ea typeface="Calibri" pitchFamily="34" charset="-122"/>
                <a:cs typeface="Calibri" pitchFamily="34" charset="-120"/>
              </a:rPr>
              <a:t>share of Severe (Grade 3) images predicted as No DR or Mild, i.e. not referred</a:t>
            </a:r>
            <a:endParaRPr lang="en-US" sz="2600" dirty="0"/>
          </a:p>
          <a:p>
            <a:pPr indent="0" marL="0">
              <a:buNone/>
            </a:pPr>
            <a:r>
              <a:rPr lang="en-US" sz="1400" dirty="0">
                <a:solidFill>
                  <a:srgbClr val="5A6470"/>
                </a:solidFill>
                <a:latin typeface="Calibri" pitchFamily="34" charset="0"/>
                <a:ea typeface="Calibri" pitchFamily="34" charset="-122"/>
                <a:cs typeface="Calibri" pitchFamily="34" charset="-120"/>
              </a:rPr>
              <a:t>PDR-NR: the same for Grade 4</a:t>
            </a:r>
            <a:endParaRPr lang="en-US" sz="2600" dirty="0"/>
          </a:p>
        </p:txBody>
      </p:sp>
      <p:sp>
        <p:nvSpPr>
          <p:cNvPr id="10" name="Text 7"/>
          <p:cNvSpPr txBox="1"/>
          <p:nvPr/>
        </p:nvSpPr>
        <p:spPr>
          <a:xfrm>
            <a:off x="6400800" y="1371600"/>
            <a:ext cx="5029200" cy="411480"/>
          </a:xfrm>
          <a:prstGeom prst="rect">
            <a:avLst/>
          </a:prstGeom>
          <a:noFill/>
          <a:ln/>
        </p:spPr>
        <p:txBody>
          <a:bodyPr wrap="square" lIns="0" tIns="0" rIns="0" bIns="0" rtlCol="0" anchor="ctr"/>
          <a:lstStyle/>
          <a:p>
            <a:pPr indent="0" marL="0">
              <a:buNone/>
            </a:pPr>
            <a:r>
              <a:rPr lang="en-US" sz="1800" b="1" dirty="0">
                <a:solidFill>
                  <a:srgbClr val="16324F"/>
                </a:solidFill>
                <a:latin typeface="Cambria" pitchFamily="34" charset="0"/>
                <a:ea typeface="Cambria" pitchFamily="34" charset="-122"/>
                <a:cs typeface="Cambria" pitchFamily="34" charset="-120"/>
              </a:rPr>
              <a:t>Illustrative projection</a:t>
            </a:r>
            <a:endParaRPr lang="en-US" sz="1800" dirty="0"/>
          </a:p>
        </p:txBody>
      </p:sp>
      <p:sp>
        <p:nvSpPr>
          <p:cNvPr id="11" name="Text 8"/>
          <p:cNvSpPr txBox="1"/>
          <p:nvPr/>
        </p:nvSpPr>
        <p:spPr>
          <a:xfrm>
            <a:off x="6400800" y="1828800"/>
            <a:ext cx="2468880" cy="914400"/>
          </a:xfrm>
          <a:prstGeom prst="rect">
            <a:avLst/>
          </a:prstGeom>
          <a:noFill/>
          <a:ln/>
        </p:spPr>
        <p:txBody>
          <a:bodyPr wrap="square" lIns="0" tIns="0" rIns="0" bIns="0" rtlCol="0" anchor="ctr"/>
          <a:lstStyle/>
          <a:p>
            <a:pPr algn="l" indent="0" marL="0">
              <a:buNone/>
            </a:pPr>
            <a:r>
              <a:rPr lang="en-US" sz="3800" b="1" dirty="0">
                <a:solidFill>
                  <a:srgbClr val="16324F"/>
                </a:solidFill>
                <a:latin typeface="Cambria" pitchFamily="34" charset="0"/>
                <a:ea typeface="Cambria" pitchFamily="34" charset="-122"/>
                <a:cs typeface="Cambria" pitchFamily="34" charset="-120"/>
              </a:rPr>
              <a:t>25,000</a:t>
            </a:r>
            <a:endParaRPr lang="en-US" sz="3800" dirty="0"/>
          </a:p>
        </p:txBody>
      </p:sp>
      <p:sp>
        <p:nvSpPr>
          <p:cNvPr id="12" name="Text 9"/>
          <p:cNvSpPr txBox="1"/>
          <p:nvPr/>
        </p:nvSpPr>
        <p:spPr>
          <a:xfrm>
            <a:off x="6400800" y="2743200"/>
            <a:ext cx="246888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severe cases among 500,000 screened patients / year</a:t>
            </a:r>
            <a:endParaRPr lang="en-US" sz="1500" dirty="0"/>
          </a:p>
        </p:txBody>
      </p:sp>
      <p:sp>
        <p:nvSpPr>
          <p:cNvPr id="13" name="Text 10"/>
          <p:cNvSpPr txBox="1"/>
          <p:nvPr/>
        </p:nvSpPr>
        <p:spPr>
          <a:xfrm>
            <a:off x="9052560" y="1828800"/>
            <a:ext cx="2468880" cy="914400"/>
          </a:xfrm>
          <a:prstGeom prst="rect">
            <a:avLst/>
          </a:prstGeom>
          <a:noFill/>
          <a:ln/>
        </p:spPr>
        <p:txBody>
          <a:bodyPr wrap="square" lIns="0" tIns="0" rIns="0" bIns="0" rtlCol="0" anchor="ctr"/>
          <a:lstStyle/>
          <a:p>
            <a:pPr algn="l" indent="0" marL="0">
              <a:buNone/>
            </a:pPr>
            <a:r>
              <a:rPr lang="en-US" sz="3800" b="1" dirty="0">
                <a:solidFill>
                  <a:srgbClr val="A32020"/>
                </a:solidFill>
                <a:latin typeface="Cambria" pitchFamily="34" charset="0"/>
                <a:ea typeface="Cambria" pitchFamily="34" charset="-122"/>
                <a:cs typeface="Cambria" pitchFamily="34" charset="-120"/>
              </a:rPr>
              <a:t>1,450</a:t>
            </a:r>
            <a:endParaRPr lang="en-US" sz="3800" dirty="0"/>
          </a:p>
        </p:txBody>
      </p:sp>
      <p:sp>
        <p:nvSpPr>
          <p:cNvPr id="14" name="Text 11"/>
          <p:cNvSpPr txBox="1"/>
          <p:nvPr/>
        </p:nvSpPr>
        <p:spPr>
          <a:xfrm>
            <a:off x="9052560" y="2743200"/>
            <a:ext cx="246888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left unreferred at Sev-NR = 5.8% (CNN baseline, Messidor-2)</a:t>
            </a:r>
            <a:endParaRPr lang="en-US" sz="1500" dirty="0"/>
          </a:p>
        </p:txBody>
      </p:sp>
      <p:sp>
        <p:nvSpPr>
          <p:cNvPr id="15" name="Shape 12"/>
          <p:cNvSpPr/>
          <p:nvPr/>
        </p:nvSpPr>
        <p:spPr>
          <a:xfrm>
            <a:off x="731520" y="3977640"/>
            <a:ext cx="10744200" cy="2103120"/>
          </a:xfrm>
          <a:prstGeom prst="roundRect">
            <a:avLst>
              <a:gd name="adj" fmla="val 3478"/>
            </a:avLst>
          </a:prstGeom>
          <a:solidFill>
            <a:srgbClr val="F3F5F8"/>
          </a:solidFill>
          <a:ln w="12700">
            <a:solidFill>
              <a:srgbClr val="F3F5F8"/>
            </a:solidFill>
            <a:prstDash val="solid"/>
          </a:ln>
        </p:spPr>
      </p:sp>
      <p:sp>
        <p:nvSpPr>
          <p:cNvPr id="16" name="Text 13"/>
          <p:cNvSpPr txBox="1"/>
          <p:nvPr/>
        </p:nvSpPr>
        <p:spPr>
          <a:xfrm>
            <a:off x="914400" y="4114800"/>
            <a:ext cx="1037844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Consequence for the thesis</a:t>
            </a:r>
            <a:endParaRPr lang="en-US" sz="1800" dirty="0"/>
          </a:p>
        </p:txBody>
      </p:sp>
      <p:sp>
        <p:nvSpPr>
          <p:cNvPr id="17" name="Text 14"/>
          <p:cNvSpPr txBox="1"/>
          <p:nvPr/>
        </p:nvSpPr>
        <p:spPr>
          <a:xfrm>
            <a:off x="914400" y="4572000"/>
            <a:ext cx="10378440" cy="14173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Safety metrics (Sev-NR, PDR-NR) are reported next to accuracy (QWK), and checked on data from another country.</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The projection is a calculation under assumed prevalence, not an estimate of clinical impact.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Three limitations of representative systems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731520" y="1371600"/>
            <a:ext cx="3429000" cy="2697480"/>
          </a:xfrm>
          <a:prstGeom prst="roundRect">
            <a:avLst>
              <a:gd name="adj" fmla="val 2712"/>
            </a:avLst>
          </a:prstGeom>
          <a:solidFill>
            <a:srgbClr val="D6E6F5"/>
          </a:solidFill>
          <a:ln w="12700">
            <a:solidFill>
              <a:srgbClr val="D6E6F5"/>
            </a:solidFill>
            <a:prstDash val="solid"/>
          </a:ln>
        </p:spPr>
      </p:sp>
      <p:sp>
        <p:nvSpPr>
          <p:cNvPr id="9" name="Shape 6"/>
          <p:cNvSpPr/>
          <p:nvPr/>
        </p:nvSpPr>
        <p:spPr>
          <a:xfrm>
            <a:off x="960120" y="1554480"/>
            <a:ext cx="685800" cy="685800"/>
          </a:xfrm>
          <a:prstGeom prst="ellipse">
            <a:avLst/>
          </a:prstGeom>
          <a:solidFill>
            <a:srgbClr val="1F4E79"/>
          </a:solidFill>
          <a:ln w="12700">
            <a:solidFill>
              <a:srgbClr val="1F4E79"/>
            </a:solidFill>
            <a:prstDash val="solid"/>
          </a:ln>
        </p:spPr>
      </p:sp>
      <p:sp>
        <p:nvSpPr>
          <p:cNvPr id="10" name="Text 7"/>
          <p:cNvSpPr txBox="1"/>
          <p:nvPr/>
        </p:nvSpPr>
        <p:spPr>
          <a:xfrm>
            <a:off x="960120" y="15544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L1</a:t>
            </a:r>
            <a:endParaRPr lang="en-US" sz="1800" dirty="0"/>
          </a:p>
        </p:txBody>
      </p:sp>
      <p:sp>
        <p:nvSpPr>
          <p:cNvPr id="11" name="Text 8"/>
          <p:cNvSpPr txBox="1"/>
          <p:nvPr/>
        </p:nvSpPr>
        <p:spPr>
          <a:xfrm>
            <a:off x="1783080" y="1554480"/>
            <a:ext cx="2240280" cy="68580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No relational context</a:t>
            </a:r>
            <a:endParaRPr lang="en-US" sz="1800" dirty="0"/>
          </a:p>
        </p:txBody>
      </p:sp>
      <p:sp>
        <p:nvSpPr>
          <p:cNvPr id="12" name="Text 9"/>
          <p:cNvSpPr txBox="1"/>
          <p:nvPr/>
        </p:nvSpPr>
        <p:spPr>
          <a:xfrm>
            <a:off x="960120" y="2423160"/>
            <a:ext cx="2971800" cy="18288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Each image is graded in isolation: similar patients, who often share a grade, never inform one another.</a:t>
            </a:r>
            <a:endParaRPr lang="en-US" sz="1500" dirty="0"/>
          </a:p>
        </p:txBody>
      </p:sp>
      <p:sp>
        <p:nvSpPr>
          <p:cNvPr id="13" name="Shape 10"/>
          <p:cNvSpPr/>
          <p:nvPr/>
        </p:nvSpPr>
        <p:spPr>
          <a:xfrm>
            <a:off x="4361688" y="1371600"/>
            <a:ext cx="3429000" cy="2697480"/>
          </a:xfrm>
          <a:prstGeom prst="roundRect">
            <a:avLst>
              <a:gd name="adj" fmla="val 2712"/>
            </a:avLst>
          </a:prstGeom>
          <a:solidFill>
            <a:srgbClr val="D9F0E3"/>
          </a:solidFill>
          <a:ln w="12700">
            <a:solidFill>
              <a:srgbClr val="D9F0E3"/>
            </a:solidFill>
            <a:prstDash val="solid"/>
          </a:ln>
        </p:spPr>
      </p:sp>
      <p:sp>
        <p:nvSpPr>
          <p:cNvPr id="14" name="Shape 11"/>
          <p:cNvSpPr/>
          <p:nvPr/>
        </p:nvSpPr>
        <p:spPr>
          <a:xfrm>
            <a:off x="4590288" y="1554480"/>
            <a:ext cx="685800" cy="685800"/>
          </a:xfrm>
          <a:prstGeom prst="ellipse">
            <a:avLst/>
          </a:prstGeom>
          <a:solidFill>
            <a:srgbClr val="1B7A4E"/>
          </a:solidFill>
          <a:ln w="12700">
            <a:solidFill>
              <a:srgbClr val="1B7A4E"/>
            </a:solidFill>
            <a:prstDash val="solid"/>
          </a:ln>
        </p:spPr>
      </p:sp>
      <p:sp>
        <p:nvSpPr>
          <p:cNvPr id="15" name="Text 12"/>
          <p:cNvSpPr txBox="1"/>
          <p:nvPr/>
        </p:nvSpPr>
        <p:spPr>
          <a:xfrm>
            <a:off x="4590288" y="15544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L2</a:t>
            </a:r>
            <a:endParaRPr lang="en-US" sz="1800" dirty="0"/>
          </a:p>
        </p:txBody>
      </p:sp>
      <p:sp>
        <p:nvSpPr>
          <p:cNvPr id="16" name="Text 13"/>
          <p:cNvSpPr txBox="1"/>
          <p:nvPr/>
        </p:nvSpPr>
        <p:spPr>
          <a:xfrm>
            <a:off x="5413248" y="1554480"/>
            <a:ext cx="2240280" cy="685800"/>
          </a:xfrm>
          <a:prstGeom prst="rect">
            <a:avLst/>
          </a:prstGeom>
          <a:noFill/>
          <a:ln/>
        </p:spPr>
        <p:txBody>
          <a:bodyPr wrap="square" lIns="0" tIns="0" rIns="0" bIns="0" rtlCol="0" anchor="ctr"/>
          <a:lstStyle/>
          <a:p>
            <a:pPr indent="0" marL="0">
              <a:buNone/>
            </a:pPr>
            <a:r>
              <a:rPr lang="en-US" sz="1800" b="1" dirty="0">
                <a:solidFill>
                  <a:srgbClr val="1B7A4E"/>
                </a:solidFill>
                <a:latin typeface="Cambria" pitchFamily="34" charset="0"/>
                <a:ea typeface="Cambria" pitchFamily="34" charset="-122"/>
                <a:cs typeface="Cambria" pitchFamily="34" charset="-120"/>
              </a:rPr>
              <a:t>No vascular topology</a:t>
            </a:r>
            <a:endParaRPr lang="en-US" sz="1800" dirty="0"/>
          </a:p>
        </p:txBody>
      </p:sp>
      <p:sp>
        <p:nvSpPr>
          <p:cNvPr id="17" name="Text 14"/>
          <p:cNvSpPr txBox="1"/>
          <p:nvPr/>
        </p:nvSpPr>
        <p:spPr>
          <a:xfrm>
            <a:off x="4590288" y="2423160"/>
            <a:ext cx="2971800" cy="18288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Networks see local texture, not the global structure of the vessel tree (components, loops), which changes with the disease.</a:t>
            </a:r>
            <a:endParaRPr lang="en-US" sz="1500" dirty="0"/>
          </a:p>
        </p:txBody>
      </p:sp>
      <p:sp>
        <p:nvSpPr>
          <p:cNvPr id="18" name="Shape 15"/>
          <p:cNvSpPr/>
          <p:nvPr/>
        </p:nvSpPr>
        <p:spPr>
          <a:xfrm>
            <a:off x="7991856" y="1371600"/>
            <a:ext cx="3429000" cy="2697480"/>
          </a:xfrm>
          <a:prstGeom prst="roundRect">
            <a:avLst>
              <a:gd name="adj" fmla="val 2712"/>
            </a:avLst>
          </a:prstGeom>
          <a:solidFill>
            <a:srgbClr val="EADCF3"/>
          </a:solidFill>
          <a:ln w="12700">
            <a:solidFill>
              <a:srgbClr val="EADCF3"/>
            </a:solidFill>
            <a:prstDash val="solid"/>
          </a:ln>
        </p:spPr>
      </p:sp>
      <p:sp>
        <p:nvSpPr>
          <p:cNvPr id="19" name="Shape 16"/>
          <p:cNvSpPr/>
          <p:nvPr/>
        </p:nvSpPr>
        <p:spPr>
          <a:xfrm>
            <a:off x="8220456" y="1554480"/>
            <a:ext cx="685800" cy="685800"/>
          </a:xfrm>
          <a:prstGeom prst="ellipse">
            <a:avLst/>
          </a:prstGeom>
          <a:solidFill>
            <a:srgbClr val="6B3D8C"/>
          </a:solidFill>
          <a:ln w="12700">
            <a:solidFill>
              <a:srgbClr val="6B3D8C"/>
            </a:solidFill>
            <a:prstDash val="solid"/>
          </a:ln>
        </p:spPr>
      </p:sp>
      <p:sp>
        <p:nvSpPr>
          <p:cNvPr id="20" name="Text 17"/>
          <p:cNvSpPr txBox="1"/>
          <p:nvPr/>
        </p:nvSpPr>
        <p:spPr>
          <a:xfrm>
            <a:off x="8220456" y="15544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L3</a:t>
            </a:r>
            <a:endParaRPr lang="en-US" sz="1800" dirty="0"/>
          </a:p>
        </p:txBody>
      </p:sp>
      <p:sp>
        <p:nvSpPr>
          <p:cNvPr id="21" name="Text 18"/>
          <p:cNvSpPr txBox="1"/>
          <p:nvPr/>
        </p:nvSpPr>
        <p:spPr>
          <a:xfrm>
            <a:off x="9043416" y="1554480"/>
            <a:ext cx="2240280" cy="685800"/>
          </a:xfrm>
          <a:prstGeom prst="rect">
            <a:avLst/>
          </a:prstGeom>
          <a:noFill/>
          <a:ln/>
        </p:spPr>
        <p:txBody>
          <a:bodyPr wrap="square" lIns="0" tIns="0" rIns="0" bIns="0" rtlCol="0" anchor="ctr"/>
          <a:lstStyle/>
          <a:p>
            <a:pPr indent="0" marL="0">
              <a:buNone/>
            </a:pPr>
            <a:r>
              <a:rPr lang="en-US" sz="1800" b="1" dirty="0">
                <a:solidFill>
                  <a:srgbClr val="6B3D8C"/>
                </a:solidFill>
                <a:latin typeface="Cambria" pitchFamily="34" charset="0"/>
                <a:ea typeface="Cambria" pitchFamily="34" charset="-122"/>
                <a:cs typeface="Cambria" pitchFamily="34" charset="-120"/>
              </a:rPr>
              <a:t>No safety-oriented grading</a:t>
            </a:r>
            <a:endParaRPr lang="en-US" sz="1800" dirty="0"/>
          </a:p>
        </p:txBody>
      </p:sp>
      <p:sp>
        <p:nvSpPr>
          <p:cNvPr id="22" name="Text 19"/>
          <p:cNvSpPr txBox="1"/>
          <p:nvPr/>
        </p:nvSpPr>
        <p:spPr>
          <a:xfrm>
            <a:off x="8220456" y="2423160"/>
            <a:ext cx="2971800" cy="182880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Grades treated as unordered; the rate of unreferred severe cases is rarely measured, let alone externally.</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4343400"/>
          <a:ext cx="10744200" cy="914400"/>
        </p:xfrm>
        <a:graphic>
          <a:graphicData uri="http://schemas.openxmlformats.org/drawingml/2006/table">
            <a:tbl>
              <a:tblPr/>
              <a:tblGrid>
                <a:gridCol w="2377440"/>
                <a:gridCol w="914400"/>
                <a:gridCol w="4709160"/>
                <a:gridCol w="914400"/>
                <a:gridCol w="914400"/>
                <a:gridCol w="91440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L1</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L2</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L3</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Gulshan et al.</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2016</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Deep CNN (Inception-v3)</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CABNet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Category attention on a CNN</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RETFound</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2023</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ViT-L/16, retinal pre-training</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16324F"/>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2</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Hypotheses and Methodology</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One objective, three hypotheses, three dedicated systems</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Objective and research hypotheses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9</a:t>
            </a:r>
            <a:endParaRPr lang="en-US" sz="1000" dirty="0"/>
          </a:p>
        </p:txBody>
      </p:sp>
      <p:sp>
        <p:nvSpPr>
          <p:cNvPr id="8" name="Text 5"/>
          <p:cNvSpPr txBox="1"/>
          <p:nvPr/>
        </p:nvSpPr>
        <p:spPr>
          <a:xfrm>
            <a:off x="731520" y="1234440"/>
            <a:ext cx="10744200" cy="502920"/>
          </a:xfrm>
          <a:prstGeom prst="rect">
            <a:avLst/>
          </a:prstGeom>
          <a:noFill/>
          <a:ln/>
        </p:spPr>
        <p:txBody>
          <a:bodyPr wrap="square" lIns="0" tIns="0" rIns="0" bIns="0" rtlCol="0" anchor="ctr"/>
          <a:lstStyle/>
          <a:p>
            <a:pPr indent="0" marL="0">
              <a:buNone/>
            </a:pPr>
            <a:r>
              <a:rPr lang="en-US" sz="2000" i="1" dirty="0">
                <a:solidFill>
                  <a:srgbClr val="16324F"/>
                </a:solidFill>
                <a:latin typeface="Cambria" pitchFamily="34" charset="0"/>
                <a:ea typeface="Cambria" pitchFamily="34" charset="-122"/>
                <a:cs typeface="Cambria" pitchFamily="34" charset="-120"/>
              </a:rPr>
              <a:t>Objective: exploit relations, topology and ordinality to improve DR grading</a:t>
            </a:r>
            <a:endParaRPr lang="en-US" sz="2000" dirty="0"/>
          </a:p>
        </p:txBody>
      </p:sp>
      <p:sp>
        <p:nvSpPr>
          <p:cNvPr id="9" name="Shape 6"/>
          <p:cNvSpPr/>
          <p:nvPr/>
        </p:nvSpPr>
        <p:spPr>
          <a:xfrm>
            <a:off x="731520" y="1920240"/>
            <a:ext cx="10744200" cy="1188720"/>
          </a:xfrm>
          <a:prstGeom prst="roundRect">
            <a:avLst>
              <a:gd name="adj" fmla="val 6154"/>
            </a:avLst>
          </a:prstGeom>
          <a:solidFill>
            <a:srgbClr val="D6E6F5"/>
          </a:solidFill>
          <a:ln w="12700">
            <a:solidFill>
              <a:srgbClr val="D6E6F5"/>
            </a:solidFill>
            <a:prstDash val="solid"/>
          </a:ln>
        </p:spPr>
      </p:sp>
      <p:sp>
        <p:nvSpPr>
          <p:cNvPr id="10" name="Shape 7"/>
          <p:cNvSpPr/>
          <p:nvPr/>
        </p:nvSpPr>
        <p:spPr>
          <a:xfrm>
            <a:off x="914400" y="2148840"/>
            <a:ext cx="731520" cy="731520"/>
          </a:xfrm>
          <a:prstGeom prst="ellipse">
            <a:avLst/>
          </a:prstGeom>
          <a:solidFill>
            <a:srgbClr val="1F4E79"/>
          </a:solidFill>
          <a:ln w="12700">
            <a:solidFill>
              <a:srgbClr val="1F4E79"/>
            </a:solidFill>
            <a:prstDash val="solid"/>
          </a:ln>
        </p:spPr>
      </p:sp>
      <p:sp>
        <p:nvSpPr>
          <p:cNvPr id="11" name="Text 8"/>
          <p:cNvSpPr txBox="1"/>
          <p:nvPr/>
        </p:nvSpPr>
        <p:spPr>
          <a:xfrm>
            <a:off x="914400" y="214884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H1</a:t>
            </a:r>
            <a:endParaRPr lang="en-US" sz="2000" dirty="0"/>
          </a:p>
        </p:txBody>
      </p:sp>
      <p:sp>
        <p:nvSpPr>
          <p:cNvPr id="12" name="Text 9"/>
          <p:cNvSpPr txBox="1"/>
          <p:nvPr/>
        </p:nvSpPr>
        <p:spPr>
          <a:xfrm>
            <a:off x="1828800" y="2029968"/>
            <a:ext cx="2011680" cy="96012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Relational</a:t>
            </a:r>
            <a:endParaRPr lang="en-US" sz="1800" dirty="0"/>
          </a:p>
        </p:txBody>
      </p:sp>
      <p:sp>
        <p:nvSpPr>
          <p:cNvPr id="13" name="Text 10"/>
          <p:cNvSpPr txBox="1"/>
          <p:nvPr/>
        </p:nvSpPr>
        <p:spPr>
          <a:xfrm>
            <a:off x="3840480" y="2029968"/>
            <a:ext cx="4572000" cy="9601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 population graph adds information beyond a per-image classifier.</a:t>
            </a:r>
            <a:endParaRPr lang="en-US" sz="1500" dirty="0"/>
          </a:p>
        </p:txBody>
      </p:sp>
      <p:sp>
        <p:nvSpPr>
          <p:cNvPr id="14" name="Text 11"/>
          <p:cNvSpPr txBox="1"/>
          <p:nvPr/>
        </p:nvSpPr>
        <p:spPr>
          <a:xfrm>
            <a:off x="8595360" y="2029968"/>
            <a:ext cx="2743200" cy="960120"/>
          </a:xfrm>
          <a:prstGeom prst="rect">
            <a:avLst/>
          </a:prstGeom>
          <a:noFill/>
          <a:ln/>
        </p:spPr>
        <p:txBody>
          <a:bodyPr wrap="square" lIns="0" tIns="0" rIns="0" bIns="0" rtlCol="0" anchor="ctr"/>
          <a:lstStyle/>
          <a:p>
            <a:pPr indent="0" marL="0">
              <a:buNone/>
            </a:pPr>
            <a:r>
              <a:rPr lang="en-US" sz="1300" i="1" dirty="0">
                <a:solidFill>
                  <a:srgbClr val="5A6470"/>
                </a:solidFill>
                <a:latin typeface="Calibri" pitchFamily="34" charset="0"/>
                <a:ea typeface="Calibri" pitchFamily="34" charset="-122"/>
                <a:cs typeface="Calibri" pitchFamily="34" charset="-120"/>
              </a:rPr>
              <a:t>Paired t-test over folds (pre-specified)</a:t>
            </a:r>
            <a:endParaRPr lang="en-US" sz="1300" dirty="0"/>
          </a:p>
        </p:txBody>
      </p:sp>
      <p:sp>
        <p:nvSpPr>
          <p:cNvPr id="15" name="Shape 12"/>
          <p:cNvSpPr/>
          <p:nvPr/>
        </p:nvSpPr>
        <p:spPr>
          <a:xfrm>
            <a:off x="731520" y="3291840"/>
            <a:ext cx="10744200" cy="1188720"/>
          </a:xfrm>
          <a:prstGeom prst="roundRect">
            <a:avLst>
              <a:gd name="adj" fmla="val 6154"/>
            </a:avLst>
          </a:prstGeom>
          <a:solidFill>
            <a:srgbClr val="D9F0E3"/>
          </a:solidFill>
          <a:ln w="12700">
            <a:solidFill>
              <a:srgbClr val="D9F0E3"/>
            </a:solidFill>
            <a:prstDash val="solid"/>
          </a:ln>
        </p:spPr>
      </p:sp>
      <p:sp>
        <p:nvSpPr>
          <p:cNvPr id="16" name="Shape 13"/>
          <p:cNvSpPr/>
          <p:nvPr/>
        </p:nvSpPr>
        <p:spPr>
          <a:xfrm>
            <a:off x="914400" y="3520440"/>
            <a:ext cx="731520" cy="731520"/>
          </a:xfrm>
          <a:prstGeom prst="ellipse">
            <a:avLst/>
          </a:prstGeom>
          <a:solidFill>
            <a:srgbClr val="1B7A4E"/>
          </a:solidFill>
          <a:ln w="12700">
            <a:solidFill>
              <a:srgbClr val="1B7A4E"/>
            </a:solidFill>
            <a:prstDash val="solid"/>
          </a:ln>
        </p:spPr>
      </p:sp>
      <p:sp>
        <p:nvSpPr>
          <p:cNvPr id="17" name="Text 14"/>
          <p:cNvSpPr txBox="1"/>
          <p:nvPr/>
        </p:nvSpPr>
        <p:spPr>
          <a:xfrm>
            <a:off x="914400" y="352044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H2</a:t>
            </a:r>
            <a:endParaRPr lang="en-US" sz="2000" dirty="0"/>
          </a:p>
        </p:txBody>
      </p:sp>
      <p:sp>
        <p:nvSpPr>
          <p:cNvPr id="18" name="Text 15"/>
          <p:cNvSpPr txBox="1"/>
          <p:nvPr/>
        </p:nvSpPr>
        <p:spPr>
          <a:xfrm>
            <a:off x="1828800" y="3401568"/>
            <a:ext cx="2011680" cy="960120"/>
          </a:xfrm>
          <a:prstGeom prst="rect">
            <a:avLst/>
          </a:prstGeom>
          <a:noFill/>
          <a:ln/>
        </p:spPr>
        <p:txBody>
          <a:bodyPr wrap="square" lIns="0" tIns="0" rIns="0" bIns="0" rtlCol="0" anchor="ctr"/>
          <a:lstStyle/>
          <a:p>
            <a:pPr indent="0" marL="0">
              <a:buNone/>
            </a:pPr>
            <a:r>
              <a:rPr lang="en-US" sz="1800" b="1" dirty="0">
                <a:solidFill>
                  <a:srgbClr val="1B7A4E"/>
                </a:solidFill>
                <a:latin typeface="Cambria" pitchFamily="34" charset="0"/>
                <a:ea typeface="Cambria" pitchFamily="34" charset="-122"/>
                <a:cs typeface="Cambria" pitchFamily="34" charset="-120"/>
              </a:rPr>
              <a:t>Structural</a:t>
            </a:r>
            <a:endParaRPr lang="en-US" sz="1800" dirty="0"/>
          </a:p>
        </p:txBody>
      </p:sp>
      <p:sp>
        <p:nvSpPr>
          <p:cNvPr id="19" name="Text 16"/>
          <p:cNvSpPr txBox="1"/>
          <p:nvPr/>
        </p:nvSpPr>
        <p:spPr>
          <a:xfrm>
            <a:off x="3840480" y="3401568"/>
            <a:ext cx="4572000" cy="9601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Persistent homology of the vessel network is statistically associated with severity.</a:t>
            </a:r>
            <a:endParaRPr lang="en-US" sz="1500" dirty="0"/>
          </a:p>
        </p:txBody>
      </p:sp>
      <p:sp>
        <p:nvSpPr>
          <p:cNvPr id="20" name="Text 17"/>
          <p:cNvSpPr txBox="1"/>
          <p:nvPr/>
        </p:nvSpPr>
        <p:spPr>
          <a:xfrm>
            <a:off x="8595360" y="3401568"/>
            <a:ext cx="2743200" cy="960120"/>
          </a:xfrm>
          <a:prstGeom prst="rect">
            <a:avLst/>
          </a:prstGeom>
          <a:noFill/>
          <a:ln/>
        </p:spPr>
        <p:txBody>
          <a:bodyPr wrap="square" lIns="0" tIns="0" rIns="0" bIns="0" rtlCol="0" anchor="ctr"/>
          <a:lstStyle/>
          <a:p>
            <a:pPr indent="0" marL="0">
              <a:buNone/>
            </a:pPr>
            <a:r>
              <a:rPr lang="en-US" sz="1300" i="1" dirty="0">
                <a:solidFill>
                  <a:srgbClr val="5A6470"/>
                </a:solidFill>
                <a:latin typeface="Calibri" pitchFamily="34" charset="0"/>
                <a:ea typeface="Calibri" pitchFamily="34" charset="-122"/>
                <a:cs typeface="Calibri" pitchFamily="34" charset="-120"/>
              </a:rPr>
              <a:t>One-way ANOVA (pre-specified)</a:t>
            </a:r>
            <a:endParaRPr lang="en-US" sz="1300" dirty="0"/>
          </a:p>
        </p:txBody>
      </p:sp>
      <p:sp>
        <p:nvSpPr>
          <p:cNvPr id="21" name="Shape 18"/>
          <p:cNvSpPr/>
          <p:nvPr/>
        </p:nvSpPr>
        <p:spPr>
          <a:xfrm>
            <a:off x="731520" y="4663440"/>
            <a:ext cx="10744200" cy="1188720"/>
          </a:xfrm>
          <a:prstGeom prst="roundRect">
            <a:avLst>
              <a:gd name="adj" fmla="val 6154"/>
            </a:avLst>
          </a:prstGeom>
          <a:solidFill>
            <a:srgbClr val="EADCF3"/>
          </a:solidFill>
          <a:ln w="12700">
            <a:solidFill>
              <a:srgbClr val="EADCF3"/>
            </a:solidFill>
            <a:prstDash val="solid"/>
          </a:ln>
        </p:spPr>
      </p:sp>
      <p:sp>
        <p:nvSpPr>
          <p:cNvPr id="22" name="Shape 19"/>
          <p:cNvSpPr/>
          <p:nvPr/>
        </p:nvSpPr>
        <p:spPr>
          <a:xfrm>
            <a:off x="914400" y="4892040"/>
            <a:ext cx="731520" cy="731520"/>
          </a:xfrm>
          <a:prstGeom prst="ellipse">
            <a:avLst/>
          </a:prstGeom>
          <a:solidFill>
            <a:srgbClr val="6B3D8C"/>
          </a:solidFill>
          <a:ln w="12700">
            <a:solidFill>
              <a:srgbClr val="6B3D8C"/>
            </a:solidFill>
            <a:prstDash val="solid"/>
          </a:ln>
        </p:spPr>
      </p:sp>
      <p:sp>
        <p:nvSpPr>
          <p:cNvPr id="23" name="Text 20"/>
          <p:cNvSpPr txBox="1"/>
          <p:nvPr/>
        </p:nvSpPr>
        <p:spPr>
          <a:xfrm>
            <a:off x="914400" y="489204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H3</a:t>
            </a:r>
            <a:endParaRPr lang="en-US" sz="2000" dirty="0"/>
          </a:p>
        </p:txBody>
      </p:sp>
      <p:sp>
        <p:nvSpPr>
          <p:cNvPr id="24" name="Text 21"/>
          <p:cNvSpPr txBox="1"/>
          <p:nvPr/>
        </p:nvSpPr>
        <p:spPr>
          <a:xfrm>
            <a:off x="1828800" y="4773168"/>
            <a:ext cx="2011680" cy="960120"/>
          </a:xfrm>
          <a:prstGeom prst="rect">
            <a:avLst/>
          </a:prstGeom>
          <a:noFill/>
          <a:ln/>
        </p:spPr>
        <p:txBody>
          <a:bodyPr wrap="square" lIns="0" tIns="0" rIns="0" bIns="0" rtlCol="0" anchor="ctr"/>
          <a:lstStyle/>
          <a:p>
            <a:pPr indent="0" marL="0">
              <a:buNone/>
            </a:pPr>
            <a:r>
              <a:rPr lang="en-US" sz="1800" b="1" dirty="0">
                <a:solidFill>
                  <a:srgbClr val="6B3D8C"/>
                </a:solidFill>
                <a:latin typeface="Cambria" pitchFamily="34" charset="0"/>
                <a:ea typeface="Cambria" pitchFamily="34" charset="-122"/>
                <a:cs typeface="Cambria" pitchFamily="34" charset="-120"/>
              </a:rPr>
              <a:t>Ordinal safety</a:t>
            </a:r>
            <a:endParaRPr lang="en-US" sz="1800" dirty="0"/>
          </a:p>
        </p:txBody>
      </p:sp>
      <p:sp>
        <p:nvSpPr>
          <p:cNvPr id="25" name="Text 22"/>
          <p:cNvSpPr txBox="1"/>
          <p:nvPr/>
        </p:nvSpPr>
        <p:spPr>
          <a:xfrm>
            <a:off x="3840480" y="4773168"/>
            <a:ext cx="4572000" cy="9601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An ordinal pipeline satisfies pre-set screening targets internally and externally (H3a); no reduced variant does (H3b).</a:t>
            </a:r>
            <a:endParaRPr lang="en-US" sz="1500" dirty="0"/>
          </a:p>
        </p:txBody>
      </p:sp>
      <p:sp>
        <p:nvSpPr>
          <p:cNvPr id="26" name="Text 23"/>
          <p:cNvSpPr txBox="1"/>
          <p:nvPr/>
        </p:nvSpPr>
        <p:spPr>
          <a:xfrm>
            <a:off x="8595360" y="4773168"/>
            <a:ext cx="2743200" cy="960120"/>
          </a:xfrm>
          <a:prstGeom prst="rect">
            <a:avLst/>
          </a:prstGeom>
          <a:noFill/>
          <a:ln/>
        </p:spPr>
        <p:txBody>
          <a:bodyPr wrap="square" lIns="0" tIns="0" rIns="0" bIns="0" rtlCol="0" anchor="ctr"/>
          <a:lstStyle/>
          <a:p>
            <a:pPr indent="0" marL="0">
              <a:buNone/>
            </a:pPr>
            <a:r>
              <a:rPr lang="en-US" sz="1300" i="1" dirty="0">
                <a:solidFill>
                  <a:srgbClr val="5A6470"/>
                </a:solidFill>
                <a:latin typeface="Calibri" pitchFamily="34" charset="0"/>
                <a:ea typeface="Calibri" pitchFamily="34" charset="-122"/>
                <a:cs typeface="Calibri" pitchFamily="34" charset="-120"/>
              </a:rPr>
              <a:t>QWK ≥ 0.80; Sev-NR, PDR-NR ≤ 2%; no 0↔4 confusion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A three-axis research framework, not a single model</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914400"/>
        </p:xfrm>
        <a:graphic>
          <a:graphicData uri="http://schemas.openxmlformats.org/drawingml/2006/table">
            <a:tbl>
              <a:tblPr/>
              <a:tblGrid>
                <a:gridCol w="2514600"/>
                <a:gridCol w="2743200"/>
                <a:gridCol w="2743200"/>
                <a:gridCol w="2743200"/>
              </a:tblGrid>
              <a:tr h="512064">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TOPORET (Ch. 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DGTS (Ch. 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DOTS (Ch. 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Axes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Relational + structural</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Relational + structural</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Ordinal safety</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Topology</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Vessel skeleton (6 persistence statistics)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Feature-space neighbourhoods (training regulariser)</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Training data</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Each benchmark separately</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Fused corpus, 5,859 images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Fused corpus, 5,859 images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Test images in graph</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Yes (unlabelled nodes)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 (graph of training fold)</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 graph</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Protocol</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Transductive</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Inductive</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Per-image</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External evaluation</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None (within benchmark)</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EyePACS, zero-shot</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Messidor-2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512064">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Kind of evidence</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b="1" dirty="0">
                          <a:solidFill>
                            <a:srgbClr val="1F4E79"/>
                          </a:solidFill>
                          <a:latin typeface="Calibri" pitchFamily="34" charset="0"/>
                          <a:ea typeface="Calibri" pitchFamily="34" charset="-122"/>
                          <a:cs typeface="Calibri" pitchFamily="34" charset="-120"/>
                        </a:rPr>
                        <a:t>Transductive (H1, H2)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b="1" dirty="0">
                          <a:solidFill>
                            <a:srgbClr val="1B7A4E"/>
                          </a:solidFill>
                          <a:latin typeface="Calibri" pitchFamily="34" charset="0"/>
                          <a:ea typeface="Calibri" pitchFamily="34" charset="-122"/>
                          <a:cs typeface="Calibri" pitchFamily="34" charset="-120"/>
                        </a:rPr>
                        <a:t>Inductive, external</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b="1" dirty="0">
                          <a:solidFill>
                            <a:srgbClr val="6B3D8C"/>
                          </a:solidFill>
                          <a:latin typeface="Calibri" pitchFamily="34" charset="0"/>
                          <a:ea typeface="Calibri" pitchFamily="34" charset="-122"/>
                          <a:cs typeface="Calibri" pitchFamily="34" charset="-120"/>
                        </a:rPr>
                        <a:t>Screening-oriented, point estimate (H3)</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Text 5"/>
          <p:cNvSpPr txBox="1"/>
          <p:nvPr/>
        </p:nvSpPr>
        <p:spPr>
          <a:xfrm>
            <a:off x="731520" y="5669280"/>
            <a:ext cx="10744200" cy="411480"/>
          </a:xfrm>
          <a:prstGeom prst="rect">
            <a:avLst/>
          </a:prstGeom>
          <a:noFill/>
          <a:ln/>
        </p:spPr>
        <p:txBody>
          <a:bodyPr wrap="square" lIns="0" tIns="0" rIns="0" bIns="0" rtlCol="0" anchor="ctr"/>
          <a:lstStyle/>
          <a:p>
            <a:pPr indent="0" marL="0">
              <a:buNone/>
            </a:pPr>
            <a:r>
              <a:rPr lang="en-US" sz="1500" i="1" dirty="0">
                <a:solidFill>
                  <a:srgbClr val="5A6470"/>
                </a:solidFill>
                <a:latin typeface="Calibri" pitchFamily="34" charset="0"/>
                <a:ea typeface="Calibri" pitchFamily="34" charset="-122"/>
                <a:cs typeface="Calibri" pitchFamily="34" charset="-120"/>
              </a:rPr>
              <a:t>Pre-specified tests for H1 and H2: test, decision threshold and effect size fixed before the experiment.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M</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A common six-stage framework</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11</a:t>
            </a:r>
            <a:endParaRPr lang="en-US" sz="1000" dirty="0"/>
          </a:p>
        </p:txBody>
      </p:sp>
      <p:pic>
        <p:nvPicPr>
          <p:cNvPr id="8" name="Image 0" descr="/tmp/claude-0/-home-user-SRT26/618f6450-ab76-51da-ba52-60090a9566a0/scratchpad/deckfig/fig_pipeline.png">    </p:cNvPr>
          <p:cNvPicPr>
            <a:picLocks noChangeAspect="1"/>
          </p:cNvPicPr>
          <p:nvPr/>
        </p:nvPicPr>
        <p:blipFill>
          <a:blip r:embed="rId1"/>
          <a:stretch>
            <a:fillRect/>
          </a:stretch>
        </p:blipFill>
        <p:spPr>
          <a:xfrm>
            <a:off x="731520" y="1615170"/>
            <a:ext cx="10744200" cy="2438939"/>
          </a:xfrm>
          <a:prstGeom prst="rect">
            <a:avLst/>
          </a:prstGeom>
        </p:spPr>
      </p:pic>
      <p:sp>
        <p:nvSpPr>
          <p:cNvPr id="9" name="Shape 5"/>
          <p:cNvSpPr/>
          <p:nvPr/>
        </p:nvSpPr>
        <p:spPr>
          <a:xfrm>
            <a:off x="731520" y="4480560"/>
            <a:ext cx="5212080" cy="1554480"/>
          </a:xfrm>
          <a:prstGeom prst="roundRect">
            <a:avLst>
              <a:gd name="adj" fmla="val 4706"/>
            </a:avLst>
          </a:prstGeom>
          <a:solidFill>
            <a:srgbClr val="F3F5F8"/>
          </a:solidFill>
          <a:ln w="12700">
            <a:solidFill>
              <a:srgbClr val="F3F5F8"/>
            </a:solidFill>
            <a:prstDash val="solid"/>
          </a:ln>
        </p:spPr>
      </p:sp>
      <p:sp>
        <p:nvSpPr>
          <p:cNvPr id="10" name="Text 6"/>
          <p:cNvSpPr txBox="1"/>
          <p:nvPr/>
        </p:nvSpPr>
        <p:spPr>
          <a:xfrm>
            <a:off x="914400" y="4617720"/>
            <a:ext cx="4846320" cy="411480"/>
          </a:xfrm>
          <a:prstGeom prst="rect">
            <a:avLst/>
          </a:prstGeom>
          <a:noFill/>
          <a:ln/>
        </p:spPr>
        <p:txBody>
          <a:bodyPr wrap="square" lIns="0" tIns="0" rIns="0" bIns="0" rtlCol="0" anchor="t"/>
          <a:lstStyle/>
          <a:p>
            <a:pPr indent="0" marL="0">
              <a:buNone/>
            </a:pPr>
            <a:r>
              <a:rPr lang="en-US" sz="1800" b="1" dirty="0">
                <a:solidFill>
                  <a:srgbClr val="16324F"/>
                </a:solidFill>
                <a:latin typeface="Cambria" pitchFamily="34" charset="0"/>
                <a:ea typeface="Cambria" pitchFamily="34" charset="-122"/>
                <a:cs typeface="Cambria" pitchFamily="34" charset="-120"/>
              </a:rPr>
              <a:t>Colour code</a:t>
            </a:r>
            <a:endParaRPr lang="en-US" sz="1800" dirty="0"/>
          </a:p>
        </p:txBody>
      </p:sp>
      <p:sp>
        <p:nvSpPr>
          <p:cNvPr id="11" name="Text 7"/>
          <p:cNvSpPr txBox="1"/>
          <p:nvPr/>
        </p:nvSpPr>
        <p:spPr>
          <a:xfrm>
            <a:off x="914400" y="5074920"/>
            <a:ext cx="4846320" cy="8686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Blue: relational axis (L1)  |  Green: structural axis (L2)</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Purple: ordinal axis (L3)  |  Orange: shared fusion</a:t>
            </a:r>
            <a:endParaRPr lang="en-US" sz="1400" dirty="0"/>
          </a:p>
        </p:txBody>
      </p:sp>
      <p:sp>
        <p:nvSpPr>
          <p:cNvPr id="12" name="Shape 8"/>
          <p:cNvSpPr/>
          <p:nvPr/>
        </p:nvSpPr>
        <p:spPr>
          <a:xfrm>
            <a:off x="6263640" y="4480560"/>
            <a:ext cx="5212080" cy="1554480"/>
          </a:xfrm>
          <a:prstGeom prst="roundRect">
            <a:avLst>
              <a:gd name="adj" fmla="val 4706"/>
            </a:avLst>
          </a:prstGeom>
          <a:solidFill>
            <a:srgbClr val="F3F5F8"/>
          </a:solidFill>
          <a:ln w="12700">
            <a:solidFill>
              <a:srgbClr val="F3F5F8"/>
            </a:solidFill>
            <a:prstDash val="solid"/>
          </a:ln>
        </p:spPr>
      </p:sp>
      <p:sp>
        <p:nvSpPr>
          <p:cNvPr id="13" name="Text 9"/>
          <p:cNvSpPr txBox="1"/>
          <p:nvPr/>
        </p:nvSpPr>
        <p:spPr>
          <a:xfrm>
            <a:off x="6446520" y="4617720"/>
            <a:ext cx="4846320" cy="411480"/>
          </a:xfrm>
          <a:prstGeom prst="rect">
            <a:avLst/>
          </a:prstGeom>
          <a:noFill/>
          <a:ln/>
        </p:spPr>
        <p:txBody>
          <a:bodyPr wrap="square" lIns="0" tIns="0" rIns="0" bIns="0" rtlCol="0" anchor="t"/>
          <a:lstStyle/>
          <a:p>
            <a:pPr indent="0" marL="0">
              <a:buNone/>
            </a:pPr>
            <a:r>
              <a:rPr lang="en-US" sz="1800" b="1" dirty="0">
                <a:solidFill>
                  <a:srgbClr val="16324F"/>
                </a:solidFill>
                <a:latin typeface="Cambria" pitchFamily="34" charset="0"/>
                <a:ea typeface="Cambria" pitchFamily="34" charset="-122"/>
                <a:cs typeface="Cambria" pitchFamily="34" charset="-120"/>
              </a:rPr>
              <a:t>Why typed stages</a:t>
            </a:r>
            <a:endParaRPr lang="en-US" sz="1800" dirty="0"/>
          </a:p>
        </p:txBody>
      </p:sp>
      <p:sp>
        <p:nvSpPr>
          <p:cNvPr id="14" name="Text 10"/>
          <p:cNvSpPr txBox="1"/>
          <p:nvPr/>
        </p:nvSpPr>
        <p:spPr>
          <a:xfrm>
            <a:off x="6446520" y="5074920"/>
            <a:ext cx="4846320" cy="8686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Each stage can be tested on its own (Chapter 6)</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The same stages are reused by TOPORET, DGTS and DOTS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5A6470"/>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3</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Tools and First Evidence</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Graph neural networks, persistent homology, ordinal regression (Chapters 2-3)</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5A6470"/>
          </a:solidFill>
          <a:ln w="12700">
            <a:solidFill>
              <a:srgbClr val="5A6470"/>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T</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Three tools, explained simply</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731520" y="1325880"/>
            <a:ext cx="3429000" cy="4754880"/>
          </a:xfrm>
          <a:prstGeom prst="roundRect">
            <a:avLst>
              <a:gd name="adj" fmla="val 2133"/>
            </a:avLst>
          </a:prstGeom>
          <a:solidFill>
            <a:srgbClr val="F3F5F8"/>
          </a:solidFill>
          <a:ln w="12700">
            <a:solidFill>
              <a:srgbClr val="F3F5F8"/>
            </a:solidFill>
            <a:prstDash val="solid"/>
          </a:ln>
        </p:spPr>
      </p:sp>
      <p:sp>
        <p:nvSpPr>
          <p:cNvPr id="9" name="Text 6"/>
          <p:cNvSpPr txBox="1"/>
          <p:nvPr/>
        </p:nvSpPr>
        <p:spPr>
          <a:xfrm>
            <a:off x="914400" y="1463040"/>
            <a:ext cx="3063240" cy="64008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Population graph + GraphSAGE</a:t>
            </a:r>
            <a:endParaRPr lang="en-US" sz="1800" dirty="0"/>
          </a:p>
        </p:txBody>
      </p:sp>
      <p:pic>
        <p:nvPicPr>
          <p:cNvPr id="10" name="Image 0" descr="/tmp/claude-0/-home-user-SRT26/618f6450-ab76-51da-ba52-60090a9566a0/scratchpad/deckfig/fig_messagepassing.png">    </p:cNvPr>
          <p:cNvPicPr>
            <a:picLocks noChangeAspect="1"/>
          </p:cNvPicPr>
          <p:nvPr/>
        </p:nvPicPr>
        <p:blipFill>
          <a:blip r:embed="rId1"/>
          <a:stretch>
            <a:fillRect/>
          </a:stretch>
        </p:blipFill>
        <p:spPr>
          <a:xfrm>
            <a:off x="914400" y="2565941"/>
            <a:ext cx="3063240" cy="1177478"/>
          </a:xfrm>
          <a:prstGeom prst="rect">
            <a:avLst/>
          </a:prstGeom>
        </p:spPr>
      </p:pic>
      <p:sp>
        <p:nvSpPr>
          <p:cNvPr id="11" name="Text 7"/>
          <p:cNvSpPr txBox="1"/>
          <p:nvPr/>
        </p:nvSpPr>
        <p:spPr>
          <a:xfrm>
            <a:off x="914400" y="4297680"/>
            <a:ext cx="3063240" cy="1645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Each image is a node; similar images are linked; each node aggregates its neighbours.</a:t>
            </a:r>
            <a:endParaRPr lang="en-US" sz="1500" dirty="0"/>
          </a:p>
        </p:txBody>
      </p:sp>
      <p:sp>
        <p:nvSpPr>
          <p:cNvPr id="12" name="Shape 8"/>
          <p:cNvSpPr/>
          <p:nvPr/>
        </p:nvSpPr>
        <p:spPr>
          <a:xfrm>
            <a:off x="4361688" y="1325880"/>
            <a:ext cx="3429000" cy="4754880"/>
          </a:xfrm>
          <a:prstGeom prst="roundRect">
            <a:avLst>
              <a:gd name="adj" fmla="val 2133"/>
            </a:avLst>
          </a:prstGeom>
          <a:solidFill>
            <a:srgbClr val="F3F5F8"/>
          </a:solidFill>
          <a:ln w="12700">
            <a:solidFill>
              <a:srgbClr val="F3F5F8"/>
            </a:solidFill>
            <a:prstDash val="solid"/>
          </a:ln>
        </p:spPr>
      </p:sp>
      <p:sp>
        <p:nvSpPr>
          <p:cNvPr id="13" name="Text 9"/>
          <p:cNvSpPr txBox="1"/>
          <p:nvPr/>
        </p:nvSpPr>
        <p:spPr>
          <a:xfrm>
            <a:off x="4544568" y="1463040"/>
            <a:ext cx="3063240" cy="640080"/>
          </a:xfrm>
          <a:prstGeom prst="rect">
            <a:avLst/>
          </a:prstGeom>
          <a:noFill/>
          <a:ln/>
        </p:spPr>
        <p:txBody>
          <a:bodyPr wrap="square" lIns="0" tIns="0" rIns="0" bIns="0" rtlCol="0" anchor="ctr"/>
          <a:lstStyle/>
          <a:p>
            <a:pPr indent="0" marL="0">
              <a:buNone/>
            </a:pPr>
            <a:r>
              <a:rPr lang="en-US" sz="1800" b="1" dirty="0">
                <a:solidFill>
                  <a:srgbClr val="1B7A4E"/>
                </a:solidFill>
                <a:latin typeface="Cambria" pitchFamily="34" charset="0"/>
                <a:ea typeface="Cambria" pitchFamily="34" charset="-122"/>
                <a:cs typeface="Cambria" pitchFamily="34" charset="-120"/>
              </a:rPr>
              <a:t>Persistent homology</a:t>
            </a:r>
            <a:endParaRPr lang="en-US" sz="1800" dirty="0"/>
          </a:p>
        </p:txBody>
      </p:sp>
      <p:pic>
        <p:nvPicPr>
          <p:cNvPr id="14" name="Image 1" descr="/tmp/claude-0/-home-user-SRT26/618f6450-ab76-51da-ba52-60090a9566a0/scratchpad/deckfig/fig_filtration.png">    </p:cNvPr>
          <p:cNvPicPr>
            <a:picLocks noChangeAspect="1"/>
          </p:cNvPicPr>
          <p:nvPr/>
        </p:nvPicPr>
        <p:blipFill>
          <a:blip r:embed="rId2"/>
          <a:stretch>
            <a:fillRect/>
          </a:stretch>
        </p:blipFill>
        <p:spPr>
          <a:xfrm>
            <a:off x="4544568" y="2478672"/>
            <a:ext cx="3063240" cy="1352016"/>
          </a:xfrm>
          <a:prstGeom prst="rect">
            <a:avLst/>
          </a:prstGeom>
        </p:spPr>
      </p:pic>
      <p:sp>
        <p:nvSpPr>
          <p:cNvPr id="15" name="Text 10"/>
          <p:cNvSpPr txBox="1"/>
          <p:nvPr/>
        </p:nvSpPr>
        <p:spPr>
          <a:xfrm>
            <a:off x="4544568" y="4297680"/>
            <a:ext cx="3063240" cy="1645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Grow balls around skeleton points; count components (H0) and loops (H1) that persist across scales.</a:t>
            </a:r>
            <a:endParaRPr lang="en-US" sz="1500" dirty="0"/>
          </a:p>
        </p:txBody>
      </p:sp>
      <p:sp>
        <p:nvSpPr>
          <p:cNvPr id="16" name="Shape 11"/>
          <p:cNvSpPr/>
          <p:nvPr/>
        </p:nvSpPr>
        <p:spPr>
          <a:xfrm>
            <a:off x="7991856" y="1325880"/>
            <a:ext cx="3429000" cy="4754880"/>
          </a:xfrm>
          <a:prstGeom prst="roundRect">
            <a:avLst>
              <a:gd name="adj" fmla="val 2133"/>
            </a:avLst>
          </a:prstGeom>
          <a:solidFill>
            <a:srgbClr val="F3F5F8"/>
          </a:solidFill>
          <a:ln w="12700">
            <a:solidFill>
              <a:srgbClr val="F3F5F8"/>
            </a:solidFill>
            <a:prstDash val="solid"/>
          </a:ln>
        </p:spPr>
      </p:sp>
      <p:sp>
        <p:nvSpPr>
          <p:cNvPr id="17" name="Text 12"/>
          <p:cNvSpPr txBox="1"/>
          <p:nvPr/>
        </p:nvSpPr>
        <p:spPr>
          <a:xfrm>
            <a:off x="8174736" y="1463040"/>
            <a:ext cx="3063240" cy="640080"/>
          </a:xfrm>
          <a:prstGeom prst="rect">
            <a:avLst/>
          </a:prstGeom>
          <a:noFill/>
          <a:ln/>
        </p:spPr>
        <p:txBody>
          <a:bodyPr wrap="square" lIns="0" tIns="0" rIns="0" bIns="0" rtlCol="0" anchor="ctr"/>
          <a:lstStyle/>
          <a:p>
            <a:pPr indent="0" marL="0">
              <a:buNone/>
            </a:pPr>
            <a:r>
              <a:rPr lang="en-US" sz="1800" b="1" dirty="0">
                <a:solidFill>
                  <a:srgbClr val="6B3D8C"/>
                </a:solidFill>
                <a:latin typeface="Cambria" pitchFamily="34" charset="0"/>
                <a:ea typeface="Cambria" pitchFamily="34" charset="-122"/>
                <a:cs typeface="Cambria" pitchFamily="34" charset="-120"/>
              </a:rPr>
              <a:t>CORAL ordinal regression</a:t>
            </a:r>
            <a:endParaRPr lang="en-US" sz="1800" dirty="0"/>
          </a:p>
        </p:txBody>
      </p:sp>
      <p:pic>
        <p:nvPicPr>
          <p:cNvPr id="18" name="Image 2" descr="/tmp/claude-0/-home-user-SRT26/618f6450-ab76-51da-ba52-60090a9566a0/scratchpad/deckfig/fig_coral.png">    </p:cNvPr>
          <p:cNvPicPr>
            <a:picLocks noChangeAspect="1"/>
          </p:cNvPicPr>
          <p:nvPr/>
        </p:nvPicPr>
        <p:blipFill>
          <a:blip r:embed="rId3"/>
          <a:stretch>
            <a:fillRect/>
          </a:stretch>
        </p:blipFill>
        <p:spPr>
          <a:xfrm>
            <a:off x="8174736" y="2645573"/>
            <a:ext cx="3063240" cy="1018213"/>
          </a:xfrm>
          <a:prstGeom prst="rect">
            <a:avLst/>
          </a:prstGeom>
        </p:spPr>
      </p:pic>
      <p:sp>
        <p:nvSpPr>
          <p:cNvPr id="19" name="Text 13"/>
          <p:cNvSpPr txBox="1"/>
          <p:nvPr/>
        </p:nvSpPr>
        <p:spPr>
          <a:xfrm>
            <a:off x="8174736" y="4297680"/>
            <a:ext cx="3063240" cy="1645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Four nested binary questions: is the grade ≥ 1, ≥ 2, ≥ 3, ≥ 4? The order of grades is built in.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5A6470"/>
          </a:solidFill>
          <a:ln w="12700">
            <a:solidFill>
              <a:srgbClr val="5A6470"/>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First evidence: structure carries information</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731520" y="1463040"/>
            <a:ext cx="685800" cy="685800"/>
          </a:xfrm>
          <a:prstGeom prst="ellipse">
            <a:avLst/>
          </a:prstGeom>
          <a:solidFill>
            <a:srgbClr val="5A6470"/>
          </a:solidFill>
          <a:ln w="12700">
            <a:solidFill>
              <a:srgbClr val="5A6470"/>
            </a:solidFill>
            <a:prstDash val="solid"/>
          </a:ln>
        </p:spPr>
      </p:sp>
      <p:sp>
        <p:nvSpPr>
          <p:cNvPr id="9" name="Text 6"/>
          <p:cNvSpPr txBox="1"/>
          <p:nvPr/>
        </p:nvSpPr>
        <p:spPr>
          <a:xfrm>
            <a:off x="731520" y="146304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F1</a:t>
            </a:r>
            <a:endParaRPr lang="en-US" sz="1800" dirty="0"/>
          </a:p>
        </p:txBody>
      </p:sp>
      <p:sp>
        <p:nvSpPr>
          <p:cNvPr id="10" name="Text 7"/>
          <p:cNvSpPr txBox="1"/>
          <p:nvPr/>
        </p:nvSpPr>
        <p:spPr>
          <a:xfrm>
            <a:off x="1600200" y="1371600"/>
            <a:ext cx="4937760" cy="411480"/>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Graph template outside medicine</a:t>
            </a:r>
            <a:endParaRPr lang="en-US" sz="1500" dirty="0"/>
          </a:p>
        </p:txBody>
      </p:sp>
      <p:sp>
        <p:nvSpPr>
          <p:cNvPr id="11" name="Text 8"/>
          <p:cNvSpPr txBox="1"/>
          <p:nvPr/>
        </p:nvSpPr>
        <p:spPr>
          <a:xfrm>
            <a:off x="1600200" y="1783080"/>
            <a:ext cx="4754880"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F1 94.4-97.0% (single run); ten runs: interpretability and robustness to drift, no significant accuracy gain.</a:t>
            </a:r>
            <a:endParaRPr lang="en-US" sz="1400" dirty="0"/>
          </a:p>
        </p:txBody>
      </p:sp>
      <p:sp>
        <p:nvSpPr>
          <p:cNvPr id="12" name="Shape 9"/>
          <p:cNvSpPr/>
          <p:nvPr/>
        </p:nvSpPr>
        <p:spPr>
          <a:xfrm>
            <a:off x="731520" y="2651760"/>
            <a:ext cx="685800" cy="685800"/>
          </a:xfrm>
          <a:prstGeom prst="ellipse">
            <a:avLst/>
          </a:prstGeom>
          <a:solidFill>
            <a:srgbClr val="5A6470"/>
          </a:solidFill>
          <a:ln w="12700">
            <a:solidFill>
              <a:srgbClr val="5A6470"/>
            </a:solidFill>
            <a:prstDash val="solid"/>
          </a:ln>
        </p:spPr>
      </p:sp>
      <p:sp>
        <p:nvSpPr>
          <p:cNvPr id="13" name="Text 10"/>
          <p:cNvSpPr txBox="1"/>
          <p:nvPr/>
        </p:nvSpPr>
        <p:spPr>
          <a:xfrm>
            <a:off x="731520" y="265176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F2</a:t>
            </a:r>
            <a:endParaRPr lang="en-US" sz="1800" dirty="0"/>
          </a:p>
        </p:txBody>
      </p:sp>
      <p:sp>
        <p:nvSpPr>
          <p:cNvPr id="14" name="Text 11"/>
          <p:cNvSpPr txBox="1"/>
          <p:nvPr/>
        </p:nvSpPr>
        <p:spPr>
          <a:xfrm>
            <a:off x="1600200" y="2560320"/>
            <a:ext cx="4937760" cy="411480"/>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Relations and topology: complementary</a:t>
            </a:r>
            <a:endParaRPr lang="en-US" sz="1500" dirty="0"/>
          </a:p>
        </p:txBody>
      </p:sp>
      <p:sp>
        <p:nvSpPr>
          <p:cNvPr id="15" name="Text 12"/>
          <p:cNvSpPr txBox="1"/>
          <p:nvPr/>
        </p:nvSpPr>
        <p:spPr>
          <a:xfrm>
            <a:off x="1600200" y="2971800"/>
            <a:ext cx="4754880"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Hybrid CNN-GNN on APTOS 2019 (binary): 95.1% accuracy, +7.0 pp over the CNN, single split.</a:t>
            </a:r>
            <a:endParaRPr lang="en-US" sz="1400" dirty="0"/>
          </a:p>
        </p:txBody>
      </p:sp>
      <p:sp>
        <p:nvSpPr>
          <p:cNvPr id="16" name="Shape 13"/>
          <p:cNvSpPr/>
          <p:nvPr/>
        </p:nvSpPr>
        <p:spPr>
          <a:xfrm>
            <a:off x="731520" y="3840480"/>
            <a:ext cx="685800" cy="685800"/>
          </a:xfrm>
          <a:prstGeom prst="ellipse">
            <a:avLst/>
          </a:prstGeom>
          <a:solidFill>
            <a:srgbClr val="5A6470"/>
          </a:solidFill>
          <a:ln w="12700">
            <a:solidFill>
              <a:srgbClr val="5A6470"/>
            </a:solidFill>
            <a:prstDash val="solid"/>
          </a:ln>
        </p:spPr>
      </p:sp>
      <p:sp>
        <p:nvSpPr>
          <p:cNvPr id="17" name="Text 14"/>
          <p:cNvSpPr txBox="1"/>
          <p:nvPr/>
        </p:nvSpPr>
        <p:spPr>
          <a:xfrm>
            <a:off x="731520" y="3840480"/>
            <a:ext cx="685800" cy="6858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F3</a:t>
            </a:r>
            <a:endParaRPr lang="en-US" sz="1800" dirty="0"/>
          </a:p>
        </p:txBody>
      </p:sp>
      <p:sp>
        <p:nvSpPr>
          <p:cNvPr id="18" name="Text 15"/>
          <p:cNvSpPr txBox="1"/>
          <p:nvPr/>
        </p:nvSpPr>
        <p:spPr>
          <a:xfrm>
            <a:off x="1600200" y="3749040"/>
            <a:ext cx="4937760" cy="411480"/>
          </a:xfrm>
          <a:prstGeom prst="rect">
            <a:avLst/>
          </a:prstGeom>
          <a:noFill/>
          <a:ln/>
        </p:spPr>
        <p:txBody>
          <a:bodyPr wrap="square" lIns="0" tIns="0" rIns="0" bIns="0" rtlCol="0" anchor="ctr"/>
          <a:lstStyle/>
          <a:p>
            <a:pPr indent="0" marL="0">
              <a:buNone/>
            </a:pPr>
            <a:r>
              <a:rPr lang="en-US" sz="1500" b="1" dirty="0">
                <a:solidFill>
                  <a:srgbClr val="16324F"/>
                </a:solidFill>
                <a:latin typeface="Cambria" pitchFamily="34" charset="0"/>
                <a:ea typeface="Cambria" pitchFamily="34" charset="-122"/>
                <a:cs typeface="Cambria" pitchFamily="34" charset="-120"/>
              </a:rPr>
              <a:t>Vessel structure is discriminative</a:t>
            </a:r>
            <a:endParaRPr lang="en-US" sz="1500" dirty="0"/>
          </a:p>
        </p:txBody>
      </p:sp>
      <p:sp>
        <p:nvSpPr>
          <p:cNvPr id="19" name="Text 16"/>
          <p:cNvSpPr txBox="1"/>
          <p:nvPr/>
        </p:nvSpPr>
        <p:spPr>
          <a:xfrm>
            <a:off x="1600200" y="4160520"/>
            <a:ext cx="4754880"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Three methods agree; SAMF-GB: +0.042 QWK over EfficientNet-B3, CPU classifier about 13x cheaper.</a:t>
            </a:r>
            <a:endParaRPr lang="en-US" sz="1400" dirty="0"/>
          </a:p>
        </p:txBody>
      </p:sp>
      <p:pic>
        <p:nvPicPr>
          <p:cNvPr id="20" name="Image 0" descr="/home/user/SRT26/img/hybrid_confusion_5class.png">    </p:cNvPr>
          <p:cNvPicPr>
            <a:picLocks noChangeAspect="1"/>
          </p:cNvPicPr>
          <p:nvPr/>
        </p:nvPicPr>
        <p:blipFill>
          <a:blip r:embed="rId1"/>
          <a:stretch>
            <a:fillRect/>
          </a:stretch>
        </p:blipFill>
        <p:spPr>
          <a:xfrm>
            <a:off x="6675120" y="1505709"/>
            <a:ext cx="4800600" cy="3297941"/>
          </a:xfrm>
          <a:prstGeom prst="rect">
            <a:avLst/>
          </a:prstGeom>
        </p:spPr>
      </p:pic>
      <p:sp>
        <p:nvSpPr>
          <p:cNvPr id="21" name="Text 17"/>
          <p:cNvSpPr txBox="1"/>
          <p:nvPr/>
        </p:nvSpPr>
        <p:spPr>
          <a:xfrm>
            <a:off x="6675120" y="5029200"/>
            <a:ext cx="4800600" cy="320040"/>
          </a:xfrm>
          <a:prstGeom prst="rect">
            <a:avLst/>
          </a:prstGeom>
          <a:noFill/>
          <a:ln/>
        </p:spPr>
        <p:txBody>
          <a:bodyPr wrap="square" lIns="0" tIns="0" rIns="0" bIns="0" rtlCol="0" anchor="ctr"/>
          <a:lstStyle/>
          <a:p>
            <a:pPr algn="ctr" indent="0" marL="0">
              <a:buNone/>
            </a:pPr>
            <a:r>
              <a:rPr lang="en-US" sz="1100" i="1" dirty="0">
                <a:solidFill>
                  <a:srgbClr val="5A6470"/>
                </a:solidFill>
                <a:latin typeface="Calibri" pitchFamily="34" charset="0"/>
                <a:ea typeface="Calibri" pitchFamily="34" charset="-122"/>
                <a:cs typeface="Calibri" pitchFamily="34" charset="-120"/>
              </a:rPr>
              <a:t>Hybrid CNN-GNN, five-class confusion matrix (APTOS 2019)</a:t>
            </a:r>
            <a:endParaRPr lang="en-US" sz="1100" dirty="0"/>
          </a:p>
        </p:txBody>
      </p:sp>
      <p:sp>
        <p:nvSpPr>
          <p:cNvPr id="22" name="Text 18"/>
          <p:cNvSpPr txBox="1"/>
          <p:nvPr/>
        </p:nvSpPr>
        <p:spPr>
          <a:xfrm>
            <a:off x="731520" y="5440680"/>
            <a:ext cx="10744200" cy="548640"/>
          </a:xfrm>
          <a:prstGeom prst="rect">
            <a:avLst/>
          </a:prstGeom>
          <a:noFill/>
          <a:ln/>
        </p:spPr>
        <p:txBody>
          <a:bodyPr wrap="square" lIns="0" tIns="0" rIns="0" bIns="0" rtlCol="0" anchor="ctr"/>
          <a:lstStyle/>
          <a:p>
            <a:pPr indent="0" marL="0">
              <a:buNone/>
            </a:pPr>
            <a:r>
              <a:rPr lang="en-US" sz="1700" i="1" dirty="0">
                <a:solidFill>
                  <a:srgbClr val="16324F"/>
                </a:solidFill>
                <a:latin typeface="Cambria" pitchFamily="34" charset="0"/>
                <a:ea typeface="Cambria" pitchFamily="34" charset="-122"/>
                <a:cs typeface="Cambria" pitchFamily="34" charset="-120"/>
              </a:rPr>
              <a:t>Take-away: worth testing a population graph with topology inside the similarity (Chapter 4).</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1F4E79"/>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4</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TOPORET</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A dual-similarity population graph: relations + vessel topology (Chapter 4)</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F4E79"/>
          </a:solidFill>
          <a:ln w="12700">
            <a:solidFill>
              <a:srgbClr val="1F4E79"/>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TOPORET: a dual-similarity population graph</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16</a:t>
            </a:r>
            <a:endParaRPr lang="en-US" sz="1000" dirty="0"/>
          </a:p>
        </p:txBody>
      </p:sp>
      <p:pic>
        <p:nvPicPr>
          <p:cNvPr id="8" name="Image 0" descr="/tmp/claude-0/-home-user-SRT26/618f6450-ab76-51da-ba52-60090a9566a0/scratchpad/deckfig/fig_toporet.png">    </p:cNvPr>
          <p:cNvPicPr>
            <a:picLocks noChangeAspect="1"/>
          </p:cNvPicPr>
          <p:nvPr/>
        </p:nvPicPr>
        <p:blipFill>
          <a:blip r:embed="rId1"/>
          <a:stretch>
            <a:fillRect/>
          </a:stretch>
        </p:blipFill>
        <p:spPr>
          <a:xfrm>
            <a:off x="731520" y="1312677"/>
            <a:ext cx="10744200" cy="2403847"/>
          </a:xfrm>
          <a:prstGeom prst="rect">
            <a:avLst/>
          </a:prstGeom>
        </p:spPr>
      </p:pic>
      <p:sp>
        <p:nvSpPr>
          <p:cNvPr id="9" name="Shape 5"/>
          <p:cNvSpPr/>
          <p:nvPr/>
        </p:nvSpPr>
        <p:spPr>
          <a:xfrm>
            <a:off x="731520" y="3931920"/>
            <a:ext cx="6035040" cy="2148840"/>
          </a:xfrm>
          <a:prstGeom prst="roundRect">
            <a:avLst>
              <a:gd name="adj" fmla="val 3404"/>
            </a:avLst>
          </a:prstGeom>
          <a:solidFill>
            <a:srgbClr val="D6E6F5"/>
          </a:solidFill>
          <a:ln w="12700">
            <a:solidFill>
              <a:srgbClr val="D6E6F5"/>
            </a:solidFill>
            <a:prstDash val="solid"/>
          </a:ln>
        </p:spPr>
      </p:sp>
      <p:sp>
        <p:nvSpPr>
          <p:cNvPr id="10" name="Text 6"/>
          <p:cNvSpPr txBox="1"/>
          <p:nvPr/>
        </p:nvSpPr>
        <p:spPr>
          <a:xfrm>
            <a:off x="960120" y="4069080"/>
            <a:ext cx="5669280" cy="192024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Dual similarity</a:t>
            </a:r>
            <a:endParaRPr lang="en-US" sz="1800" dirty="0"/>
          </a:p>
          <a:p>
            <a:pPr indent="0" marL="0">
              <a:buNone/>
            </a:pPr>
            <a:r>
              <a:rPr lang="en-US" sz="1500" dirty="0">
                <a:solidFill>
                  <a:srgbClr val="1F2933"/>
                </a:solidFill>
                <a:latin typeface="Cambria Math" pitchFamily="34" charset="0"/>
                <a:ea typeface="Cambria Math" pitchFamily="34" charset="-122"/>
                <a:cs typeface="Cambria Math" pitchFamily="34" charset="-120"/>
              </a:rPr>
              <a:t>S(i,j) = α · cos(CNN_i, CNN_j) + (1 − α) · exp(−d_ij / d_max)</a:t>
            </a:r>
            <a:endParaRPr lang="en-US" sz="1800" dirty="0"/>
          </a:p>
          <a:p>
            <a:pPr indent="0" marL="0">
              <a:buNone/>
            </a:pPr>
            <a:r>
              <a:rPr lang="en-US" sz="1400" dirty="0">
                <a:solidFill>
                  <a:srgbClr val="5A6470"/>
                </a:solidFill>
                <a:latin typeface="Calibri" pitchFamily="34" charset="0"/>
                <a:ea typeface="Calibri" pitchFamily="34" charset="-122"/>
                <a:cs typeface="Calibri" pitchFamily="34" charset="-120"/>
              </a:rPr>
              <a:t>d_ij: distance of the 6-D topological vectors; edge if S &gt; τ</a:t>
            </a:r>
            <a:endParaRPr lang="en-US" sz="1800" dirty="0"/>
          </a:p>
          <a:p>
            <a:pPr indent="0" marL="0">
              <a:buNone/>
            </a:pPr>
            <a:r>
              <a:rPr lang="en-US" sz="1400" dirty="0">
                <a:solidFill>
                  <a:srgbClr val="5A6470"/>
                </a:solidFill>
                <a:latin typeface="Calibri" pitchFamily="34" charset="0"/>
                <a:ea typeface="Calibri" pitchFamily="34" charset="-122"/>
                <a:cs typeface="Calibri" pitchFamily="34" charset="-120"/>
              </a:rPr>
              <a:t>α = 0.6, τ = 0.65 (validation grid search)</a:t>
            </a:r>
            <a:endParaRPr lang="en-US" sz="1800" dirty="0"/>
          </a:p>
        </p:txBody>
      </p:sp>
      <p:sp>
        <p:nvSpPr>
          <p:cNvPr id="11" name="Shape 7"/>
          <p:cNvSpPr/>
          <p:nvPr/>
        </p:nvSpPr>
        <p:spPr>
          <a:xfrm>
            <a:off x="7040880" y="3931920"/>
            <a:ext cx="4434840" cy="2148840"/>
          </a:xfrm>
          <a:prstGeom prst="roundRect">
            <a:avLst>
              <a:gd name="adj" fmla="val 3404"/>
            </a:avLst>
          </a:prstGeom>
          <a:solidFill>
            <a:srgbClr val="F3F5F8"/>
          </a:solidFill>
          <a:ln w="12700">
            <a:solidFill>
              <a:srgbClr val="F3F5F8"/>
            </a:solidFill>
            <a:prstDash val="solid"/>
          </a:ln>
        </p:spPr>
      </p:sp>
      <p:sp>
        <p:nvSpPr>
          <p:cNvPr id="12" name="Text 8"/>
          <p:cNvSpPr txBox="1"/>
          <p:nvPr/>
        </p:nvSpPr>
        <p:spPr>
          <a:xfrm>
            <a:off x="7223760" y="4069080"/>
            <a:ext cx="4069080" cy="41148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Protocol (stated plainly)</a:t>
            </a:r>
            <a:endParaRPr lang="en-US" sz="1800" dirty="0"/>
          </a:p>
        </p:txBody>
      </p:sp>
      <p:sp>
        <p:nvSpPr>
          <p:cNvPr id="13" name="Text 9"/>
          <p:cNvSpPr txBox="1"/>
          <p:nvPr/>
        </p:nvSpPr>
        <p:spPr>
          <a:xfrm>
            <a:off x="7223760" y="4526280"/>
            <a:ext cx="4069080" cy="146304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Five-fold CV, seed 42, image level</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Transductive: test images are unlabelled nodes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Three benchmarks, each evaluated within itself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B7A4E"/>
          </a:solidFill>
          <a:ln w="12700">
            <a:solidFill>
              <a:srgbClr val="1B7A4E"/>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Vessel topology with persistent homology</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17</a:t>
            </a:r>
            <a:endParaRPr lang="en-US" sz="1000" dirty="0"/>
          </a:p>
        </p:txBody>
      </p:sp>
      <p:pic>
        <p:nvPicPr>
          <p:cNvPr id="8" name="Image 0" descr="/home/user/SRT26/img/vessel_skeleton_persistence.png">    </p:cNvPr>
          <p:cNvPicPr>
            <a:picLocks noChangeAspect="1"/>
          </p:cNvPicPr>
          <p:nvPr/>
        </p:nvPicPr>
        <p:blipFill>
          <a:blip r:embed="rId1"/>
          <a:stretch>
            <a:fillRect/>
          </a:stretch>
        </p:blipFill>
        <p:spPr>
          <a:xfrm>
            <a:off x="731520" y="1998513"/>
            <a:ext cx="5852160" cy="3318175"/>
          </a:xfrm>
          <a:prstGeom prst="rect">
            <a:avLst/>
          </a:prstGeom>
        </p:spPr>
      </p:pic>
      <p:sp>
        <p:nvSpPr>
          <p:cNvPr id="9" name="Shape 5"/>
          <p:cNvSpPr/>
          <p:nvPr/>
        </p:nvSpPr>
        <p:spPr>
          <a:xfrm>
            <a:off x="6858000" y="1325880"/>
            <a:ext cx="4617720" cy="2331720"/>
          </a:xfrm>
          <a:prstGeom prst="roundRect">
            <a:avLst>
              <a:gd name="adj" fmla="val 3137"/>
            </a:avLst>
          </a:prstGeom>
          <a:solidFill>
            <a:srgbClr val="D9F0E3"/>
          </a:solidFill>
          <a:ln w="12700">
            <a:solidFill>
              <a:srgbClr val="D9F0E3"/>
            </a:solidFill>
            <a:prstDash val="solid"/>
          </a:ln>
        </p:spPr>
      </p:sp>
      <p:sp>
        <p:nvSpPr>
          <p:cNvPr id="10" name="Text 6"/>
          <p:cNvSpPr txBox="1"/>
          <p:nvPr/>
        </p:nvSpPr>
        <p:spPr>
          <a:xfrm>
            <a:off x="7040880" y="1463040"/>
            <a:ext cx="4251960" cy="411480"/>
          </a:xfrm>
          <a:prstGeom prst="rect">
            <a:avLst/>
          </a:prstGeom>
          <a:noFill/>
          <a:ln/>
        </p:spPr>
        <p:txBody>
          <a:bodyPr wrap="square" lIns="0" tIns="0" rIns="0" bIns="0" rtlCol="0" anchor="t"/>
          <a:lstStyle/>
          <a:p>
            <a:pPr indent="0" marL="0">
              <a:buNone/>
            </a:pPr>
            <a:r>
              <a:rPr lang="en-US" sz="1800" b="1" dirty="0">
                <a:solidFill>
                  <a:srgbClr val="1B7A4E"/>
                </a:solidFill>
                <a:latin typeface="Cambria" pitchFamily="34" charset="0"/>
                <a:ea typeface="Cambria" pitchFamily="34" charset="-122"/>
                <a:cs typeface="Cambria" pitchFamily="34" charset="-120"/>
              </a:rPr>
              <a:t>Six descriptors per image</a:t>
            </a:r>
            <a:endParaRPr lang="en-US" sz="1800" dirty="0"/>
          </a:p>
        </p:txBody>
      </p:sp>
      <p:sp>
        <p:nvSpPr>
          <p:cNvPr id="11" name="Text 7"/>
          <p:cNvSpPr txBox="1"/>
          <p:nvPr/>
        </p:nvSpPr>
        <p:spPr>
          <a:xfrm>
            <a:off x="7040880" y="1920240"/>
            <a:ext cx="4251960" cy="16459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H0 (components): total persistence, entropy, number of long-lived bars</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H1 (loops): total persistence, entropy, number of long-lived bars</a:t>
            </a:r>
            <a:endParaRPr lang="en-US" sz="1500" dirty="0"/>
          </a:p>
        </p:txBody>
      </p:sp>
      <p:sp>
        <p:nvSpPr>
          <p:cNvPr id="12" name="Shape 8"/>
          <p:cNvSpPr/>
          <p:nvPr/>
        </p:nvSpPr>
        <p:spPr>
          <a:xfrm>
            <a:off x="6858000" y="3840480"/>
            <a:ext cx="4617720" cy="2194560"/>
          </a:xfrm>
          <a:prstGeom prst="roundRect">
            <a:avLst>
              <a:gd name="adj" fmla="val 3333"/>
            </a:avLst>
          </a:prstGeom>
          <a:solidFill>
            <a:srgbClr val="F3F5F8"/>
          </a:solidFill>
          <a:ln w="12700">
            <a:solidFill>
              <a:srgbClr val="F3F5F8"/>
            </a:solidFill>
            <a:prstDash val="solid"/>
          </a:ln>
        </p:spPr>
      </p:sp>
      <p:sp>
        <p:nvSpPr>
          <p:cNvPr id="13" name="Text 9"/>
          <p:cNvSpPr txBox="1"/>
          <p:nvPr/>
        </p:nvSpPr>
        <p:spPr>
          <a:xfrm>
            <a:off x="7040880" y="3977640"/>
            <a:ext cx="4251960" cy="411480"/>
          </a:xfrm>
          <a:prstGeom prst="rect">
            <a:avLst/>
          </a:prstGeom>
          <a:noFill/>
          <a:ln/>
        </p:spPr>
        <p:txBody>
          <a:bodyPr wrap="square" lIns="0" tIns="0" rIns="0" bIns="0" rtlCol="0" anchor="t"/>
          <a:lstStyle/>
          <a:p>
            <a:pPr indent="0" marL="0">
              <a:buNone/>
            </a:pPr>
            <a:r>
              <a:rPr lang="en-US" sz="1800" b="1" dirty="0">
                <a:solidFill>
                  <a:srgbClr val="1B7A4E"/>
                </a:solidFill>
                <a:latin typeface="Cambria" pitchFamily="34" charset="0"/>
                <a:ea typeface="Cambria" pitchFamily="34" charset="-122"/>
                <a:cs typeface="Cambria" pitchFamily="34" charset="-120"/>
              </a:rPr>
              <a:t>Pipeline</a:t>
            </a:r>
            <a:endParaRPr lang="en-US" sz="1800" dirty="0"/>
          </a:p>
        </p:txBody>
      </p:sp>
      <p:sp>
        <p:nvSpPr>
          <p:cNvPr id="14" name="Text 10"/>
          <p:cNvSpPr txBox="1"/>
          <p:nvPr/>
        </p:nvSpPr>
        <p:spPr>
          <a:xfrm>
            <a:off x="7040880" y="4434840"/>
            <a:ext cx="4251960" cy="150876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CLAHE, skeleton, branch points</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Vietoris-Rips filtration (GUDHI), edge ≤ 100 px</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Long-lived bar: &gt; 5% of the longest bar</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F4E79"/>
          </a:solidFill>
          <a:ln w="12700">
            <a:solidFill>
              <a:srgbClr val="1F4E79"/>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Results on three benchmarks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18</a:t>
            </a:r>
            <a:endParaRPr lang="en-US" sz="1000" dirty="0"/>
          </a:p>
        </p:txBody>
      </p:sp>
      <p:graphicFrame>
        <p:nvGraphicFramePr>
          <p:cNvPr id="8" name="Chart 0" descr=""/>
          <p:cNvGraphicFramePr/>
          <p:nvPr/>
        </p:nvGraphicFramePr>
        <p:xfrm>
          <a:off x="731520" y="1280160"/>
          <a:ext cx="658368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680960" y="1463040"/>
          <a:ext cx="3794760" cy="914400"/>
        </p:xfrm>
        <a:graphic>
          <a:graphicData uri="http://schemas.openxmlformats.org/drawingml/2006/table">
            <a:tbl>
              <a:tblPr/>
              <a:tblGrid>
                <a:gridCol w="1417320"/>
                <a:gridCol w="1463040"/>
                <a:gridCol w="91440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Accuracy (%)</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ΔQWK</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Kaggle DR</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94.0 → 95.5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Messidor-2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93.8 → 96.1</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APTOS 2019</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92.9 → 94.6</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5"/>
          <p:cNvSpPr/>
          <p:nvPr/>
        </p:nvSpPr>
        <p:spPr>
          <a:xfrm>
            <a:off x="7680960" y="3383280"/>
            <a:ext cx="3794760" cy="2651760"/>
          </a:xfrm>
          <a:prstGeom prst="roundRect">
            <a:avLst>
              <a:gd name="adj" fmla="val 2759"/>
            </a:avLst>
          </a:prstGeom>
          <a:solidFill>
            <a:srgbClr val="F8D6D6"/>
          </a:solidFill>
          <a:ln w="12700">
            <a:solidFill>
              <a:srgbClr val="F8D6D6"/>
            </a:solidFill>
            <a:prstDash val="solid"/>
          </a:ln>
        </p:spPr>
      </p:sp>
      <p:sp>
        <p:nvSpPr>
          <p:cNvPr id="11" name="Text 6"/>
          <p:cNvSpPr txBox="1"/>
          <p:nvPr/>
        </p:nvSpPr>
        <p:spPr>
          <a:xfrm>
            <a:off x="7863840" y="3520440"/>
            <a:ext cx="342900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Read with care</a:t>
            </a:r>
            <a:endParaRPr lang="en-US" sz="1800" dirty="0"/>
          </a:p>
        </p:txBody>
      </p:sp>
      <p:sp>
        <p:nvSpPr>
          <p:cNvPr id="12" name="Text 7"/>
          <p:cNvSpPr txBox="1"/>
          <p:nvPr/>
        </p:nvSpPr>
        <p:spPr>
          <a:xfrm>
            <a:off x="7863840" y="3977640"/>
            <a:ext cx="3429000" cy="196596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Transductive, image-level folds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Not comparable with published absolute figures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Valid: paired comparison, same features and folds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F4E79"/>
          </a:solidFill>
          <a:ln w="12700">
            <a:solidFill>
              <a:srgbClr val="1F4E79"/>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H1</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H1: converging but limited evidence</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914400"/>
        </p:xfrm>
        <a:graphic>
          <a:graphicData uri="http://schemas.openxmlformats.org/drawingml/2006/table">
            <a:tbl>
              <a:tblPr/>
              <a:tblGrid>
                <a:gridCol w="2926080"/>
                <a:gridCol w="1097280"/>
                <a:gridCol w="1005840"/>
                <a:gridCol w="1828800"/>
                <a:gridCol w="2423160"/>
                <a:gridCol w="14630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ΔQWK</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 (pre-specified)</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Corrected t (Nadeau-Bengio)</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Corrected p</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F4E79"/>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Kaggle DR (primary)</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3.82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0.019</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2.45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0.070</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Messidor-2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+0.07</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0.015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2.63</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0.058</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1148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APTOS 2019</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0.025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2.25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0.088</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Three benchmarks combined (Fisher)</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b="1" dirty="0">
                          <a:solidFill>
                            <a:srgbClr val="1F4E79"/>
                          </a:solidFill>
                          <a:latin typeface="Calibri" pitchFamily="34" charset="0"/>
                          <a:ea typeface="Calibri" pitchFamily="34" charset="-122"/>
                          <a:cs typeface="Calibri" pitchFamily="34" charset="-120"/>
                        </a:rPr>
                        <a:t>0.015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bl>
          </a:graphicData>
        </a:graphic>
      </p:graphicFrame>
      <p:sp>
        <p:nvSpPr>
          <p:cNvPr id="9" name="Shape 5"/>
          <p:cNvSpPr/>
          <p:nvPr/>
        </p:nvSpPr>
        <p:spPr>
          <a:xfrm>
            <a:off x="731520" y="3657600"/>
            <a:ext cx="2651760" cy="1463040"/>
          </a:xfrm>
          <a:prstGeom prst="roundRect">
            <a:avLst>
              <a:gd name="adj" fmla="val 5000"/>
            </a:avLst>
          </a:prstGeom>
          <a:solidFill>
            <a:srgbClr val="D6E6F5"/>
          </a:solidFill>
          <a:ln w="12700">
            <a:solidFill>
              <a:srgbClr val="D6E6F5"/>
            </a:solidFill>
            <a:prstDash val="solid"/>
          </a:ln>
        </p:spPr>
      </p:sp>
      <p:sp>
        <p:nvSpPr>
          <p:cNvPr id="10" name="Text 6"/>
          <p:cNvSpPr txBox="1"/>
          <p:nvPr/>
        </p:nvSpPr>
        <p:spPr>
          <a:xfrm>
            <a:off x="868680" y="3749040"/>
            <a:ext cx="2377440" cy="365760"/>
          </a:xfrm>
          <a:prstGeom prst="rect">
            <a:avLst/>
          </a:prstGeom>
          <a:noFill/>
          <a:ln/>
        </p:spPr>
        <p:txBody>
          <a:bodyPr wrap="square" lIns="0" tIns="0" rIns="0" bIns="0" rtlCol="0" anchor="ctr"/>
          <a:lstStyle/>
          <a:p>
            <a:pPr indent="0" marL="0">
              <a:buNone/>
            </a:pPr>
            <a:r>
              <a:rPr lang="en-US" sz="1300" dirty="0">
                <a:solidFill>
                  <a:srgbClr val="5A6470"/>
                </a:solidFill>
                <a:latin typeface="Calibri" pitchFamily="34" charset="0"/>
                <a:ea typeface="Calibri" pitchFamily="34" charset="-122"/>
                <a:cs typeface="Calibri" pitchFamily="34" charset="-120"/>
              </a:rPr>
              <a:t>Bootstrap CI</a:t>
            </a:r>
            <a:endParaRPr lang="en-US" sz="1300" dirty="0"/>
          </a:p>
        </p:txBody>
      </p:sp>
      <p:sp>
        <p:nvSpPr>
          <p:cNvPr id="11" name="Text 7"/>
          <p:cNvSpPr txBox="1"/>
          <p:nvPr/>
        </p:nvSpPr>
        <p:spPr>
          <a:xfrm>
            <a:off x="868680" y="4114800"/>
            <a:ext cx="2377440" cy="54864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[+0.021, +0.059]</a:t>
            </a:r>
            <a:endParaRPr lang="en-US" sz="1800" dirty="0"/>
          </a:p>
        </p:txBody>
      </p:sp>
      <p:sp>
        <p:nvSpPr>
          <p:cNvPr id="12" name="Text 8"/>
          <p:cNvSpPr txBox="1"/>
          <p:nvPr/>
        </p:nvSpPr>
        <p:spPr>
          <a:xfrm>
            <a:off x="868680" y="4663440"/>
            <a:ext cx="2377440" cy="365760"/>
          </a:xfrm>
          <a:prstGeom prst="rect">
            <a:avLst/>
          </a:prstGeom>
          <a:noFill/>
          <a:ln/>
        </p:spPr>
        <p:txBody>
          <a:bodyPr wrap="square" lIns="0" tIns="0" rIns="0" bIns="0" rtlCol="0" anchor="ctr"/>
          <a:lstStyle/>
          <a:p>
            <a:pPr indent="0" marL="0">
              <a:buNone/>
            </a:pPr>
            <a:r>
              <a:rPr lang="en-US" sz="1300" i="1" dirty="0">
                <a:solidFill>
                  <a:srgbClr val="1F2933"/>
                </a:solidFill>
                <a:latin typeface="Calibri" pitchFamily="34" charset="0"/>
                <a:ea typeface="Calibri" pitchFamily="34" charset="-122"/>
                <a:cs typeface="Calibri" pitchFamily="34" charset="-120"/>
              </a:rPr>
              <a:t>excludes zero</a:t>
            </a:r>
            <a:endParaRPr lang="en-US" sz="1300" dirty="0"/>
          </a:p>
        </p:txBody>
      </p:sp>
      <p:sp>
        <p:nvSpPr>
          <p:cNvPr id="13" name="Shape 9"/>
          <p:cNvSpPr/>
          <p:nvPr/>
        </p:nvSpPr>
        <p:spPr>
          <a:xfrm>
            <a:off x="3566160" y="3657600"/>
            <a:ext cx="2651760" cy="1463040"/>
          </a:xfrm>
          <a:prstGeom prst="roundRect">
            <a:avLst>
              <a:gd name="adj" fmla="val 5000"/>
            </a:avLst>
          </a:prstGeom>
          <a:solidFill>
            <a:srgbClr val="D6E6F5"/>
          </a:solidFill>
          <a:ln w="12700">
            <a:solidFill>
              <a:srgbClr val="D6E6F5"/>
            </a:solidFill>
            <a:prstDash val="solid"/>
          </a:ln>
        </p:spPr>
      </p:sp>
      <p:sp>
        <p:nvSpPr>
          <p:cNvPr id="14" name="Text 10"/>
          <p:cNvSpPr txBox="1"/>
          <p:nvPr/>
        </p:nvSpPr>
        <p:spPr>
          <a:xfrm>
            <a:off x="3703320" y="3749040"/>
            <a:ext cx="2377440" cy="365760"/>
          </a:xfrm>
          <a:prstGeom prst="rect">
            <a:avLst/>
          </a:prstGeom>
          <a:noFill/>
          <a:ln/>
        </p:spPr>
        <p:txBody>
          <a:bodyPr wrap="square" lIns="0" tIns="0" rIns="0" bIns="0" rtlCol="0" anchor="ctr"/>
          <a:lstStyle/>
          <a:p>
            <a:pPr indent="0" marL="0">
              <a:buNone/>
            </a:pPr>
            <a:r>
              <a:rPr lang="en-US" sz="1300" dirty="0">
                <a:solidFill>
                  <a:srgbClr val="5A6470"/>
                </a:solidFill>
                <a:latin typeface="Calibri" pitchFamily="34" charset="0"/>
                <a:ea typeface="Calibri" pitchFamily="34" charset="-122"/>
                <a:cs typeface="Calibri" pitchFamily="34" charset="-120"/>
              </a:rPr>
              <a:t>Sign-flip test</a:t>
            </a:r>
            <a:endParaRPr lang="en-US" sz="1300" dirty="0"/>
          </a:p>
        </p:txBody>
      </p:sp>
      <p:sp>
        <p:nvSpPr>
          <p:cNvPr id="15" name="Text 11"/>
          <p:cNvSpPr txBox="1"/>
          <p:nvPr/>
        </p:nvSpPr>
        <p:spPr>
          <a:xfrm>
            <a:off x="3703320" y="4114800"/>
            <a:ext cx="2377440" cy="54864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p = 1/32</a:t>
            </a:r>
            <a:endParaRPr lang="en-US" sz="1800" dirty="0"/>
          </a:p>
        </p:txBody>
      </p:sp>
      <p:sp>
        <p:nvSpPr>
          <p:cNvPr id="16" name="Text 12"/>
          <p:cNvSpPr txBox="1"/>
          <p:nvPr/>
        </p:nvSpPr>
        <p:spPr>
          <a:xfrm>
            <a:off x="3703320" y="4663440"/>
            <a:ext cx="2377440" cy="365760"/>
          </a:xfrm>
          <a:prstGeom prst="rect">
            <a:avLst/>
          </a:prstGeom>
          <a:noFill/>
          <a:ln/>
        </p:spPr>
        <p:txBody>
          <a:bodyPr wrap="square" lIns="0" tIns="0" rIns="0" bIns="0" rtlCol="0" anchor="ctr"/>
          <a:lstStyle/>
          <a:p>
            <a:pPr indent="0" marL="0">
              <a:buNone/>
            </a:pPr>
            <a:r>
              <a:rPr lang="en-US" sz="1300" i="1" dirty="0">
                <a:solidFill>
                  <a:srgbClr val="1F2933"/>
                </a:solidFill>
                <a:latin typeface="Calibri" pitchFamily="34" charset="0"/>
                <a:ea typeface="Calibri" pitchFamily="34" charset="-122"/>
                <a:cs typeface="Calibri" pitchFamily="34" charset="-120"/>
              </a:rPr>
              <a:t>gain &gt; 0 in every fold</a:t>
            </a:r>
            <a:endParaRPr lang="en-US" sz="1300" dirty="0"/>
          </a:p>
        </p:txBody>
      </p:sp>
      <p:sp>
        <p:nvSpPr>
          <p:cNvPr id="17" name="Shape 13"/>
          <p:cNvSpPr/>
          <p:nvPr/>
        </p:nvSpPr>
        <p:spPr>
          <a:xfrm>
            <a:off x="6400800" y="3657600"/>
            <a:ext cx="2651760" cy="1463040"/>
          </a:xfrm>
          <a:prstGeom prst="roundRect">
            <a:avLst>
              <a:gd name="adj" fmla="val 5000"/>
            </a:avLst>
          </a:prstGeom>
          <a:solidFill>
            <a:srgbClr val="D6E6F5"/>
          </a:solidFill>
          <a:ln w="12700">
            <a:solidFill>
              <a:srgbClr val="D6E6F5"/>
            </a:solidFill>
            <a:prstDash val="solid"/>
          </a:ln>
        </p:spPr>
      </p:sp>
      <p:sp>
        <p:nvSpPr>
          <p:cNvPr id="18" name="Text 14"/>
          <p:cNvSpPr txBox="1"/>
          <p:nvPr/>
        </p:nvSpPr>
        <p:spPr>
          <a:xfrm>
            <a:off x="6537960" y="3749040"/>
            <a:ext cx="2377440" cy="365760"/>
          </a:xfrm>
          <a:prstGeom prst="rect">
            <a:avLst/>
          </a:prstGeom>
          <a:noFill/>
          <a:ln/>
        </p:spPr>
        <p:txBody>
          <a:bodyPr wrap="square" lIns="0" tIns="0" rIns="0" bIns="0" rtlCol="0" anchor="ctr"/>
          <a:lstStyle/>
          <a:p>
            <a:pPr indent="0" marL="0">
              <a:buNone/>
            </a:pPr>
            <a:r>
              <a:rPr lang="en-US" sz="1300" dirty="0">
                <a:solidFill>
                  <a:srgbClr val="5A6470"/>
                </a:solidFill>
                <a:latin typeface="Calibri" pitchFamily="34" charset="0"/>
                <a:ea typeface="Calibri" pitchFamily="34" charset="-122"/>
                <a:cs typeface="Calibri" pitchFamily="34" charset="-120"/>
              </a:rPr>
              <a:t>Effect size</a:t>
            </a:r>
            <a:endParaRPr lang="en-US" sz="1300" dirty="0"/>
          </a:p>
        </p:txBody>
      </p:sp>
      <p:sp>
        <p:nvSpPr>
          <p:cNvPr id="19" name="Text 15"/>
          <p:cNvSpPr txBox="1"/>
          <p:nvPr/>
        </p:nvSpPr>
        <p:spPr>
          <a:xfrm>
            <a:off x="6537960" y="4114800"/>
            <a:ext cx="2377440" cy="548640"/>
          </a:xfrm>
          <a:prstGeom prst="rect">
            <a:avLst/>
          </a:prstGeom>
          <a:noFill/>
          <a:ln/>
        </p:spPr>
        <p:txBody>
          <a:bodyPr wrap="square" lIns="0" tIns="0" rIns="0" bIns="0" rtlCol="0" anchor="ctr"/>
          <a:lstStyle/>
          <a:p>
            <a:pPr indent="0" marL="0">
              <a:buNone/>
            </a:pPr>
            <a:r>
              <a:rPr lang="en-US" sz="1800" b="1" dirty="0">
                <a:solidFill>
                  <a:srgbClr val="1F4E79"/>
                </a:solidFill>
                <a:latin typeface="Cambria" pitchFamily="34" charset="0"/>
                <a:ea typeface="Cambria" pitchFamily="34" charset="-122"/>
                <a:cs typeface="Cambria" pitchFamily="34" charset="-120"/>
              </a:rPr>
              <a:t>d_z = 1.71</a:t>
            </a:r>
            <a:endParaRPr lang="en-US" sz="1800" dirty="0"/>
          </a:p>
        </p:txBody>
      </p:sp>
      <p:sp>
        <p:nvSpPr>
          <p:cNvPr id="20" name="Text 16"/>
          <p:cNvSpPr txBox="1"/>
          <p:nvPr/>
        </p:nvSpPr>
        <p:spPr>
          <a:xfrm>
            <a:off x="6537960" y="4663440"/>
            <a:ext cx="2377440" cy="365760"/>
          </a:xfrm>
          <a:prstGeom prst="rect">
            <a:avLst/>
          </a:prstGeom>
          <a:noFill/>
          <a:ln/>
        </p:spPr>
        <p:txBody>
          <a:bodyPr wrap="square" lIns="0" tIns="0" rIns="0" bIns="0" rtlCol="0" anchor="ctr"/>
          <a:lstStyle/>
          <a:p>
            <a:pPr indent="0" marL="0">
              <a:buNone/>
            </a:pPr>
            <a:r>
              <a:rPr lang="en-US" sz="1300" i="1" dirty="0">
                <a:solidFill>
                  <a:srgbClr val="1F2933"/>
                </a:solidFill>
                <a:latin typeface="Calibri" pitchFamily="34" charset="0"/>
                <a:ea typeface="Calibri" pitchFamily="34" charset="-122"/>
                <a:cs typeface="Calibri" pitchFamily="34" charset="-120"/>
              </a:rPr>
              <a:t>consistency, not size</a:t>
            </a:r>
            <a:endParaRPr lang="en-US" sz="1300" dirty="0"/>
          </a:p>
        </p:txBody>
      </p:sp>
      <p:sp>
        <p:nvSpPr>
          <p:cNvPr id="21" name="Shape 17"/>
          <p:cNvSpPr/>
          <p:nvPr/>
        </p:nvSpPr>
        <p:spPr>
          <a:xfrm>
            <a:off x="9326880" y="3657600"/>
            <a:ext cx="2148840" cy="1463040"/>
          </a:xfrm>
          <a:prstGeom prst="roundRect">
            <a:avLst>
              <a:gd name="adj" fmla="val 5000"/>
            </a:avLst>
          </a:prstGeom>
          <a:solidFill>
            <a:srgbClr val="1F4E79"/>
          </a:solidFill>
          <a:ln w="12700">
            <a:solidFill>
              <a:srgbClr val="1F4E79"/>
            </a:solidFill>
            <a:prstDash val="solid"/>
          </a:ln>
        </p:spPr>
      </p:sp>
      <p:sp>
        <p:nvSpPr>
          <p:cNvPr id="22" name="Text 18"/>
          <p:cNvSpPr txBox="1"/>
          <p:nvPr/>
        </p:nvSpPr>
        <p:spPr>
          <a:xfrm>
            <a:off x="9418320" y="3703320"/>
            <a:ext cx="196596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Converging but limited evidence</a:t>
            </a:r>
            <a:endParaRPr lang="en-US" sz="1700" dirty="0"/>
          </a:p>
        </p:txBody>
      </p:sp>
      <p:sp>
        <p:nvSpPr>
          <p:cNvPr id="23" name="Text 19"/>
          <p:cNvSpPr txBox="1"/>
          <p:nvPr/>
        </p:nvSpPr>
        <p:spPr>
          <a:xfrm>
            <a:off x="731520" y="5349240"/>
            <a:ext cx="10744200" cy="685800"/>
          </a:xfrm>
          <a:prstGeom prst="rect">
            <a:avLst/>
          </a:prstGeom>
          <a:noFill/>
          <a:ln/>
        </p:spPr>
        <p:txBody>
          <a:bodyPr wrap="square" lIns="0" tIns="0" rIns="0" bIns="0" rtlCol="0" anchor="ctr"/>
          <a:lstStyle/>
          <a:p>
            <a:pPr indent="0" marL="0">
              <a:buNone/>
            </a:pPr>
            <a:r>
              <a:rPr lang="en-US" sz="1500" i="1" dirty="0">
                <a:solidFill>
                  <a:srgbClr val="5A6470"/>
                </a:solidFill>
                <a:latin typeface="Calibri" pitchFamily="34" charset="0"/>
                <a:ea typeface="Calibri" pitchFamily="34" charset="-122"/>
                <a:cs typeface="Calibri" pitchFamily="34" charset="-120"/>
              </a:rPr>
              <a:t>Five folds give four degrees of freedom; the evidence supports H1 under the evaluated, transductive conditions, not a general advantage of population graphs.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F4E79"/>
          </a:solidFill>
          <a:ln w="12700">
            <a:solidFill>
              <a:srgbClr val="1F4E79"/>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Where the gain comes from: ablation</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20</a:t>
            </a:r>
            <a:endParaRPr lang="en-US" sz="1000" dirty="0"/>
          </a:p>
        </p:txBody>
      </p:sp>
      <p:graphicFrame>
        <p:nvGraphicFramePr>
          <p:cNvPr id="8" name="Chart 0" descr=""/>
          <p:cNvGraphicFramePr/>
          <p:nvPr/>
        </p:nvGraphicFramePr>
        <p:xfrm>
          <a:off x="731520" y="1280160"/>
          <a:ext cx="6035040" cy="4754880"/>
        </p:xfrm>
        <a:graphic xmlns:a="http://schemas.openxmlformats.org/drawingml/2006/main">
          <a:graphicData uri="http://schemas.openxmlformats.org/drawingml/2006/chart">
            <c:chart xmlns:c="http://schemas.openxmlformats.org/drawingml/2006/chart" r:id="rId1"/>
          </a:graphicData>
        </a:graphic>
      </p:graphicFrame>
      <p:pic>
        <p:nvPicPr>
          <p:cNvPr id="9" name="Image 0" descr="/home/user/SRT26/img/toporet_confusion.png">    </p:cNvPr>
          <p:cNvPicPr>
            <a:picLocks noChangeAspect="1"/>
          </p:cNvPicPr>
          <p:nvPr/>
        </p:nvPicPr>
        <p:blipFill>
          <a:blip r:embed="rId2"/>
          <a:stretch>
            <a:fillRect/>
          </a:stretch>
        </p:blipFill>
        <p:spPr>
          <a:xfrm>
            <a:off x="7040880" y="2089617"/>
            <a:ext cx="4434840" cy="1947247"/>
          </a:xfrm>
          <a:prstGeom prst="rect">
            <a:avLst/>
          </a:prstGeom>
        </p:spPr>
      </p:pic>
      <p:sp>
        <p:nvSpPr>
          <p:cNvPr id="10" name="Text 5"/>
          <p:cNvSpPr txBox="1"/>
          <p:nvPr/>
        </p:nvSpPr>
        <p:spPr>
          <a:xfrm>
            <a:off x="7040880" y="4892040"/>
            <a:ext cx="4434840" cy="320040"/>
          </a:xfrm>
          <a:prstGeom prst="rect">
            <a:avLst/>
          </a:prstGeom>
          <a:noFill/>
          <a:ln/>
        </p:spPr>
        <p:txBody>
          <a:bodyPr wrap="square" lIns="0" tIns="0" rIns="0" bIns="0" rtlCol="0" anchor="ctr"/>
          <a:lstStyle/>
          <a:p>
            <a:pPr algn="ctr" indent="0" marL="0">
              <a:buNone/>
            </a:pPr>
            <a:r>
              <a:rPr lang="en-US" sz="1200" i="1" dirty="0">
                <a:solidFill>
                  <a:srgbClr val="5A6470"/>
                </a:solidFill>
                <a:latin typeface="Calibri" pitchFamily="34" charset="0"/>
                <a:ea typeface="Calibri" pitchFamily="34" charset="-122"/>
                <a:cs typeface="Calibri" pitchFamily="34" charset="-120"/>
              </a:rPr>
              <a:t>Largest gain at the Mild-Moderate boundary</a:t>
            </a:r>
            <a:endParaRPr lang="en-US" sz="1200" dirty="0"/>
          </a:p>
        </p:txBody>
      </p:sp>
      <p:sp>
        <p:nvSpPr>
          <p:cNvPr id="11" name="Text 6"/>
          <p:cNvSpPr txBox="1"/>
          <p:nvPr/>
        </p:nvSpPr>
        <p:spPr>
          <a:xfrm>
            <a:off x="7040880" y="5303520"/>
            <a:ext cx="4434840" cy="731520"/>
          </a:xfrm>
          <a:prstGeom prst="rect">
            <a:avLst/>
          </a:prstGeom>
          <a:noFill/>
          <a:ln/>
        </p:spPr>
        <p:txBody>
          <a:bodyPr wrap="square" lIns="0" tIns="0" rIns="0" bIns="0" rtlCol="0" anchor="ctr"/>
          <a:lstStyle/>
          <a:p>
            <a:pPr indent="0" marL="0">
              <a:buNone/>
            </a:pPr>
            <a:r>
              <a:rPr lang="en-US" sz="1600" b="1" dirty="0">
                <a:solidFill>
                  <a:srgbClr val="1F4E79"/>
                </a:solidFill>
                <a:latin typeface="Cambria" pitchFamily="34" charset="0"/>
                <a:ea typeface="Cambria" pitchFamily="34" charset="-122"/>
                <a:cs typeface="Cambria" pitchFamily="34" charset="-120"/>
              </a:rPr>
              <a:t>The graph is the larger contributor; topology is complementary.</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B7A4E"/>
          </a:solidFill>
          <a:ln w="12700">
            <a:solidFill>
              <a:srgbClr val="1B7A4E"/>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H2</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H2: a small but robust statistical association</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21</a:t>
            </a:r>
            <a:endParaRPr lang="en-US" sz="1000" dirty="0"/>
          </a:p>
        </p:txBody>
      </p:sp>
      <p:sp>
        <p:nvSpPr>
          <p:cNvPr id="8" name="Text 5"/>
          <p:cNvSpPr txBox="1"/>
          <p:nvPr/>
        </p:nvSpPr>
        <p:spPr>
          <a:xfrm>
            <a:off x="731520" y="1371600"/>
            <a:ext cx="3291840" cy="914400"/>
          </a:xfrm>
          <a:prstGeom prst="rect">
            <a:avLst/>
          </a:prstGeom>
          <a:noFill/>
          <a:ln/>
        </p:spPr>
        <p:txBody>
          <a:bodyPr wrap="square" lIns="0" tIns="0" rIns="0" bIns="0" rtlCol="0" anchor="ctr"/>
          <a:lstStyle/>
          <a:p>
            <a:pPr algn="l" indent="0" marL="0">
              <a:buNone/>
            </a:pPr>
            <a:r>
              <a:rPr lang="en-US" sz="4200" b="1" dirty="0">
                <a:solidFill>
                  <a:srgbClr val="1B7A4E"/>
                </a:solidFill>
                <a:latin typeface="Cambria" pitchFamily="34" charset="0"/>
                <a:ea typeface="Cambria" pitchFamily="34" charset="-122"/>
                <a:cs typeface="Cambria" pitchFamily="34" charset="-120"/>
              </a:rPr>
              <a:t>F = 84.3</a:t>
            </a:r>
            <a:endParaRPr lang="en-US" sz="4200" dirty="0"/>
          </a:p>
        </p:txBody>
      </p:sp>
      <p:sp>
        <p:nvSpPr>
          <p:cNvPr id="9" name="Text 6"/>
          <p:cNvSpPr txBox="1"/>
          <p:nvPr/>
        </p:nvSpPr>
        <p:spPr>
          <a:xfrm>
            <a:off x="731520" y="228600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one-way ANOVA of total H1 persistence across 5 grades; p &lt; 0.001</a:t>
            </a:r>
            <a:endParaRPr lang="en-US" sz="1500" dirty="0"/>
          </a:p>
        </p:txBody>
      </p:sp>
      <p:sp>
        <p:nvSpPr>
          <p:cNvPr id="10" name="Text 7"/>
          <p:cNvSpPr txBox="1"/>
          <p:nvPr/>
        </p:nvSpPr>
        <p:spPr>
          <a:xfrm>
            <a:off x="4343400" y="1371600"/>
            <a:ext cx="3291840" cy="914400"/>
          </a:xfrm>
          <a:prstGeom prst="rect">
            <a:avLst/>
          </a:prstGeom>
          <a:noFill/>
          <a:ln/>
        </p:spPr>
        <p:txBody>
          <a:bodyPr wrap="square" lIns="0" tIns="0" rIns="0" bIns="0" rtlCol="0" anchor="ctr"/>
          <a:lstStyle/>
          <a:p>
            <a:pPr algn="l" indent="0" marL="0">
              <a:buNone/>
            </a:pPr>
            <a:r>
              <a:rPr lang="en-US" sz="4200" b="1" dirty="0">
                <a:solidFill>
                  <a:srgbClr val="A32020"/>
                </a:solidFill>
                <a:latin typeface="Cambria" pitchFamily="34" charset="0"/>
                <a:ea typeface="Cambria" pitchFamily="34" charset="-122"/>
                <a:cs typeface="Cambria" pitchFamily="34" charset="-120"/>
              </a:rPr>
              <a:t>η² ≈ 0.01</a:t>
            </a:r>
            <a:endParaRPr lang="en-US" sz="4200" dirty="0"/>
          </a:p>
        </p:txBody>
      </p:sp>
      <p:sp>
        <p:nvSpPr>
          <p:cNvPr id="11" name="Text 8"/>
          <p:cNvSpPr txBox="1"/>
          <p:nvPr/>
        </p:nvSpPr>
        <p:spPr>
          <a:xfrm>
            <a:off x="4343400" y="228600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grade explains about 1% of the variance: a small effect</a:t>
            </a:r>
            <a:endParaRPr lang="en-US" sz="1500" dirty="0"/>
          </a:p>
        </p:txBody>
      </p:sp>
      <p:sp>
        <p:nvSpPr>
          <p:cNvPr id="12" name="Text 9"/>
          <p:cNvSpPr txBox="1"/>
          <p:nvPr/>
        </p:nvSpPr>
        <p:spPr>
          <a:xfrm>
            <a:off x="7955280" y="1371600"/>
            <a:ext cx="3520440" cy="914400"/>
          </a:xfrm>
          <a:prstGeom prst="rect">
            <a:avLst/>
          </a:prstGeom>
          <a:noFill/>
          <a:ln/>
        </p:spPr>
        <p:txBody>
          <a:bodyPr wrap="square" lIns="0" tIns="0" rIns="0" bIns="0" rtlCol="0" anchor="ctr"/>
          <a:lstStyle/>
          <a:p>
            <a:pPr algn="l" indent="0" marL="0">
              <a:buNone/>
            </a:pPr>
            <a:r>
              <a:rPr lang="en-US" sz="4200" b="1" dirty="0">
                <a:solidFill>
                  <a:srgbClr val="16324F"/>
                </a:solidFill>
                <a:latin typeface="Cambria" pitchFamily="34" charset="0"/>
                <a:ea typeface="Cambria" pitchFamily="34" charset="-122"/>
                <a:cs typeface="Cambria" pitchFamily="34" charset="-120"/>
              </a:rPr>
              <a:t>F ≈ 42</a:t>
            </a:r>
            <a:endParaRPr lang="en-US" sz="4200" dirty="0"/>
          </a:p>
        </p:txBody>
      </p:sp>
      <p:sp>
        <p:nvSpPr>
          <p:cNvPr id="13" name="Text 10"/>
          <p:cNvSpPr txBox="1"/>
          <p:nvPr/>
        </p:nvSpPr>
        <p:spPr>
          <a:xfrm>
            <a:off x="7955280" y="2286000"/>
            <a:ext cx="35204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if the effective sample size were halved (both eyes per patient)</a:t>
            </a:r>
            <a:endParaRPr lang="en-US" sz="1500" dirty="0"/>
          </a:p>
        </p:txBody>
      </p:sp>
      <p:sp>
        <p:nvSpPr>
          <p:cNvPr id="14" name="Shape 11"/>
          <p:cNvSpPr/>
          <p:nvPr/>
        </p:nvSpPr>
        <p:spPr>
          <a:xfrm>
            <a:off x="731520" y="3246120"/>
            <a:ext cx="5257800" cy="2788920"/>
          </a:xfrm>
          <a:prstGeom prst="roundRect">
            <a:avLst>
              <a:gd name="adj" fmla="val 2623"/>
            </a:avLst>
          </a:prstGeom>
          <a:solidFill>
            <a:srgbClr val="D9F0E3"/>
          </a:solidFill>
          <a:ln w="12700">
            <a:solidFill>
              <a:srgbClr val="D9F0E3"/>
            </a:solidFill>
            <a:prstDash val="solid"/>
          </a:ln>
        </p:spPr>
      </p:sp>
      <p:sp>
        <p:nvSpPr>
          <p:cNvPr id="15" name="Text 12"/>
          <p:cNvSpPr txBox="1"/>
          <p:nvPr/>
        </p:nvSpPr>
        <p:spPr>
          <a:xfrm>
            <a:off x="914400" y="3383280"/>
            <a:ext cx="4892040" cy="411480"/>
          </a:xfrm>
          <a:prstGeom prst="rect">
            <a:avLst/>
          </a:prstGeom>
          <a:noFill/>
          <a:ln/>
        </p:spPr>
        <p:txBody>
          <a:bodyPr wrap="square" lIns="0" tIns="0" rIns="0" bIns="0" rtlCol="0" anchor="t"/>
          <a:lstStyle/>
          <a:p>
            <a:pPr indent="0" marL="0">
              <a:buNone/>
            </a:pPr>
            <a:r>
              <a:rPr lang="en-US" sz="1800" b="1" dirty="0">
                <a:solidFill>
                  <a:srgbClr val="1B7A4E"/>
                </a:solidFill>
                <a:latin typeface="Cambria" pitchFamily="34" charset="0"/>
                <a:ea typeface="Cambria" pitchFamily="34" charset="-122"/>
                <a:cs typeface="Cambria" pitchFamily="34" charset="-120"/>
              </a:rPr>
              <a:t>What H2 shows</a:t>
            </a:r>
            <a:endParaRPr lang="en-US" sz="1800" dirty="0"/>
          </a:p>
        </p:txBody>
      </p:sp>
      <p:sp>
        <p:nvSpPr>
          <p:cNvPr id="16" name="Text 13"/>
          <p:cNvSpPr txBox="1"/>
          <p:nvPr/>
        </p:nvSpPr>
        <p:spPr>
          <a:xfrm>
            <a:off x="914400" y="3840480"/>
            <a:ext cx="4892040" cy="21031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A statistical association on 35,126 images</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Monotone increase of H1 persistence with grade</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α = 0.005 &lt; Bonferroni level 0.05/6</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Complementary to visual features (+0.02 QWK)</a:t>
            </a:r>
            <a:endParaRPr lang="en-US" sz="1500" dirty="0"/>
          </a:p>
        </p:txBody>
      </p:sp>
      <p:sp>
        <p:nvSpPr>
          <p:cNvPr id="17" name="Shape 14"/>
          <p:cNvSpPr/>
          <p:nvPr/>
        </p:nvSpPr>
        <p:spPr>
          <a:xfrm>
            <a:off x="6217920" y="3246120"/>
            <a:ext cx="5257800" cy="2788920"/>
          </a:xfrm>
          <a:prstGeom prst="roundRect">
            <a:avLst>
              <a:gd name="adj" fmla="val 2623"/>
            </a:avLst>
          </a:prstGeom>
          <a:solidFill>
            <a:srgbClr val="F8D6D6"/>
          </a:solidFill>
          <a:ln w="12700">
            <a:solidFill>
              <a:srgbClr val="F8D6D6"/>
            </a:solidFill>
            <a:prstDash val="solid"/>
          </a:ln>
        </p:spPr>
      </p:sp>
      <p:sp>
        <p:nvSpPr>
          <p:cNvPr id="18" name="Text 15"/>
          <p:cNvSpPr txBox="1"/>
          <p:nvPr/>
        </p:nvSpPr>
        <p:spPr>
          <a:xfrm>
            <a:off x="6400800" y="3383280"/>
            <a:ext cx="489204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What H2 does not show</a:t>
            </a:r>
            <a:endParaRPr lang="en-US" sz="1800" dirty="0"/>
          </a:p>
        </p:txBody>
      </p:sp>
      <p:sp>
        <p:nvSpPr>
          <p:cNvPr id="19" name="Text 16"/>
          <p:cNvSpPr txBox="1"/>
          <p:nvPr/>
        </p:nvSpPr>
        <p:spPr>
          <a:xfrm>
            <a:off x="6400800" y="3840480"/>
            <a:ext cx="4892040" cy="21031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No causality, no demonstrated biological meaning</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Not a biomarker: "severity-associated topological feature"</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Link with neovascularisation plausible, not verified</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Tested on Kaggle DR only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F4E79"/>
          </a:solidFill>
          <a:ln w="12700">
            <a:solidFill>
              <a:srgbClr val="1F4E79"/>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TOPORET: threats to validity, stated openly</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731520" y="1325880"/>
            <a:ext cx="5257800" cy="1874520"/>
          </a:xfrm>
          <a:prstGeom prst="roundRect">
            <a:avLst>
              <a:gd name="adj" fmla="val 3902"/>
            </a:avLst>
          </a:prstGeom>
          <a:solidFill>
            <a:srgbClr val="F3F5F8"/>
          </a:solidFill>
          <a:ln w="12700">
            <a:solidFill>
              <a:srgbClr val="F3F5F8"/>
            </a:solidFill>
            <a:prstDash val="solid"/>
          </a:ln>
        </p:spPr>
      </p:sp>
      <p:sp>
        <p:nvSpPr>
          <p:cNvPr id="9" name="Text 6"/>
          <p:cNvSpPr txBox="1"/>
          <p:nvPr/>
        </p:nvSpPr>
        <p:spPr>
          <a:xfrm>
            <a:off x="914400" y="1463040"/>
            <a:ext cx="4892040" cy="41148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Internal validity</a:t>
            </a:r>
            <a:endParaRPr lang="en-US" sz="1800" dirty="0"/>
          </a:p>
        </p:txBody>
      </p:sp>
      <p:sp>
        <p:nvSpPr>
          <p:cNvPr id="10" name="Text 7"/>
          <p:cNvSpPr txBox="1"/>
          <p:nvPr/>
        </p:nvSpPr>
        <p:spPr>
          <a:xfrm>
            <a:off x="914400" y="1920240"/>
            <a:ext cx="489204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Transductive protocol: test images are unlabelled nodes; not a strictly inductive, patient-independent evaluation.</a:t>
            </a:r>
            <a:endParaRPr lang="en-US" sz="1500" dirty="0"/>
          </a:p>
        </p:txBody>
      </p:sp>
      <p:sp>
        <p:nvSpPr>
          <p:cNvPr id="11" name="Shape 8"/>
          <p:cNvSpPr/>
          <p:nvPr/>
        </p:nvSpPr>
        <p:spPr>
          <a:xfrm>
            <a:off x="6217920" y="1325880"/>
            <a:ext cx="5257800" cy="1874520"/>
          </a:xfrm>
          <a:prstGeom prst="roundRect">
            <a:avLst>
              <a:gd name="adj" fmla="val 3902"/>
            </a:avLst>
          </a:prstGeom>
          <a:solidFill>
            <a:srgbClr val="F3F5F8"/>
          </a:solidFill>
          <a:ln w="12700">
            <a:solidFill>
              <a:srgbClr val="F3F5F8"/>
            </a:solidFill>
            <a:prstDash val="solid"/>
          </a:ln>
        </p:spPr>
      </p:sp>
      <p:sp>
        <p:nvSpPr>
          <p:cNvPr id="12" name="Text 9"/>
          <p:cNvSpPr txBox="1"/>
          <p:nvPr/>
        </p:nvSpPr>
        <p:spPr>
          <a:xfrm>
            <a:off x="6400800" y="1463040"/>
            <a:ext cx="4892040" cy="41148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Statistical validity</a:t>
            </a:r>
            <a:endParaRPr lang="en-US" sz="1800" dirty="0"/>
          </a:p>
        </p:txBody>
      </p:sp>
      <p:sp>
        <p:nvSpPr>
          <p:cNvPr id="13" name="Text 10"/>
          <p:cNvSpPr txBox="1"/>
          <p:nvPr/>
        </p:nvSpPr>
        <p:spPr>
          <a:xfrm>
            <a:off x="6400800" y="1920240"/>
            <a:ext cx="489204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Five folds, one seed: four degrees of freedom; corrected significance only for the three benchmarks combined.</a:t>
            </a:r>
            <a:endParaRPr lang="en-US" sz="1500" dirty="0"/>
          </a:p>
        </p:txBody>
      </p:sp>
      <p:sp>
        <p:nvSpPr>
          <p:cNvPr id="14" name="Shape 11"/>
          <p:cNvSpPr/>
          <p:nvPr/>
        </p:nvSpPr>
        <p:spPr>
          <a:xfrm>
            <a:off x="731520" y="3383280"/>
            <a:ext cx="5257800" cy="1874520"/>
          </a:xfrm>
          <a:prstGeom prst="roundRect">
            <a:avLst>
              <a:gd name="adj" fmla="val 3902"/>
            </a:avLst>
          </a:prstGeom>
          <a:solidFill>
            <a:srgbClr val="F3F5F8"/>
          </a:solidFill>
          <a:ln w="12700">
            <a:solidFill>
              <a:srgbClr val="F3F5F8"/>
            </a:solidFill>
            <a:prstDash val="solid"/>
          </a:ln>
        </p:spPr>
      </p:sp>
      <p:sp>
        <p:nvSpPr>
          <p:cNvPr id="15" name="Text 12"/>
          <p:cNvSpPr txBox="1"/>
          <p:nvPr/>
        </p:nvSpPr>
        <p:spPr>
          <a:xfrm>
            <a:off x="914400" y="3520440"/>
            <a:ext cx="4892040" cy="41148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External validity</a:t>
            </a:r>
            <a:endParaRPr lang="en-US" sz="1800" dirty="0"/>
          </a:p>
        </p:txBody>
      </p:sp>
      <p:sp>
        <p:nvSpPr>
          <p:cNvPr id="16" name="Text 13"/>
          <p:cNvSpPr txBox="1"/>
          <p:nvPr/>
        </p:nvSpPr>
        <p:spPr>
          <a:xfrm>
            <a:off x="914400" y="3977640"/>
            <a:ext cx="489204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Both eyes in Kaggle DR and Messidor-2: possible fellow-eye information. Gain also on APTOS (one image per patient).</a:t>
            </a:r>
            <a:endParaRPr lang="en-US" sz="1500" dirty="0"/>
          </a:p>
        </p:txBody>
      </p:sp>
      <p:sp>
        <p:nvSpPr>
          <p:cNvPr id="17" name="Shape 14"/>
          <p:cNvSpPr/>
          <p:nvPr/>
        </p:nvSpPr>
        <p:spPr>
          <a:xfrm>
            <a:off x="6217920" y="3383280"/>
            <a:ext cx="5257800" cy="1874520"/>
          </a:xfrm>
          <a:prstGeom prst="roundRect">
            <a:avLst>
              <a:gd name="adj" fmla="val 3902"/>
            </a:avLst>
          </a:prstGeom>
          <a:solidFill>
            <a:srgbClr val="F3F5F8"/>
          </a:solidFill>
          <a:ln w="12700">
            <a:solidFill>
              <a:srgbClr val="F3F5F8"/>
            </a:solidFill>
            <a:prstDash val="solid"/>
          </a:ln>
        </p:spPr>
      </p:sp>
      <p:sp>
        <p:nvSpPr>
          <p:cNvPr id="18" name="Text 15"/>
          <p:cNvSpPr txBox="1"/>
          <p:nvPr/>
        </p:nvSpPr>
        <p:spPr>
          <a:xfrm>
            <a:off x="6400800" y="3520440"/>
            <a:ext cx="4892040" cy="411480"/>
          </a:xfrm>
          <a:prstGeom prst="rect">
            <a:avLst/>
          </a:prstGeom>
          <a:noFill/>
          <a:ln/>
        </p:spPr>
        <p:txBody>
          <a:bodyPr wrap="square" lIns="0" tIns="0" rIns="0" bIns="0" rtlCol="0" anchor="t"/>
          <a:lstStyle/>
          <a:p>
            <a:pPr indent="0" marL="0">
              <a:buNone/>
            </a:pPr>
            <a:r>
              <a:rPr lang="en-US" sz="1800" b="1" dirty="0">
                <a:solidFill>
                  <a:srgbClr val="1F4E79"/>
                </a:solidFill>
                <a:latin typeface="Cambria" pitchFamily="34" charset="0"/>
                <a:ea typeface="Cambria" pitchFamily="34" charset="-122"/>
                <a:cs typeface="Cambria" pitchFamily="34" charset="-120"/>
              </a:rPr>
              <a:t>Clinical validity</a:t>
            </a:r>
            <a:endParaRPr lang="en-US" sz="1800" dirty="0"/>
          </a:p>
        </p:txBody>
      </p:sp>
      <p:sp>
        <p:nvSpPr>
          <p:cNvPr id="19" name="Text 16"/>
          <p:cNvSpPr txBox="1"/>
          <p:nvPr/>
        </p:nvSpPr>
        <p:spPr>
          <a:xfrm>
            <a:off x="6400800" y="3977640"/>
            <a:ext cx="4892040" cy="11887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Retrospective public data only; no reader study, no prospective evaluation.</a:t>
            </a:r>
            <a:endParaRPr lang="en-US" sz="1500" dirty="0"/>
          </a:p>
        </p:txBody>
      </p:sp>
      <p:sp>
        <p:nvSpPr>
          <p:cNvPr id="20" name="Text 17"/>
          <p:cNvSpPr txBox="1"/>
          <p:nvPr/>
        </p:nvSpPr>
        <p:spPr>
          <a:xfrm>
            <a:off x="731520" y="5532120"/>
            <a:ext cx="10744200" cy="502920"/>
          </a:xfrm>
          <a:prstGeom prst="rect">
            <a:avLst/>
          </a:prstGeom>
          <a:noFill/>
          <a:ln/>
        </p:spPr>
        <p:txBody>
          <a:bodyPr wrap="square" lIns="0" tIns="0" rIns="0" bIns="0" rtlCol="0" anchor="ctr"/>
          <a:lstStyle/>
          <a:p>
            <a:pPr indent="0" marL="0">
              <a:buNone/>
            </a:pPr>
            <a:r>
              <a:rPr lang="en-US" sz="1600" i="1" dirty="0">
                <a:solidFill>
                  <a:srgbClr val="16324F"/>
                </a:solidFill>
                <a:latin typeface="Cambria" pitchFamily="34" charset="0"/>
                <a:ea typeface="Cambria" pitchFamily="34" charset="-122"/>
                <a:cs typeface="Cambria" pitchFamily="34" charset="-120"/>
              </a:rPr>
              <a:t>Answer in the thesis: inductive evidence from DGTS; patient-level re-evaluation is the first perspective.</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6B3D8C"/>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5</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DGTS and DOTS</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Inductive graph learning and ordinal, safety-oriented grading (Chapter 5)</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Two systems on one multi-source corpus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24</a:t>
            </a:r>
            <a:endParaRPr lang="en-US" sz="1000" dirty="0"/>
          </a:p>
        </p:txBody>
      </p:sp>
      <p:pic>
        <p:nvPicPr>
          <p:cNvPr id="8" name="Image 0" descr="/tmp/claude-0/-home-user-SRT26/618f6450-ab76-51da-ba52-60090a9566a0/scratchpad/deckfig/fig_dots.png">    </p:cNvPr>
          <p:cNvPicPr>
            <a:picLocks noChangeAspect="1"/>
          </p:cNvPicPr>
          <p:nvPr/>
        </p:nvPicPr>
        <p:blipFill>
          <a:blip r:embed="rId1"/>
          <a:stretch>
            <a:fillRect/>
          </a:stretch>
        </p:blipFill>
        <p:spPr>
          <a:xfrm>
            <a:off x="731520" y="1335845"/>
            <a:ext cx="6766560" cy="2906151"/>
          </a:xfrm>
          <a:prstGeom prst="rect">
            <a:avLst/>
          </a:prstGeom>
        </p:spPr>
      </p:pic>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0" y="1325880"/>
          <a:ext cx="3703320" cy="914400"/>
        </p:xfrm>
        <a:graphic>
          <a:graphicData uri="http://schemas.openxmlformats.org/drawingml/2006/table">
            <a:tbl>
              <a:tblPr/>
              <a:tblGrid>
                <a:gridCol w="1645920"/>
                <a:gridCol w="868680"/>
                <a:gridCol w="11887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Images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APTOS 2019 (India)</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3,662</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Training</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KaggleDR-F1</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2,197</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Training</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384048">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Fused corpus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5,859</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5-fold CV, seed 42</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EyePACS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35,126</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External (DGTS)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Messidor-2 (France)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1,744</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External (DOTS)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0" name="Shape 5"/>
          <p:cNvSpPr/>
          <p:nvPr/>
        </p:nvSpPr>
        <p:spPr>
          <a:xfrm>
            <a:off x="731520" y="4526280"/>
            <a:ext cx="10744200" cy="1554480"/>
          </a:xfrm>
          <a:prstGeom prst="roundRect">
            <a:avLst>
              <a:gd name="adj" fmla="val 4706"/>
            </a:avLst>
          </a:prstGeom>
          <a:solidFill>
            <a:srgbClr val="F8D6D6"/>
          </a:solidFill>
          <a:ln w="12700">
            <a:solidFill>
              <a:srgbClr val="F8D6D6"/>
            </a:solidFill>
            <a:prstDash val="solid"/>
          </a:ln>
        </p:spPr>
      </p:sp>
      <p:sp>
        <p:nvSpPr>
          <p:cNvPr id="11" name="Text 6"/>
          <p:cNvSpPr txBox="1"/>
          <p:nvPr/>
        </p:nvSpPr>
        <p:spPr>
          <a:xfrm>
            <a:off x="914400" y="4663440"/>
            <a:ext cx="1037844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Dataset provenance and independence</a:t>
            </a:r>
            <a:endParaRPr lang="en-US" sz="1800" dirty="0"/>
          </a:p>
        </p:txBody>
      </p:sp>
      <p:sp>
        <p:nvSpPr>
          <p:cNvPr id="12" name="Text 7"/>
          <p:cNvSpPr txBox="1"/>
          <p:nvPr/>
        </p:nvSpPr>
        <p:spPr>
          <a:xfrm>
            <a:off x="914400" y="5120640"/>
            <a:ext cx="10378440" cy="86868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KaggleDR-F1 has exactly 60% of the APTOS count in every grade: overlap not excluded. Cross-validation = internal multi-source evidence; the external evaluations carry the greater weight.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B7A4E"/>
          </a:solidFill>
          <a:ln w="12700">
            <a:solidFill>
              <a:srgbClr val="1B7A4E"/>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DGTS: an inductive, topology-regularised graph</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25</a:t>
            </a:r>
            <a:endParaRPr lang="en-US" sz="1000" dirty="0"/>
          </a:p>
        </p:txBody>
      </p:sp>
      <p:graphicFrame>
        <p:nvGraphicFramePr>
          <p:cNvPr id="8" name="Chart 0" descr=""/>
          <p:cNvGraphicFramePr/>
          <p:nvPr/>
        </p:nvGraphicFramePr>
        <p:xfrm>
          <a:off x="731520" y="1280160"/>
          <a:ext cx="6675120" cy="48006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680960" y="1325880"/>
            <a:ext cx="3794760" cy="2514600"/>
          </a:xfrm>
          <a:prstGeom prst="roundRect">
            <a:avLst>
              <a:gd name="adj" fmla="val 2909"/>
            </a:avLst>
          </a:prstGeom>
          <a:solidFill>
            <a:srgbClr val="D9F0E3"/>
          </a:solidFill>
          <a:ln w="12700">
            <a:solidFill>
              <a:srgbClr val="D9F0E3"/>
            </a:solidFill>
            <a:prstDash val="solid"/>
          </a:ln>
        </p:spPr>
      </p:sp>
      <p:sp>
        <p:nvSpPr>
          <p:cNvPr id="10" name="Text 6"/>
          <p:cNvSpPr txBox="1"/>
          <p:nvPr/>
        </p:nvSpPr>
        <p:spPr>
          <a:xfrm>
            <a:off x="7863840" y="1463040"/>
            <a:ext cx="3429000" cy="411480"/>
          </a:xfrm>
          <a:prstGeom prst="rect">
            <a:avLst/>
          </a:prstGeom>
          <a:noFill/>
          <a:ln/>
        </p:spPr>
        <p:txBody>
          <a:bodyPr wrap="square" lIns="0" tIns="0" rIns="0" bIns="0" rtlCol="0" anchor="t"/>
          <a:lstStyle/>
          <a:p>
            <a:pPr indent="0" marL="0">
              <a:buNone/>
            </a:pPr>
            <a:r>
              <a:rPr lang="en-US" sz="1800" b="1" dirty="0">
                <a:solidFill>
                  <a:srgbClr val="1B7A4E"/>
                </a:solidFill>
                <a:latin typeface="Cambria" pitchFamily="34" charset="0"/>
                <a:ea typeface="Cambria" pitchFamily="34" charset="-122"/>
                <a:cs typeface="Cambria" pitchFamily="34" charset="-120"/>
              </a:rPr>
              <a:t>Architecture</a:t>
            </a:r>
            <a:endParaRPr lang="en-US" sz="1800" dirty="0"/>
          </a:p>
        </p:txBody>
      </p:sp>
      <p:sp>
        <p:nvSpPr>
          <p:cNvPr id="11" name="Text 7"/>
          <p:cNvSpPr txBox="1"/>
          <p:nvPr/>
        </p:nvSpPr>
        <p:spPr>
          <a:xfrm>
            <a:off x="7863840" y="1920240"/>
            <a:ext cx="3429000" cy="182880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EfficientNet-B4 (frozen)</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Cosine k-NN graph, k = 8, training fold only</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GraphSAGE 1792 → 512 → 256</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PH of neighbourhoods: training-time regulariser</a:t>
            </a:r>
            <a:endParaRPr lang="en-US" sz="1300" dirty="0"/>
          </a:p>
        </p:txBody>
      </p:sp>
      <p:sp>
        <p:nvSpPr>
          <p:cNvPr id="12" name="Shape 8"/>
          <p:cNvSpPr/>
          <p:nvPr/>
        </p:nvSpPr>
        <p:spPr>
          <a:xfrm>
            <a:off x="7680960" y="4023360"/>
            <a:ext cx="3794760" cy="2057400"/>
          </a:xfrm>
          <a:prstGeom prst="roundRect">
            <a:avLst>
              <a:gd name="adj" fmla="val 3556"/>
            </a:avLst>
          </a:prstGeom>
          <a:solidFill>
            <a:srgbClr val="F3F5F8"/>
          </a:solidFill>
          <a:ln w="12700">
            <a:solidFill>
              <a:srgbClr val="F3F5F8"/>
            </a:solidFill>
            <a:prstDash val="solid"/>
          </a:ln>
        </p:spPr>
      </p:sp>
      <p:sp>
        <p:nvSpPr>
          <p:cNvPr id="13" name="Text 9"/>
          <p:cNvSpPr txBox="1"/>
          <p:nvPr/>
        </p:nvSpPr>
        <p:spPr>
          <a:xfrm>
            <a:off x="7863840" y="4160520"/>
            <a:ext cx="3429000" cy="411480"/>
          </a:xfrm>
          <a:prstGeom prst="rect">
            <a:avLst/>
          </a:prstGeom>
          <a:noFill/>
          <a:ln/>
        </p:spPr>
        <p:txBody>
          <a:bodyPr wrap="square" lIns="0" tIns="0" rIns="0" bIns="0" rtlCol="0" anchor="t"/>
          <a:lstStyle/>
          <a:p>
            <a:pPr indent="0" marL="0">
              <a:buNone/>
            </a:pPr>
            <a:r>
              <a:rPr lang="en-US" sz="1800" b="1" dirty="0">
                <a:solidFill>
                  <a:srgbClr val="1B7A4E"/>
                </a:solidFill>
                <a:latin typeface="Cambria" pitchFamily="34" charset="0"/>
                <a:ea typeface="Cambria" pitchFamily="34" charset="-122"/>
                <a:cs typeface="Cambria" pitchFamily="34" charset="-120"/>
              </a:rPr>
              <a:t>Key facts</a:t>
            </a:r>
            <a:endParaRPr lang="en-US" sz="1800" dirty="0"/>
          </a:p>
        </p:txBody>
      </p:sp>
      <p:sp>
        <p:nvSpPr>
          <p:cNvPr id="14" name="Text 10"/>
          <p:cNvSpPr txBox="1"/>
          <p:nvPr/>
        </p:nvSpPr>
        <p:spPr>
          <a:xfrm>
            <a:off x="7863840" y="4617720"/>
            <a:ext cx="3429000" cy="137160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Graph +0.018, PH +0.030 QWK</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At inference the PH input is zero</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Feature-space, not vascular, topology</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B7A4E"/>
          </a:solidFill>
          <a:ln w="12700">
            <a:solidFill>
              <a:srgbClr val="1B7A4E"/>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DGTS on external data: accuracy is not safety</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26</a:t>
            </a:r>
            <a:endParaRPr lang="en-US" sz="1000" dirty="0"/>
          </a:p>
        </p:txBody>
      </p:sp>
      <p:sp>
        <p:nvSpPr>
          <p:cNvPr id="8" name="Text 5"/>
          <p:cNvSpPr txBox="1"/>
          <p:nvPr/>
        </p:nvSpPr>
        <p:spPr>
          <a:xfrm>
            <a:off x="731520" y="1463040"/>
            <a:ext cx="3291840" cy="914400"/>
          </a:xfrm>
          <a:prstGeom prst="rect">
            <a:avLst/>
          </a:prstGeom>
          <a:noFill/>
          <a:ln/>
        </p:spPr>
        <p:txBody>
          <a:bodyPr wrap="square" lIns="0" tIns="0" rIns="0" bIns="0" rtlCol="0" anchor="ctr"/>
          <a:lstStyle/>
          <a:p>
            <a:pPr algn="l" indent="0" marL="0">
              <a:buNone/>
            </a:pPr>
            <a:r>
              <a:rPr lang="en-US" sz="5000" b="1" dirty="0">
                <a:solidFill>
                  <a:srgbClr val="1B7A4E"/>
                </a:solidFill>
                <a:latin typeface="Cambria" pitchFamily="34" charset="0"/>
                <a:ea typeface="Cambria" pitchFamily="34" charset="-122"/>
                <a:cs typeface="Cambria" pitchFamily="34" charset="-120"/>
              </a:rPr>
              <a:t>0.941</a:t>
            </a:r>
            <a:endParaRPr lang="en-US" sz="5000" dirty="0"/>
          </a:p>
        </p:txBody>
      </p:sp>
      <p:sp>
        <p:nvSpPr>
          <p:cNvPr id="9" name="Text 6"/>
          <p:cNvSpPr txBox="1"/>
          <p:nvPr/>
        </p:nvSpPr>
        <p:spPr>
          <a:xfrm>
            <a:off x="73152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QWK, five-fold cross-validation (±0.008)</a:t>
            </a:r>
            <a:endParaRPr lang="en-US" sz="1500" dirty="0"/>
          </a:p>
        </p:txBody>
      </p:sp>
      <p:sp>
        <p:nvSpPr>
          <p:cNvPr id="10" name="Text 7"/>
          <p:cNvSpPr txBox="1"/>
          <p:nvPr/>
        </p:nvSpPr>
        <p:spPr>
          <a:xfrm>
            <a:off x="4343400" y="1463040"/>
            <a:ext cx="3291840" cy="914400"/>
          </a:xfrm>
          <a:prstGeom prst="rect">
            <a:avLst/>
          </a:prstGeom>
          <a:noFill/>
          <a:ln/>
        </p:spPr>
        <p:txBody>
          <a:bodyPr wrap="square" lIns="0" tIns="0" rIns="0" bIns="0" rtlCol="0" anchor="ctr"/>
          <a:lstStyle/>
          <a:p>
            <a:pPr algn="l" indent="0" marL="0">
              <a:buNone/>
            </a:pPr>
            <a:r>
              <a:rPr lang="en-US" sz="5000" b="1" dirty="0">
                <a:solidFill>
                  <a:srgbClr val="1B7A4E"/>
                </a:solidFill>
                <a:latin typeface="Cambria" pitchFamily="34" charset="0"/>
                <a:ea typeface="Cambria" pitchFamily="34" charset="-122"/>
                <a:cs typeface="Cambria" pitchFamily="34" charset="-120"/>
              </a:rPr>
              <a:t>0.925</a:t>
            </a:r>
            <a:endParaRPr lang="en-US" sz="5000" dirty="0"/>
          </a:p>
        </p:txBody>
      </p:sp>
      <p:sp>
        <p:nvSpPr>
          <p:cNvPr id="11" name="Text 8"/>
          <p:cNvSpPr txBox="1"/>
          <p:nvPr/>
        </p:nvSpPr>
        <p:spPr>
          <a:xfrm>
            <a:off x="434340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QWK zero-shot on 35,126 EyePACS images (−0.016)</a:t>
            </a:r>
            <a:endParaRPr lang="en-US" sz="1500" dirty="0"/>
          </a:p>
        </p:txBody>
      </p:sp>
      <p:sp>
        <p:nvSpPr>
          <p:cNvPr id="12" name="Text 9"/>
          <p:cNvSpPr txBox="1"/>
          <p:nvPr/>
        </p:nvSpPr>
        <p:spPr>
          <a:xfrm>
            <a:off x="7955280" y="1463040"/>
            <a:ext cx="3520440" cy="914400"/>
          </a:xfrm>
          <a:prstGeom prst="rect">
            <a:avLst/>
          </a:prstGeom>
          <a:noFill/>
          <a:ln/>
        </p:spPr>
        <p:txBody>
          <a:bodyPr wrap="square" lIns="0" tIns="0" rIns="0" bIns="0" rtlCol="0" anchor="ctr"/>
          <a:lstStyle/>
          <a:p>
            <a:pPr algn="l" indent="0" marL="0">
              <a:buNone/>
            </a:pPr>
            <a:r>
              <a:rPr lang="en-US" sz="5000" b="1" dirty="0">
                <a:solidFill>
                  <a:srgbClr val="A32020"/>
                </a:solidFill>
                <a:latin typeface="Cambria" pitchFamily="34" charset="0"/>
                <a:ea typeface="Cambria" pitchFamily="34" charset="-122"/>
                <a:cs typeface="Cambria" pitchFamily="34" charset="-120"/>
              </a:rPr>
              <a:t>≈ 2.1%</a:t>
            </a:r>
            <a:endParaRPr lang="en-US" sz="5000" dirty="0"/>
          </a:p>
        </p:txBody>
      </p:sp>
      <p:sp>
        <p:nvSpPr>
          <p:cNvPr id="13" name="Text 10"/>
          <p:cNvSpPr txBox="1"/>
          <p:nvPr/>
        </p:nvSpPr>
        <p:spPr>
          <a:xfrm>
            <a:off x="7955280" y="2377440"/>
            <a:ext cx="35204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Sev-NR on EyePACS: slightly above the 2% target</a:t>
            </a:r>
            <a:endParaRPr lang="en-US" sz="1500" dirty="0"/>
          </a:p>
        </p:txBody>
      </p:sp>
      <p:sp>
        <p:nvSpPr>
          <p:cNvPr id="14" name="Shape 11"/>
          <p:cNvSpPr/>
          <p:nvPr/>
        </p:nvSpPr>
        <p:spPr>
          <a:xfrm>
            <a:off x="731520" y="3566160"/>
            <a:ext cx="10744200" cy="1463040"/>
          </a:xfrm>
          <a:prstGeom prst="roundRect">
            <a:avLst>
              <a:gd name="adj" fmla="val 5000"/>
            </a:avLst>
          </a:prstGeom>
          <a:solidFill>
            <a:srgbClr val="F8D6D6"/>
          </a:solidFill>
          <a:ln w="12700">
            <a:solidFill>
              <a:srgbClr val="F8D6D6"/>
            </a:solidFill>
            <a:prstDash val="solid"/>
          </a:ln>
        </p:spPr>
      </p:sp>
      <p:sp>
        <p:nvSpPr>
          <p:cNvPr id="15" name="Text 12"/>
          <p:cNvSpPr txBox="1"/>
          <p:nvPr/>
        </p:nvSpPr>
        <p:spPr>
          <a:xfrm>
            <a:off x="914400" y="3703320"/>
            <a:ext cx="1037844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Lesson</a:t>
            </a:r>
            <a:endParaRPr lang="en-US" sz="1800" dirty="0"/>
          </a:p>
        </p:txBody>
      </p:sp>
      <p:sp>
        <p:nvSpPr>
          <p:cNvPr id="16" name="Text 13"/>
          <p:cNvSpPr txBox="1"/>
          <p:nvPr/>
        </p:nvSpPr>
        <p:spPr>
          <a:xfrm>
            <a:off x="914400" y="4160520"/>
            <a:ext cx="10378440" cy="77724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Good generalisation in QWK does not by itself guarantee the safety criterion: accuracy and safety must be measured separately. This motivates DOTS.</a:t>
            </a:r>
            <a:endParaRPr lang="en-US" sz="1700" dirty="0"/>
          </a:p>
        </p:txBody>
      </p:sp>
      <p:sp>
        <p:nvSpPr>
          <p:cNvPr id="17" name="Text 14"/>
          <p:cNvSpPr txBox="1"/>
          <p:nvPr/>
        </p:nvSpPr>
        <p:spPr>
          <a:xfrm>
            <a:off x="731520" y="5349240"/>
            <a:ext cx="10744200" cy="457200"/>
          </a:xfrm>
          <a:prstGeom prst="rect">
            <a:avLst/>
          </a:prstGeom>
          <a:noFill/>
          <a:ln/>
        </p:spPr>
        <p:txBody>
          <a:bodyPr wrap="square" lIns="0" tIns="0" rIns="0" bIns="0" rtlCol="0" anchor="ctr"/>
          <a:lstStyle/>
          <a:p>
            <a:pPr indent="0" marL="0">
              <a:buNone/>
            </a:pPr>
            <a:r>
              <a:rPr lang="en-US" sz="1500" i="1" dirty="0">
                <a:solidFill>
                  <a:srgbClr val="5A6470"/>
                </a:solidFill>
                <a:latin typeface="Calibri" pitchFamily="34" charset="0"/>
                <a:ea typeface="Calibri" pitchFamily="34" charset="-122"/>
                <a:cs typeface="Calibri" pitchFamily="34" charset="-120"/>
              </a:rPr>
              <a:t>Inference: 18.3 ms per image on one T4 GPU (14.1 ms for EfficientNet-B4 alone).</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Screening-oriented targets of H3</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744200" cy="914400"/>
        </p:xfrm>
        <a:graphic>
          <a:graphicData uri="http://schemas.openxmlformats.org/drawingml/2006/table">
            <a:tbl>
              <a:tblPr/>
              <a:tblGrid>
                <a:gridCol w="3931920"/>
                <a:gridCol w="1645920"/>
                <a:gridCol w="5166360"/>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Criterion</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Threshold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Rationale</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r>
              <a:tr h="50292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Quadratic weighted kappa (QWK)</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0.80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Substantial agreement with the reference grades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Severe non-referral rate (Sev-NR)</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2%</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Missed urgent referrals, Grade 3</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50292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PDR non-referral rate (PDR-NR)</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2%</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Missed urgent referrals, Grade 4</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Grade 0↔4 confusions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Catastrophic ordinal errors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bl>
          </a:graphicData>
        </a:graphic>
      </p:graphicFrame>
      <p:sp>
        <p:nvSpPr>
          <p:cNvPr id="9" name="Shape 5"/>
          <p:cNvSpPr/>
          <p:nvPr/>
        </p:nvSpPr>
        <p:spPr>
          <a:xfrm>
            <a:off x="731520" y="4160520"/>
            <a:ext cx="5257800" cy="1874520"/>
          </a:xfrm>
          <a:prstGeom prst="roundRect">
            <a:avLst>
              <a:gd name="adj" fmla="val 3902"/>
            </a:avLst>
          </a:prstGeom>
          <a:solidFill>
            <a:srgbClr val="EADCF3"/>
          </a:solidFill>
          <a:ln w="12700">
            <a:solidFill>
              <a:srgbClr val="EADCF3"/>
            </a:solidFill>
            <a:prstDash val="solid"/>
          </a:ln>
        </p:spPr>
      </p:sp>
      <p:sp>
        <p:nvSpPr>
          <p:cNvPr id="10" name="Text 6"/>
          <p:cNvSpPr txBox="1"/>
          <p:nvPr/>
        </p:nvSpPr>
        <p:spPr>
          <a:xfrm>
            <a:off x="914400" y="4297680"/>
            <a:ext cx="4892040" cy="411480"/>
          </a:xfrm>
          <a:prstGeom prst="rect">
            <a:avLst/>
          </a:prstGeom>
          <a:noFill/>
          <a:ln/>
        </p:spPr>
        <p:txBody>
          <a:bodyPr wrap="square" lIns="0" tIns="0" rIns="0" bIns="0" rtlCol="0" anchor="t"/>
          <a:lstStyle/>
          <a:p>
            <a:pPr indent="0" marL="0">
              <a:buNone/>
            </a:pPr>
            <a:r>
              <a:rPr lang="en-US" sz="1800" b="1" dirty="0">
                <a:solidFill>
                  <a:srgbClr val="6B3D8C"/>
                </a:solidFill>
                <a:latin typeface="Cambria" pitchFamily="34" charset="0"/>
                <a:ea typeface="Cambria" pitchFamily="34" charset="-122"/>
                <a:cs typeface="Cambria" pitchFamily="34" charset="-120"/>
              </a:rPr>
              <a:t>Where they come from</a:t>
            </a:r>
            <a:endParaRPr lang="en-US" sz="1800" dirty="0"/>
          </a:p>
        </p:txBody>
      </p:sp>
      <p:sp>
        <p:nvSpPr>
          <p:cNvPr id="11" name="Text 7"/>
          <p:cNvSpPr txBox="1"/>
          <p:nvPr/>
        </p:nvSpPr>
        <p:spPr>
          <a:xfrm>
            <a:off x="914400" y="4754880"/>
            <a:ext cx="4892040" cy="11887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DOTS article; informed by the autonomous-AI pivotal trial and national screening programmes</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Evaluation targets, not regulatory thresholds</a:t>
            </a:r>
            <a:endParaRPr lang="en-US" sz="1400" dirty="0"/>
          </a:p>
        </p:txBody>
      </p:sp>
      <p:sp>
        <p:nvSpPr>
          <p:cNvPr id="12" name="Shape 8"/>
          <p:cNvSpPr/>
          <p:nvPr/>
        </p:nvSpPr>
        <p:spPr>
          <a:xfrm>
            <a:off x="6217920" y="4160520"/>
            <a:ext cx="5257800" cy="1874520"/>
          </a:xfrm>
          <a:prstGeom prst="roundRect">
            <a:avLst>
              <a:gd name="adj" fmla="val 3902"/>
            </a:avLst>
          </a:prstGeom>
          <a:solidFill>
            <a:srgbClr val="F8D6D6"/>
          </a:solidFill>
          <a:ln w="12700">
            <a:solidFill>
              <a:srgbClr val="F8D6D6"/>
            </a:solidFill>
            <a:prstDash val="solid"/>
          </a:ln>
        </p:spPr>
      </p:sp>
      <p:sp>
        <p:nvSpPr>
          <p:cNvPr id="13" name="Text 9"/>
          <p:cNvSpPr txBox="1"/>
          <p:nvPr/>
        </p:nvSpPr>
        <p:spPr>
          <a:xfrm>
            <a:off x="6400800" y="4297680"/>
            <a:ext cx="489204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Definition, stated explicitly</a:t>
            </a:r>
            <a:endParaRPr lang="en-US" sz="1800" dirty="0"/>
          </a:p>
        </p:txBody>
      </p:sp>
      <p:sp>
        <p:nvSpPr>
          <p:cNvPr id="14" name="Text 10"/>
          <p:cNvSpPr txBox="1"/>
          <p:nvPr/>
        </p:nvSpPr>
        <p:spPr>
          <a:xfrm>
            <a:off x="6400800" y="4754880"/>
            <a:ext cx="4892040" cy="118872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Severe predicted as Moderate counts as referred</a:t>
            </a:r>
            <a:endParaRPr lang="en-US" sz="1400" dirty="0"/>
          </a:p>
          <a:p>
            <a:pPr marL="342900" indent="-3429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 stricter definition (≥ Grade 3) would give higher rates</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DOTS: ordinal, safety-oriented grading</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28</a:t>
            </a:r>
            <a:endParaRPr lang="en-US" sz="1000" dirty="0"/>
          </a:p>
        </p:txBody>
      </p:sp>
      <p:graphicFrame>
        <p:nvGraphicFramePr>
          <p:cNvPr id="8" name="Chart 0" descr=""/>
          <p:cNvGraphicFramePr/>
          <p:nvPr/>
        </p:nvGraphicFramePr>
        <p:xfrm>
          <a:off x="731520" y="1280160"/>
          <a:ext cx="6675120" cy="4800600"/>
        </p:xfrm>
        <a:graphic xmlns:a="http://schemas.openxmlformats.org/drawingml/2006/main">
          <a:graphicData uri="http://schemas.openxmlformats.org/drawingml/2006/chart">
            <c:chart xmlns:c="http://schemas.openxmlformats.org/drawingml/2006/chart" r:id="rId1"/>
          </a:graphicData>
        </a:graphic>
      </p:graphicFrame>
      <p:sp>
        <p:nvSpPr>
          <p:cNvPr id="9" name="Shape 5"/>
          <p:cNvSpPr/>
          <p:nvPr/>
        </p:nvSpPr>
        <p:spPr>
          <a:xfrm>
            <a:off x="7680960" y="1325880"/>
            <a:ext cx="3794760" cy="2377440"/>
          </a:xfrm>
          <a:prstGeom prst="roundRect">
            <a:avLst>
              <a:gd name="adj" fmla="val 3077"/>
            </a:avLst>
          </a:prstGeom>
          <a:solidFill>
            <a:srgbClr val="EADCF3"/>
          </a:solidFill>
          <a:ln w="12700">
            <a:solidFill>
              <a:srgbClr val="EADCF3"/>
            </a:solidFill>
            <a:prstDash val="solid"/>
          </a:ln>
        </p:spPr>
      </p:sp>
      <p:sp>
        <p:nvSpPr>
          <p:cNvPr id="10" name="Text 6"/>
          <p:cNvSpPr txBox="1"/>
          <p:nvPr/>
        </p:nvSpPr>
        <p:spPr>
          <a:xfrm>
            <a:off x="7863840" y="1463040"/>
            <a:ext cx="3429000" cy="411480"/>
          </a:xfrm>
          <a:prstGeom prst="rect">
            <a:avLst/>
          </a:prstGeom>
          <a:noFill/>
          <a:ln/>
        </p:spPr>
        <p:txBody>
          <a:bodyPr wrap="square" lIns="0" tIns="0" rIns="0" bIns="0" rtlCol="0" anchor="t"/>
          <a:lstStyle/>
          <a:p>
            <a:pPr indent="0" marL="0">
              <a:buNone/>
            </a:pPr>
            <a:r>
              <a:rPr lang="en-US" sz="1800" b="1" dirty="0">
                <a:solidFill>
                  <a:srgbClr val="6B3D8C"/>
                </a:solidFill>
                <a:latin typeface="Cambria" pitchFamily="34" charset="0"/>
                <a:ea typeface="Cambria" pitchFamily="34" charset="-122"/>
                <a:cs typeface="Cambria" pitchFamily="34" charset="-120"/>
              </a:rPr>
              <a:t>Pipeline</a:t>
            </a:r>
            <a:endParaRPr lang="en-US" sz="1800" dirty="0"/>
          </a:p>
        </p:txBody>
      </p:sp>
      <p:sp>
        <p:nvSpPr>
          <p:cNvPr id="11" name="Text 7"/>
          <p:cNvSpPr txBox="1"/>
          <p:nvPr/>
        </p:nvSpPr>
        <p:spPr>
          <a:xfrm>
            <a:off x="7863840" y="1920240"/>
            <a:ext cx="3429000" cy="169164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EfficientNet-B3, fine-tuned, 320×320</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Projection + FRE (residual MLP)</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CORAL head: 4 rank logits</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Test-time augmentation ×5</a:t>
            </a:r>
            <a:endParaRPr lang="en-US" sz="1300" dirty="0"/>
          </a:p>
        </p:txBody>
      </p:sp>
      <p:sp>
        <p:nvSpPr>
          <p:cNvPr id="12" name="Shape 8"/>
          <p:cNvSpPr/>
          <p:nvPr/>
        </p:nvSpPr>
        <p:spPr>
          <a:xfrm>
            <a:off x="7680960" y="3886200"/>
            <a:ext cx="3794760" cy="2194560"/>
          </a:xfrm>
          <a:prstGeom prst="roundRect">
            <a:avLst>
              <a:gd name="adj" fmla="val 3333"/>
            </a:avLst>
          </a:prstGeom>
          <a:solidFill>
            <a:srgbClr val="F8D6D6"/>
          </a:solidFill>
          <a:ln w="12700">
            <a:solidFill>
              <a:srgbClr val="F8D6D6"/>
            </a:solidFill>
            <a:prstDash val="solid"/>
          </a:ln>
        </p:spPr>
      </p:sp>
      <p:sp>
        <p:nvSpPr>
          <p:cNvPr id="13" name="Text 9"/>
          <p:cNvSpPr txBox="1"/>
          <p:nvPr/>
        </p:nvSpPr>
        <p:spPr>
          <a:xfrm>
            <a:off x="7863840" y="4023360"/>
            <a:ext cx="342900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Honest note</a:t>
            </a:r>
            <a:endParaRPr lang="en-US" sz="1800" dirty="0"/>
          </a:p>
        </p:txBody>
      </p:sp>
      <p:sp>
        <p:nvSpPr>
          <p:cNvPr id="14" name="Text 10"/>
          <p:cNvSpPr txBox="1"/>
          <p:nvPr/>
        </p:nvSpPr>
        <p:spPr>
          <a:xfrm>
            <a:off x="7863840" y="4480560"/>
            <a:ext cx="3429000" cy="150876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FRE runs on a sequence of length one: attention is inactive</a:t>
            </a:r>
            <a:endParaRPr lang="en-US" sz="1300" dirty="0"/>
          </a:p>
          <a:p>
            <a:pPr marL="342900" indent="-342900">
              <a:spcAft>
                <a:spcPts val="800"/>
              </a:spcAft>
              <a:buSzPct val="100000"/>
              <a:buChar char="•"/>
            </a:pPr>
            <a:r>
              <a:rPr lang="en-US" sz="1300" dirty="0">
                <a:solidFill>
                  <a:srgbClr val="1F2933"/>
                </a:solidFill>
                <a:latin typeface="Calibri" pitchFamily="34" charset="0"/>
                <a:ea typeface="Calibri" pitchFamily="34" charset="-122"/>
                <a:cs typeface="Calibri" pitchFamily="34" charset="-120"/>
              </a:rPr>
              <a:t>No attention-based benefit is claimed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H3</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H3a: targets satisfied at the point estimate</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914400"/>
        </p:xfrm>
        <a:graphic>
          <a:graphicData uri="http://schemas.openxmlformats.org/drawingml/2006/table">
            <a:tbl>
              <a:tblPr/>
              <a:tblGrid>
                <a:gridCol w="2743200"/>
                <a:gridCol w="1371600"/>
                <a:gridCol w="3429000"/>
                <a:gridCol w="32004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Criterion</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Target</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Internal (N = 5,859)</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Messidor-2 (N = 1,744)</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6B3D8C"/>
                    </a:solidFill>
                  </a:tcPr>
                </a:tc>
              </a:tr>
              <a:tr h="45720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QWK</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0.80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0.953 [0.944, 0.961]</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0.931 [0.919, 0.942]</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Sev-NR</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2%</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0.97% (3/309) [0.2%, 2.8%]</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5720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PDR-NR</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 2%</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1.27% (6/472) [0.5%, 2.7%]</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1.9%</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Grade 0↔4 confusions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57200">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b="1" dirty="0">
                          <a:solidFill>
                            <a:srgbClr val="6B3D8C"/>
                          </a:solidFill>
                          <a:latin typeface="Calibri" pitchFamily="34" charset="0"/>
                          <a:ea typeface="Calibri" pitchFamily="34" charset="-122"/>
                          <a:cs typeface="Calibri" pitchFamily="34" charset="-120"/>
                        </a:rPr>
                        <a:t>satisfied at the point estimate</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b="1" dirty="0">
                          <a:solidFill>
                            <a:srgbClr val="6B3D8C"/>
                          </a:solidFill>
                          <a:latin typeface="Calibri" pitchFamily="34" charset="0"/>
                          <a:ea typeface="Calibri" pitchFamily="34" charset="-122"/>
                          <a:cs typeface="Calibri" pitchFamily="34" charset="-120"/>
                        </a:rPr>
                        <a:t>satisfied at the point estimate</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731520" y="4343400"/>
            <a:ext cx="6949440" cy="1691640"/>
          </a:xfrm>
          <a:prstGeom prst="roundRect">
            <a:avLst>
              <a:gd name="adj" fmla="val 4324"/>
            </a:avLst>
          </a:prstGeom>
          <a:solidFill>
            <a:srgbClr val="F8D6D6"/>
          </a:solidFill>
          <a:ln w="12700">
            <a:solidFill>
              <a:srgbClr val="F8D6D6"/>
            </a:solidFill>
            <a:prstDash val="solid"/>
          </a:ln>
        </p:spPr>
      </p:sp>
      <p:sp>
        <p:nvSpPr>
          <p:cNvPr id="10" name="Text 6"/>
          <p:cNvSpPr txBox="1"/>
          <p:nvPr/>
        </p:nvSpPr>
        <p:spPr>
          <a:xfrm>
            <a:off x="914400" y="4480560"/>
            <a:ext cx="6583680" cy="411480"/>
          </a:xfrm>
          <a:prstGeom prst="rect">
            <a:avLst/>
          </a:prstGeom>
          <a:noFill/>
          <a:ln/>
        </p:spPr>
        <p:txBody>
          <a:bodyPr wrap="square" lIns="0" tIns="0" rIns="0" bIns="0" rtlCol="0" anchor="t"/>
          <a:lstStyle/>
          <a:p>
            <a:pPr indent="0" marL="0">
              <a:buNone/>
            </a:pPr>
            <a:r>
              <a:rPr lang="en-US" sz="1800" b="1" dirty="0">
                <a:solidFill>
                  <a:srgbClr val="A32020"/>
                </a:solidFill>
                <a:latin typeface="Cambria" pitchFamily="34" charset="0"/>
                <a:ea typeface="Cambria" pitchFamily="34" charset="-122"/>
                <a:cs typeface="Cambria" pitchFamily="34" charset="-120"/>
              </a:rPr>
              <a:t>Statistical uncertainty</a:t>
            </a:r>
            <a:endParaRPr lang="en-US" sz="1800" dirty="0"/>
          </a:p>
        </p:txBody>
      </p:sp>
      <p:sp>
        <p:nvSpPr>
          <p:cNvPr id="11" name="Text 7"/>
          <p:cNvSpPr txBox="1"/>
          <p:nvPr/>
        </p:nvSpPr>
        <p:spPr>
          <a:xfrm>
            <a:off x="914400" y="4937760"/>
            <a:ext cx="6583680" cy="10058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With 309 severe images the internal interval [0.2%, 2.8%] crosses 2%; external intervals cannot be computed from the published counts. Safety is not demonstrated.</a:t>
            </a:r>
            <a:endParaRPr lang="en-US" sz="1500" dirty="0"/>
          </a:p>
        </p:txBody>
      </p:sp>
      <p:sp>
        <p:nvSpPr>
          <p:cNvPr id="12" name="Shape 8"/>
          <p:cNvSpPr/>
          <p:nvPr/>
        </p:nvSpPr>
        <p:spPr>
          <a:xfrm>
            <a:off x="7955280" y="4343400"/>
            <a:ext cx="3520440" cy="1691640"/>
          </a:xfrm>
          <a:prstGeom prst="roundRect">
            <a:avLst>
              <a:gd name="adj" fmla="val 4324"/>
            </a:avLst>
          </a:prstGeom>
          <a:solidFill>
            <a:srgbClr val="6B3D8C"/>
          </a:solidFill>
          <a:ln w="12700">
            <a:solidFill>
              <a:srgbClr val="6B3D8C"/>
            </a:solidFill>
            <a:prstDash val="solid"/>
          </a:ln>
        </p:spPr>
      </p:sp>
      <p:sp>
        <p:nvSpPr>
          <p:cNvPr id="13" name="Text 9"/>
          <p:cNvSpPr txBox="1"/>
          <p:nvPr/>
        </p:nvSpPr>
        <p:spPr>
          <a:xfrm>
            <a:off x="8092440" y="4434840"/>
            <a:ext cx="3246120" cy="150876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 650</a:t>
            </a:r>
            <a:endParaRPr lang="en-US" sz="3600" dirty="0"/>
          </a:p>
          <a:p>
            <a:pPr algn="ctr" indent="0" marL="0">
              <a:buNone/>
            </a:pPr>
            <a:r>
              <a:rPr lang="en-US" sz="1300" dirty="0">
                <a:solidFill>
                  <a:srgbClr val="FFFFFF"/>
                </a:solidFill>
                <a:latin typeface="Calibri" pitchFamily="34" charset="0"/>
                <a:ea typeface="Calibri" pitchFamily="34" charset="-122"/>
                <a:cs typeface="Calibri" pitchFamily="34" charset="-120"/>
              </a:rPr>
              <a:t>severe images needed for an upper bound below 2%</a:t>
            </a:r>
            <a:endParaRPr lang="en-US" sz="3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H3</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H3b: only the full pipeline meets the target</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30</a:t>
            </a:r>
            <a:endParaRPr lang="en-US" sz="1000" dirty="0"/>
          </a:p>
        </p:txBody>
      </p:sp>
      <p:pic>
        <p:nvPicPr>
          <p:cNvPr id="8" name="Image 0" descr="/tmp/claude-0/-home-user-SRT26/618f6450-ab76-51da-ba52-60090a9566a0/scratchpad/deckfig/fig_progressive.png">    </p:cNvPr>
          <p:cNvPicPr>
            <a:picLocks noChangeAspect="1"/>
          </p:cNvPicPr>
          <p:nvPr/>
        </p:nvPicPr>
        <p:blipFill>
          <a:blip r:embed="rId1"/>
          <a:stretch>
            <a:fillRect/>
          </a:stretch>
        </p:blipFill>
        <p:spPr>
          <a:xfrm>
            <a:off x="731520" y="1636725"/>
            <a:ext cx="7498080" cy="3218789"/>
          </a:xfrm>
          <a:prstGeom prst="rect">
            <a:avLst/>
          </a:prstGeom>
        </p:spPr>
      </p:pic>
      <p:sp>
        <p:nvSpPr>
          <p:cNvPr id="9" name="Shape 5"/>
          <p:cNvSpPr/>
          <p:nvPr/>
        </p:nvSpPr>
        <p:spPr>
          <a:xfrm>
            <a:off x="8503920" y="1325880"/>
            <a:ext cx="2971800" cy="3931920"/>
          </a:xfrm>
          <a:prstGeom prst="roundRect">
            <a:avLst>
              <a:gd name="adj" fmla="val 2462"/>
            </a:avLst>
          </a:prstGeom>
          <a:solidFill>
            <a:srgbClr val="EADCF3"/>
          </a:solidFill>
          <a:ln w="12700">
            <a:solidFill>
              <a:srgbClr val="EADCF3"/>
            </a:solidFill>
            <a:prstDash val="solid"/>
          </a:ln>
        </p:spPr>
      </p:sp>
      <p:sp>
        <p:nvSpPr>
          <p:cNvPr id="10" name="Text 6"/>
          <p:cNvSpPr txBox="1"/>
          <p:nvPr/>
        </p:nvSpPr>
        <p:spPr>
          <a:xfrm>
            <a:off x="8686800" y="1463040"/>
            <a:ext cx="2606040" cy="411480"/>
          </a:xfrm>
          <a:prstGeom prst="rect">
            <a:avLst/>
          </a:prstGeom>
          <a:noFill/>
          <a:ln/>
        </p:spPr>
        <p:txBody>
          <a:bodyPr wrap="square" lIns="0" tIns="0" rIns="0" bIns="0" rtlCol="0" anchor="t"/>
          <a:lstStyle/>
          <a:p>
            <a:pPr indent="0" marL="0">
              <a:buNone/>
            </a:pPr>
            <a:r>
              <a:rPr lang="en-US" sz="1800" b="1" dirty="0">
                <a:solidFill>
                  <a:srgbClr val="6B3D8C"/>
                </a:solidFill>
                <a:latin typeface="Cambria" pitchFamily="34" charset="0"/>
                <a:ea typeface="Cambria" pitchFamily="34" charset="-122"/>
                <a:cs typeface="Cambria" pitchFamily="34" charset="-120"/>
              </a:rPr>
              <a:t>Messidor-2 Sev-NR</a:t>
            </a:r>
            <a:endParaRPr lang="en-US" sz="1800" dirty="0"/>
          </a:p>
        </p:txBody>
      </p:sp>
      <p:sp>
        <p:nvSpPr>
          <p:cNvPr id="11" name="Text 7"/>
          <p:cNvSpPr txBox="1"/>
          <p:nvPr/>
        </p:nvSpPr>
        <p:spPr>
          <a:xfrm>
            <a:off x="8686800" y="1920240"/>
            <a:ext cx="2606040" cy="32461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Baseline 5.8%</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 GraphSAGE 4.1%</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 CORAL only 3.7%</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 TTA only 2.9%</a:t>
            </a:r>
            <a:endParaRPr lang="en-US" sz="1500" dirty="0"/>
          </a:p>
          <a:p>
            <a:pPr marL="342900" indent="-342900">
              <a:spcAft>
                <a:spcPts val="800"/>
              </a:spcAft>
              <a:buSzPct val="100000"/>
              <a:buChar char="•"/>
            </a:pPr>
            <a:r>
              <a:rPr lang="en-US" sz="1500" dirty="0">
                <a:solidFill>
                  <a:srgbClr val="1F2933"/>
                </a:solidFill>
                <a:latin typeface="Calibri" pitchFamily="34" charset="0"/>
                <a:ea typeface="Calibri" pitchFamily="34" charset="-122"/>
                <a:cs typeface="Calibri" pitchFamily="34" charset="-120"/>
              </a:rPr>
              <a:t>DOTS complete 1.4%</a:t>
            </a:r>
            <a:endParaRPr lang="en-US" sz="1500" dirty="0"/>
          </a:p>
        </p:txBody>
      </p:sp>
      <p:sp>
        <p:nvSpPr>
          <p:cNvPr id="12" name="Text 8"/>
          <p:cNvSpPr txBox="1"/>
          <p:nvPr/>
        </p:nvSpPr>
        <p:spPr>
          <a:xfrm>
            <a:off x="731520" y="5440680"/>
            <a:ext cx="10744200" cy="640080"/>
          </a:xfrm>
          <a:prstGeom prst="rect">
            <a:avLst/>
          </a:prstGeom>
          <a:noFill/>
          <a:ln/>
        </p:spPr>
        <p:txBody>
          <a:bodyPr wrap="square" lIns="0" tIns="0" rIns="0" bIns="0" rtlCol="0" anchor="ctr"/>
          <a:lstStyle/>
          <a:p>
            <a:pPr indent="0" marL="0">
              <a:buNone/>
            </a:pPr>
            <a:r>
              <a:rPr lang="en-US" sz="1600" i="1" dirty="0">
                <a:solidFill>
                  <a:srgbClr val="16324F"/>
                </a:solidFill>
                <a:latin typeface="Cambria" pitchFamily="34" charset="0"/>
                <a:ea typeface="Cambria" pitchFamily="34" charset="-122"/>
                <a:cs typeface="Cambria" pitchFamily="34" charset="-120"/>
              </a:rPr>
              <a:t>The component that improves safety most is not the one that improves QWK most. Claim limited to the variants of this ablation.</a:t>
            </a: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6B3D8C"/>
          </a:solidFill>
          <a:ln w="12700">
            <a:solidFill>
              <a:srgbClr val="6B3D8C"/>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O</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How DOTS errs: in the safe direction</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31</a:t>
            </a:r>
            <a:endParaRPr lang="en-US" sz="1000" dirty="0"/>
          </a:p>
        </p:txBody>
      </p:sp>
      <p:sp>
        <p:nvSpPr>
          <p:cNvPr id="8" name="Text 5"/>
          <p:cNvSpPr txBox="1"/>
          <p:nvPr/>
        </p:nvSpPr>
        <p:spPr>
          <a:xfrm>
            <a:off x="731520" y="1463040"/>
            <a:ext cx="3291840" cy="914400"/>
          </a:xfrm>
          <a:prstGeom prst="rect">
            <a:avLst/>
          </a:prstGeom>
          <a:noFill/>
          <a:ln/>
        </p:spPr>
        <p:txBody>
          <a:bodyPr wrap="square" lIns="0" tIns="0" rIns="0" bIns="0" rtlCol="0" anchor="ctr"/>
          <a:lstStyle/>
          <a:p>
            <a:pPr algn="l" indent="0" marL="0">
              <a:buNone/>
            </a:pPr>
            <a:r>
              <a:rPr lang="en-US" sz="5000" b="1" dirty="0">
                <a:solidFill>
                  <a:srgbClr val="6B3D8C"/>
                </a:solidFill>
                <a:latin typeface="Cambria" pitchFamily="34" charset="0"/>
                <a:ea typeface="Cambria" pitchFamily="34" charset="-122"/>
                <a:cs typeface="Cambria" pitchFamily="34" charset="-120"/>
              </a:rPr>
              <a:t>82.9%</a:t>
            </a:r>
            <a:endParaRPr lang="en-US" sz="5000" dirty="0"/>
          </a:p>
        </p:txBody>
      </p:sp>
      <p:sp>
        <p:nvSpPr>
          <p:cNvPr id="9" name="Text 6"/>
          <p:cNvSpPr txBox="1"/>
          <p:nvPr/>
        </p:nvSpPr>
        <p:spPr>
          <a:xfrm>
            <a:off x="73152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of the 597 errors are between adjacent grades; none spans four grades</a:t>
            </a:r>
            <a:endParaRPr lang="en-US" sz="1500" dirty="0"/>
          </a:p>
        </p:txBody>
      </p:sp>
      <p:sp>
        <p:nvSpPr>
          <p:cNvPr id="10" name="Text 7"/>
          <p:cNvSpPr txBox="1"/>
          <p:nvPr/>
        </p:nvSpPr>
        <p:spPr>
          <a:xfrm>
            <a:off x="4343400" y="1463040"/>
            <a:ext cx="3291840" cy="914400"/>
          </a:xfrm>
          <a:prstGeom prst="rect">
            <a:avLst/>
          </a:prstGeom>
          <a:noFill/>
          <a:ln/>
        </p:spPr>
        <p:txBody>
          <a:bodyPr wrap="square" lIns="0" tIns="0" rIns="0" bIns="0" rtlCol="0" anchor="ctr"/>
          <a:lstStyle/>
          <a:p>
            <a:pPr algn="l" indent="0" marL="0">
              <a:buNone/>
            </a:pPr>
            <a:r>
              <a:rPr lang="en-US" sz="5000" b="1" dirty="0">
                <a:solidFill>
                  <a:srgbClr val="6B3D8C"/>
                </a:solidFill>
                <a:latin typeface="Cambria" pitchFamily="34" charset="0"/>
                <a:ea typeface="Cambria" pitchFamily="34" charset="-122"/>
                <a:cs typeface="Cambria" pitchFamily="34" charset="-120"/>
              </a:rPr>
              <a:t>0.770</a:t>
            </a:r>
            <a:endParaRPr lang="en-US" sz="5000" dirty="0"/>
          </a:p>
        </p:txBody>
      </p:sp>
      <p:sp>
        <p:nvSpPr>
          <p:cNvPr id="11" name="Text 8"/>
          <p:cNvSpPr txBox="1"/>
          <p:nvPr/>
        </p:nvSpPr>
        <p:spPr>
          <a:xfrm>
            <a:off x="4343400" y="237744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recall of Severe images: over-prediction, the safe direction</a:t>
            </a:r>
            <a:endParaRPr lang="en-US" sz="1500" dirty="0"/>
          </a:p>
        </p:txBody>
      </p:sp>
      <p:sp>
        <p:nvSpPr>
          <p:cNvPr id="12" name="Text 9"/>
          <p:cNvSpPr txBox="1"/>
          <p:nvPr/>
        </p:nvSpPr>
        <p:spPr>
          <a:xfrm>
            <a:off x="7955280" y="1463040"/>
            <a:ext cx="3520440" cy="914400"/>
          </a:xfrm>
          <a:prstGeom prst="rect">
            <a:avLst/>
          </a:prstGeom>
          <a:noFill/>
          <a:ln/>
        </p:spPr>
        <p:txBody>
          <a:bodyPr wrap="square" lIns="0" tIns="0" rIns="0" bIns="0" rtlCol="0" anchor="ctr"/>
          <a:lstStyle/>
          <a:p>
            <a:pPr algn="l" indent="0" marL="0">
              <a:buNone/>
            </a:pPr>
            <a:r>
              <a:rPr lang="en-US" sz="5000" b="1" dirty="0">
                <a:solidFill>
                  <a:srgbClr val="16324F"/>
                </a:solidFill>
                <a:latin typeface="Cambria" pitchFamily="34" charset="0"/>
                <a:ea typeface="Cambria" pitchFamily="34" charset="-122"/>
                <a:cs typeface="Cambria" pitchFamily="34" charset="-120"/>
              </a:rPr>
              <a:t>0.031</a:t>
            </a:r>
            <a:endParaRPr lang="en-US" sz="5000" dirty="0"/>
          </a:p>
        </p:txBody>
      </p:sp>
      <p:sp>
        <p:nvSpPr>
          <p:cNvPr id="13" name="Text 10"/>
          <p:cNvSpPr txBox="1"/>
          <p:nvPr/>
        </p:nvSpPr>
        <p:spPr>
          <a:xfrm>
            <a:off x="7955280" y="2377440"/>
            <a:ext cx="35204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five-grade ECE after temperature scaling (from 0.067), QWK unchanged</a:t>
            </a:r>
            <a:endParaRPr lang="en-US" sz="1500" dirty="0"/>
          </a:p>
        </p:txBody>
      </p:sp>
      <p:sp>
        <p:nvSpPr>
          <p:cNvPr id="14" name="Shape 11"/>
          <p:cNvSpPr/>
          <p:nvPr/>
        </p:nvSpPr>
        <p:spPr>
          <a:xfrm>
            <a:off x="731520" y="3657600"/>
            <a:ext cx="10744200" cy="1920240"/>
          </a:xfrm>
          <a:prstGeom prst="roundRect">
            <a:avLst>
              <a:gd name="adj" fmla="val 3810"/>
            </a:avLst>
          </a:prstGeom>
          <a:solidFill>
            <a:srgbClr val="F3F5F8"/>
          </a:solidFill>
          <a:ln w="12700">
            <a:solidFill>
              <a:srgbClr val="F3F5F8"/>
            </a:solidFill>
            <a:prstDash val="solid"/>
          </a:ln>
        </p:spPr>
      </p:sp>
      <p:sp>
        <p:nvSpPr>
          <p:cNvPr id="15" name="Text 12"/>
          <p:cNvSpPr txBox="1"/>
          <p:nvPr/>
        </p:nvSpPr>
        <p:spPr>
          <a:xfrm>
            <a:off x="914400" y="3794760"/>
            <a:ext cx="10378440" cy="411480"/>
          </a:xfrm>
          <a:prstGeom prst="rect">
            <a:avLst/>
          </a:prstGeom>
          <a:noFill/>
          <a:ln/>
        </p:spPr>
        <p:txBody>
          <a:bodyPr wrap="square" lIns="0" tIns="0" rIns="0" bIns="0" rtlCol="0" anchor="t"/>
          <a:lstStyle/>
          <a:p>
            <a:pPr indent="0" marL="0">
              <a:buNone/>
            </a:pPr>
            <a:r>
              <a:rPr lang="en-US" sz="1800" b="1" dirty="0">
                <a:solidFill>
                  <a:srgbClr val="6B3D8C"/>
                </a:solidFill>
                <a:latin typeface="Cambria" pitchFamily="34" charset="0"/>
                <a:ea typeface="Cambria" pitchFamily="34" charset="-122"/>
                <a:cs typeface="Cambria" pitchFamily="34" charset="-120"/>
              </a:rPr>
              <a:t>Reading</a:t>
            </a:r>
            <a:endParaRPr lang="en-US" sz="1800" dirty="0"/>
          </a:p>
        </p:txBody>
      </p:sp>
      <p:sp>
        <p:nvSpPr>
          <p:cNvPr id="16" name="Text 13"/>
          <p:cNvSpPr txBox="1"/>
          <p:nvPr/>
        </p:nvSpPr>
        <p:spPr>
          <a:xfrm>
            <a:off x="914400" y="4251960"/>
            <a:ext cx="10378440" cy="123444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Dominant confusion Mild → Moderate: an over-referral rather than an under-referral</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Referral decision: AUC 0.971 [0.963, 0.979]; ECE 0.041</a:t>
            </a:r>
            <a:endParaRPr lang="en-US" sz="1600" dirty="0"/>
          </a:p>
          <a:p>
            <a:pPr marL="342900" indent="-3429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McNemar test, DOTS vs CNN baseline on paired predictions: p = 0.013</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B35C00"/>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6</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Engineering</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Six-stage architecture and regulatory-oriented design (Chapter 6)</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B35C00"/>
          </a:solidFill>
          <a:ln w="12700">
            <a:solidFill>
              <a:srgbClr val="B35C00"/>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E</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Designed with regulatory considerations in mind</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33</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914400"/>
        </p:xfrm>
        <a:graphic>
          <a:graphicData uri="http://schemas.openxmlformats.org/drawingml/2006/table">
            <a:tbl>
              <a:tblPr/>
              <a:tblGrid>
                <a:gridCol w="5486400"/>
                <a:gridCol w="5257800"/>
              </a:tblGrid>
              <a:tr h="475488">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Component</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B35C0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B35C00"/>
                    </a:solidFill>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Grading pipelines (TOPORET, DGTS, DOTS)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Implemented as research code; evaluated retrospectively</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Stage-level verification plan (IEC 62304)</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Specified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Risk analysis (FMEA, ISO 14971)</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Performed at design level</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Audit trail and Article 13 template (EU AI Act)</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Designed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Automatic deferral of uncertain images</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b="1" dirty="0">
                          <a:solidFill>
                            <a:srgbClr val="A32020"/>
                          </a:solidFill>
                          <a:latin typeface="Calibri" pitchFamily="34" charset="0"/>
                          <a:ea typeface="Calibri" pitchFamily="34" charset="-122"/>
                          <a:cs typeface="Calibri" pitchFamily="34" charset="-120"/>
                        </a:rPr>
                        <a:t>Not implemented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FHIR adapter and hospital integration</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500" b="1" dirty="0">
                          <a:solidFill>
                            <a:srgbClr val="A32020"/>
                          </a:solidFill>
                          <a:latin typeface="Calibri" pitchFamily="34" charset="0"/>
                          <a:ea typeface="Calibri" pitchFamily="34" charset="-122"/>
                          <a:cs typeface="Calibri" pitchFamily="34" charset="-120"/>
                        </a:rPr>
                        <a:t>Designed, not implemented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Clinical deployment, conformity assessment, CE / FDA</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500" b="1" dirty="0">
                          <a:solidFill>
                            <a:srgbClr val="A32020"/>
                          </a:solidFill>
                          <a:latin typeface="Calibri" pitchFamily="34" charset="0"/>
                          <a:ea typeface="Calibri" pitchFamily="34" charset="-122"/>
                          <a:cs typeface="Calibri" pitchFamily="34" charset="-120"/>
                        </a:rPr>
                        <a:t>Not performed</a:t>
                      </a:r>
                      <a:endParaRPr lang="en-US" sz="15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Text 5"/>
          <p:cNvSpPr txBox="1"/>
          <p:nvPr/>
        </p:nvSpPr>
        <p:spPr>
          <a:xfrm>
            <a:off x="731520" y="5440680"/>
            <a:ext cx="10744200" cy="548640"/>
          </a:xfrm>
          <a:prstGeom prst="rect">
            <a:avLst/>
          </a:prstGeom>
          <a:noFill/>
          <a:ln/>
        </p:spPr>
        <p:txBody>
          <a:bodyPr wrap="square" lIns="0" tIns="0" rIns="0" bIns="0" rtlCol="0" anchor="ctr"/>
          <a:lstStyle/>
          <a:p>
            <a:pPr indent="0" marL="0">
              <a:buNone/>
            </a:pPr>
            <a:r>
              <a:rPr lang="en-US" sz="1600" i="1" dirty="0">
                <a:solidFill>
                  <a:srgbClr val="B35C00"/>
                </a:solidFill>
                <a:latin typeface="Cambria" pitchFamily="34" charset="0"/>
                <a:ea typeface="Cambria" pitchFamily="34" charset="-122"/>
                <a:cs typeface="Cambria" pitchFamily="34" charset="-120"/>
              </a:rPr>
              <a:t>An engineering-oriented mapping exercise, not a conformity assessment, clinical evaluation or certification.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22960" y="2331720"/>
            <a:ext cx="1371600" cy="1371600"/>
          </a:xfrm>
          <a:prstGeom prst="ellipse">
            <a:avLst/>
          </a:prstGeom>
          <a:solidFill>
            <a:srgbClr val="16324F"/>
          </a:solidFill>
          <a:ln w="25400">
            <a:solidFill>
              <a:srgbClr val="FFFFFF"/>
            </a:solidFill>
            <a:prstDash val="solid"/>
          </a:ln>
        </p:spPr>
      </p:sp>
      <p:sp>
        <p:nvSpPr>
          <p:cNvPr id="3" name="Text 1"/>
          <p:cNvSpPr txBox="1"/>
          <p:nvPr/>
        </p:nvSpPr>
        <p:spPr>
          <a:xfrm>
            <a:off x="822960" y="2331720"/>
            <a:ext cx="13716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7</a:t>
            </a:r>
            <a:endParaRPr lang="en-US" sz="4400" dirty="0"/>
          </a:p>
        </p:txBody>
      </p:sp>
      <p:sp>
        <p:nvSpPr>
          <p:cNvPr id="4" name="Text 2"/>
          <p:cNvSpPr txBox="1"/>
          <p:nvPr/>
        </p:nvSpPr>
        <p:spPr>
          <a:xfrm>
            <a:off x="2651760" y="2240280"/>
            <a:ext cx="877824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Synthesis</a:t>
            </a:r>
            <a:endParaRPr lang="en-US" sz="4000" dirty="0"/>
          </a:p>
        </p:txBody>
      </p:sp>
      <p:sp>
        <p:nvSpPr>
          <p:cNvPr id="5" name="Text 3"/>
          <p:cNvSpPr txBox="1"/>
          <p:nvPr/>
        </p:nvSpPr>
        <p:spPr>
          <a:xfrm>
            <a:off x="2651760" y="3154680"/>
            <a:ext cx="877824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What is shown, what is supported, what remains to be done</a:t>
            </a:r>
            <a:endParaRPr lang="en-US" sz="1800" dirty="0"/>
          </a:p>
        </p:txBody>
      </p:sp>
      <p:sp>
        <p:nvSpPr>
          <p:cNvPr id="6" name="Text 4"/>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AFC3D6"/>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7" name="Text 5"/>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AFC3D6"/>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Σ</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Evidence architecture of the thesis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35</a:t>
            </a:r>
            <a:endParaRPr lang="en-US" sz="1000" dirty="0"/>
          </a:p>
        </p:txBody>
      </p:sp>
      <p:pic>
        <p:nvPicPr>
          <p:cNvPr id="8" name="Image 0" descr="/tmp/claude-0/-home-user-SRT26/618f6450-ab76-51da-ba52-60090a9566a0/scratchpad/deckfig/fig_evidence.png">    </p:cNvPr>
          <p:cNvPicPr>
            <a:picLocks noChangeAspect="1"/>
          </p:cNvPicPr>
          <p:nvPr/>
        </p:nvPicPr>
        <p:blipFill>
          <a:blip r:embed="rId1"/>
          <a:stretch>
            <a:fillRect/>
          </a:stretch>
        </p:blipFill>
        <p:spPr>
          <a:xfrm>
            <a:off x="1203326" y="1234440"/>
            <a:ext cx="9800589" cy="484632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Σ</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Shown, supported, and not claimed</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31520" y="1325880"/>
          <a:ext cx="10744200" cy="914400"/>
        </p:xfrm>
        <a:graphic>
          <a:graphicData uri="http://schemas.openxmlformats.org/drawingml/2006/table">
            <a:tbl>
              <a:tblPr/>
              <a:tblGrid>
                <a:gridCol w="3246120"/>
                <a:gridCol w="3291840"/>
                <a:gridCol w="1554480"/>
                <a:gridCol w="26517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Claim</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Main limitation</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Relational information improves grading</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H1 (TOPORET); DGTS +0.018 QWK, inductive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Five folds; corrected p only combined</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Topology is associated with severity</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H2: F = 84.3, p &lt; 0.001</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η² ≈ 0.01; association only</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Topological regularisation helps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DGTS ablation +0.030 QWK</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Feature-space topology</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DGTS keeps its QWK externally</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EyePACS zero-shot 0.925</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Moderate-strong</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Sev-NR ≈ 2.1%</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DOTS satisfies the targets (H3a)</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Internal + Messidor-2, point estimates</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Interval [0.2%, 2.8%]</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7548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reduced variant suffices (H3b)</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Four variants fail on Messidor-2</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Moderate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One ablation specification</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75488">
                <a:tc>
                  <a:txBody>
                    <a:bodyPr/>
                    <a:lstStyle/>
                    <a:p>
                      <a:pPr indent="0" marL="0">
                        <a:buNone/>
                      </a:pPr>
                      <a:r>
                        <a:rPr lang="en-US" sz="1300" b="1" dirty="0">
                          <a:solidFill>
                            <a:srgbClr val="A32020"/>
                          </a:solidFill>
                          <a:latin typeface="Calibri" pitchFamily="34" charset="0"/>
                          <a:ea typeface="Calibri" pitchFamily="34" charset="-122"/>
                          <a:cs typeface="Calibri" pitchFamily="34" charset="-120"/>
                        </a:rPr>
                        <a:t>Clinical safety, regulatory compliance</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b="1" dirty="0">
                          <a:solidFill>
                            <a:srgbClr val="A32020"/>
                          </a:solidFill>
                          <a:latin typeface="Calibri" pitchFamily="34" charset="0"/>
                          <a:ea typeface="Calibri" pitchFamily="34" charset="-122"/>
                          <a:cs typeface="Calibri" pitchFamily="34" charset="-120"/>
                        </a:rPr>
                        <a:t>Not established</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No prospective study; no conformity assessment</a:t>
                      </a:r>
                      <a:endParaRPr lang="en-US" sz="13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Text 5"/>
          <p:cNvSpPr txBox="1"/>
          <p:nvPr/>
        </p:nvSpPr>
        <p:spPr>
          <a:xfrm>
            <a:off x="731520" y="5349240"/>
            <a:ext cx="10744200" cy="685800"/>
          </a:xfrm>
          <a:prstGeom prst="rect">
            <a:avLst/>
          </a:prstGeom>
          <a:noFill/>
          <a:ln/>
        </p:spPr>
        <p:txBody>
          <a:bodyPr wrap="square" lIns="0" tIns="0" rIns="0" bIns="0" rtlCol="0" anchor="ctr"/>
          <a:lstStyle/>
          <a:p>
            <a:pPr indent="0" marL="0">
              <a:buNone/>
            </a:pPr>
            <a:r>
              <a:rPr lang="en-US" sz="1600" i="1" dirty="0">
                <a:solidFill>
                  <a:srgbClr val="16324F"/>
                </a:solidFill>
                <a:latin typeface="Cambria" pitchFamily="34" charset="0"/>
                <a:ea typeface="Cambria" pitchFamily="34" charset="-122"/>
                <a:cs typeface="Cambria" pitchFamily="34" charset="-120"/>
              </a:rPr>
              <a:t>Central contribution: a structured body of retrospective evidence on how relational, topological and ordinal information can complement deep visual representations.</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Limitations and perspectives</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37</a:t>
            </a:r>
            <a:endParaRPr lang="en-US" sz="1000" dirty="0"/>
          </a:p>
        </p:txBody>
      </p:sp>
      <p:sp>
        <p:nvSpPr>
          <p:cNvPr id="8" name="Shape 5"/>
          <p:cNvSpPr/>
          <p:nvPr/>
        </p:nvSpPr>
        <p:spPr>
          <a:xfrm>
            <a:off x="731520" y="1444752"/>
            <a:ext cx="594360" cy="594360"/>
          </a:xfrm>
          <a:prstGeom prst="ellipse">
            <a:avLst/>
          </a:prstGeom>
          <a:solidFill>
            <a:srgbClr val="1F4E79"/>
          </a:solidFill>
          <a:ln w="12700">
            <a:solidFill>
              <a:srgbClr val="1F4E79"/>
            </a:solidFill>
            <a:prstDash val="solid"/>
          </a:ln>
        </p:spPr>
      </p:sp>
      <p:sp>
        <p:nvSpPr>
          <p:cNvPr id="9" name="Text 6"/>
          <p:cNvSpPr txBox="1"/>
          <p:nvPr/>
        </p:nvSpPr>
        <p:spPr>
          <a:xfrm>
            <a:off x="731520" y="144475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7"/>
          <p:cNvSpPr txBox="1"/>
          <p:nvPr/>
        </p:nvSpPr>
        <p:spPr>
          <a:xfrm>
            <a:off x="1508760" y="137160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Patient-level split for TOPORET (grouped folds, per-fold graph)</a:t>
            </a:r>
            <a:endParaRPr lang="en-US" sz="1600" dirty="0"/>
          </a:p>
        </p:txBody>
      </p:sp>
      <p:sp>
        <p:nvSpPr>
          <p:cNvPr id="11" name="Shape 8"/>
          <p:cNvSpPr/>
          <p:nvPr/>
        </p:nvSpPr>
        <p:spPr>
          <a:xfrm>
            <a:off x="731520" y="2542032"/>
            <a:ext cx="594360" cy="594360"/>
          </a:xfrm>
          <a:prstGeom prst="ellipse">
            <a:avLst/>
          </a:prstGeom>
          <a:solidFill>
            <a:srgbClr val="1F4E79"/>
          </a:solidFill>
          <a:ln w="12700">
            <a:solidFill>
              <a:srgbClr val="1F4E79"/>
            </a:solidFill>
            <a:prstDash val="solid"/>
          </a:ln>
        </p:spPr>
      </p:sp>
      <p:sp>
        <p:nvSpPr>
          <p:cNvPr id="12" name="Text 9"/>
          <p:cNvSpPr txBox="1"/>
          <p:nvPr/>
        </p:nvSpPr>
        <p:spPr>
          <a:xfrm>
            <a:off x="731520" y="254203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508760" y="246888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Multi-seed validation</a:t>
            </a:r>
            <a:endParaRPr lang="en-US" sz="1600" dirty="0"/>
          </a:p>
        </p:txBody>
      </p:sp>
      <p:sp>
        <p:nvSpPr>
          <p:cNvPr id="14" name="Shape 11"/>
          <p:cNvSpPr/>
          <p:nvPr/>
        </p:nvSpPr>
        <p:spPr>
          <a:xfrm>
            <a:off x="731520" y="3639312"/>
            <a:ext cx="594360" cy="594360"/>
          </a:xfrm>
          <a:prstGeom prst="ellipse">
            <a:avLst/>
          </a:prstGeom>
          <a:solidFill>
            <a:srgbClr val="1F4E79"/>
          </a:solidFill>
          <a:ln w="12700">
            <a:solidFill>
              <a:srgbClr val="1F4E79"/>
            </a:solidFill>
            <a:prstDash val="solid"/>
          </a:ln>
        </p:spPr>
      </p:sp>
      <p:sp>
        <p:nvSpPr>
          <p:cNvPr id="15" name="Text 12"/>
          <p:cNvSpPr txBox="1"/>
          <p:nvPr/>
        </p:nvSpPr>
        <p:spPr>
          <a:xfrm>
            <a:off x="731520" y="363931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3"/>
          <p:cNvSpPr txBox="1"/>
          <p:nvPr/>
        </p:nvSpPr>
        <p:spPr>
          <a:xfrm>
            <a:off x="1508760" y="356616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New external datasets (≈ 650 severe images)</a:t>
            </a:r>
            <a:endParaRPr lang="en-US" sz="1600" dirty="0"/>
          </a:p>
        </p:txBody>
      </p:sp>
      <p:sp>
        <p:nvSpPr>
          <p:cNvPr id="17" name="Shape 14"/>
          <p:cNvSpPr/>
          <p:nvPr/>
        </p:nvSpPr>
        <p:spPr>
          <a:xfrm>
            <a:off x="731520" y="4736592"/>
            <a:ext cx="594360" cy="594360"/>
          </a:xfrm>
          <a:prstGeom prst="ellipse">
            <a:avLst/>
          </a:prstGeom>
          <a:solidFill>
            <a:srgbClr val="6B3D8C"/>
          </a:solidFill>
          <a:ln w="12700">
            <a:solidFill>
              <a:srgbClr val="6B3D8C"/>
            </a:solidFill>
            <a:prstDash val="solid"/>
          </a:ln>
        </p:spPr>
      </p:sp>
      <p:sp>
        <p:nvSpPr>
          <p:cNvPr id="18" name="Text 15"/>
          <p:cNvSpPr txBox="1"/>
          <p:nvPr/>
        </p:nvSpPr>
        <p:spPr>
          <a:xfrm>
            <a:off x="731520" y="473659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9" name="Text 16"/>
          <p:cNvSpPr txBox="1"/>
          <p:nvPr/>
        </p:nvSpPr>
        <p:spPr>
          <a:xfrm>
            <a:off x="1508760" y="466344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Unified three-axis model with deferral</a:t>
            </a:r>
            <a:endParaRPr lang="en-US" sz="1600" dirty="0"/>
          </a:p>
        </p:txBody>
      </p:sp>
      <p:sp>
        <p:nvSpPr>
          <p:cNvPr id="20" name="Shape 17"/>
          <p:cNvSpPr/>
          <p:nvPr/>
        </p:nvSpPr>
        <p:spPr>
          <a:xfrm>
            <a:off x="6217920" y="1444752"/>
            <a:ext cx="594360" cy="594360"/>
          </a:xfrm>
          <a:prstGeom prst="ellipse">
            <a:avLst/>
          </a:prstGeom>
          <a:solidFill>
            <a:srgbClr val="1B7A4E"/>
          </a:solidFill>
          <a:ln w="12700">
            <a:solidFill>
              <a:srgbClr val="1B7A4E"/>
            </a:solidFill>
            <a:prstDash val="solid"/>
          </a:ln>
        </p:spPr>
      </p:sp>
      <p:sp>
        <p:nvSpPr>
          <p:cNvPr id="21" name="Text 18"/>
          <p:cNvSpPr txBox="1"/>
          <p:nvPr/>
        </p:nvSpPr>
        <p:spPr>
          <a:xfrm>
            <a:off x="6217920" y="144475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19"/>
          <p:cNvSpPr txBox="1"/>
          <p:nvPr/>
        </p:nvSpPr>
        <p:spPr>
          <a:xfrm>
            <a:off x="6995160" y="137160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Reader study (graders with and without the system)</a:t>
            </a:r>
            <a:endParaRPr lang="en-US" sz="1600" dirty="0"/>
          </a:p>
        </p:txBody>
      </p:sp>
      <p:sp>
        <p:nvSpPr>
          <p:cNvPr id="23" name="Shape 20"/>
          <p:cNvSpPr/>
          <p:nvPr/>
        </p:nvSpPr>
        <p:spPr>
          <a:xfrm>
            <a:off x="6217920" y="2542032"/>
            <a:ext cx="594360" cy="594360"/>
          </a:xfrm>
          <a:prstGeom prst="ellipse">
            <a:avLst/>
          </a:prstGeom>
          <a:solidFill>
            <a:srgbClr val="1B7A4E"/>
          </a:solidFill>
          <a:ln w="12700">
            <a:solidFill>
              <a:srgbClr val="1B7A4E"/>
            </a:solidFill>
            <a:prstDash val="solid"/>
          </a:ln>
        </p:spPr>
      </p:sp>
      <p:sp>
        <p:nvSpPr>
          <p:cNvPr id="24" name="Text 21"/>
          <p:cNvSpPr txBox="1"/>
          <p:nvPr/>
        </p:nvSpPr>
        <p:spPr>
          <a:xfrm>
            <a:off x="6217920" y="254203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5" name="Text 22"/>
          <p:cNvSpPr txBox="1"/>
          <p:nvPr/>
        </p:nvSpPr>
        <p:spPr>
          <a:xfrm>
            <a:off x="6995160" y="246888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Prospective study (≈ 1,240 severe images, 80% power)</a:t>
            </a:r>
            <a:endParaRPr lang="en-US" sz="1600" dirty="0"/>
          </a:p>
        </p:txBody>
      </p:sp>
      <p:sp>
        <p:nvSpPr>
          <p:cNvPr id="26" name="Shape 23"/>
          <p:cNvSpPr/>
          <p:nvPr/>
        </p:nvSpPr>
        <p:spPr>
          <a:xfrm>
            <a:off x="6217920" y="3639312"/>
            <a:ext cx="594360" cy="594360"/>
          </a:xfrm>
          <a:prstGeom prst="ellipse">
            <a:avLst/>
          </a:prstGeom>
          <a:solidFill>
            <a:srgbClr val="1B7A4E"/>
          </a:solidFill>
          <a:ln w="12700">
            <a:solidFill>
              <a:srgbClr val="1B7A4E"/>
            </a:solidFill>
            <a:prstDash val="solid"/>
          </a:ln>
        </p:spPr>
      </p:sp>
      <p:sp>
        <p:nvSpPr>
          <p:cNvPr id="27" name="Text 24"/>
          <p:cNvSpPr txBox="1"/>
          <p:nvPr/>
        </p:nvSpPr>
        <p:spPr>
          <a:xfrm>
            <a:off x="6217920" y="363931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8" name="Text 25"/>
          <p:cNvSpPr txBox="1"/>
          <p:nvPr/>
        </p:nvSpPr>
        <p:spPr>
          <a:xfrm>
            <a:off x="6995160" y="356616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True multi-site and federated validation</a:t>
            </a:r>
            <a:endParaRPr lang="en-US" sz="1600" dirty="0"/>
          </a:p>
        </p:txBody>
      </p:sp>
      <p:sp>
        <p:nvSpPr>
          <p:cNvPr id="29" name="Shape 26"/>
          <p:cNvSpPr/>
          <p:nvPr/>
        </p:nvSpPr>
        <p:spPr>
          <a:xfrm>
            <a:off x="6217920" y="4736592"/>
            <a:ext cx="594360" cy="594360"/>
          </a:xfrm>
          <a:prstGeom prst="ellipse">
            <a:avLst/>
          </a:prstGeom>
          <a:solidFill>
            <a:srgbClr val="1B7A4E"/>
          </a:solidFill>
          <a:ln w="12700">
            <a:solidFill>
              <a:srgbClr val="1B7A4E"/>
            </a:solidFill>
            <a:prstDash val="solid"/>
          </a:ln>
        </p:spPr>
      </p:sp>
      <p:sp>
        <p:nvSpPr>
          <p:cNvPr id="30" name="Text 27"/>
          <p:cNvSpPr txBox="1"/>
          <p:nvPr/>
        </p:nvSpPr>
        <p:spPr>
          <a:xfrm>
            <a:off x="6217920" y="4736592"/>
            <a:ext cx="594360" cy="59436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31" name="Text 28"/>
          <p:cNvSpPr txBox="1"/>
          <p:nvPr/>
        </p:nvSpPr>
        <p:spPr>
          <a:xfrm>
            <a:off x="6995160" y="4663440"/>
            <a:ext cx="4526280" cy="73152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Clinical validation (MDR)</a:t>
            </a:r>
            <a:endParaRPr lang="en-US" sz="1600" dirty="0"/>
          </a:p>
        </p:txBody>
      </p:sp>
      <p:sp>
        <p:nvSpPr>
          <p:cNvPr id="32" name="Text 29"/>
          <p:cNvSpPr txBox="1"/>
          <p:nvPr/>
        </p:nvSpPr>
        <p:spPr>
          <a:xfrm>
            <a:off x="731520" y="5669280"/>
            <a:ext cx="10744200" cy="365760"/>
          </a:xfrm>
          <a:prstGeom prst="rect">
            <a:avLst/>
          </a:prstGeom>
          <a:noFill/>
          <a:ln/>
        </p:spPr>
        <p:txBody>
          <a:bodyPr wrap="square" lIns="0" tIns="0" rIns="0" bIns="0" rtlCol="0" anchor="ctr"/>
          <a:lstStyle/>
          <a:p>
            <a:pPr indent="0" marL="0">
              <a:buNone/>
            </a:pPr>
            <a:r>
              <a:rPr lang="en-US" sz="1300" i="1" dirty="0">
                <a:solidFill>
                  <a:srgbClr val="5A6470"/>
                </a:solidFill>
                <a:latin typeface="Calibri" pitchFamily="34" charset="0"/>
                <a:ea typeface="Calibri" pitchFamily="34" charset="-122"/>
                <a:cs typeface="Calibri" pitchFamily="34" charset="-120"/>
              </a:rPr>
              <a:t>Blue: statistical limits, no new infrastructure  |  Purple: unified model  |  Green: clinical translation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16324F"/>
          </a:solidFill>
          <a:ln w="12700">
            <a:solidFill>
              <a:srgbClr val="16324F"/>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P</a:t>
            </a:r>
            <a:endParaRPr lang="en-US" sz="1500" dirty="0"/>
          </a:p>
        </p:txBody>
      </p:sp>
      <p:sp>
        <p:nvSpPr>
          <p:cNvPr id="4" name="Text 2"/>
          <p:cNvSpPr txBox="1"/>
          <p:nvPr/>
        </p:nvSpPr>
        <p:spPr>
          <a:xfrm>
            <a:off x="1234440" y="274320"/>
            <a:ext cx="10424160" cy="731520"/>
          </a:xfrm>
          <a:prstGeom prst="rect">
            <a:avLst/>
          </a:prstGeom>
          <a:noFill/>
          <a:ln/>
        </p:spPr>
        <p:txBody>
          <a:bodyPr wrap="square" lIns="0" tIns="0" rIns="0" bIns="0" rtlCol="0" anchor="ctr"/>
          <a:lstStyle/>
          <a:p>
            <a:pPr indent="0" marL="0">
              <a:buNone/>
            </a:pPr>
            <a:r>
              <a:rPr lang="en-US" sz="2800" b="1" dirty="0">
                <a:solidFill>
                  <a:srgbClr val="16324F"/>
                </a:solidFill>
                <a:latin typeface="Cambria" pitchFamily="34" charset="0"/>
                <a:ea typeface="Cambria" pitchFamily="34" charset="-122"/>
                <a:cs typeface="Cambria" pitchFamily="34" charset="-120"/>
              </a:rPr>
              <a:t>Scientific output</a:t>
            </a:r>
            <a:endParaRPr lang="en-US" sz="2800" dirty="0"/>
          </a:p>
        </p:txBody>
      </p:sp>
      <p:sp>
        <p:nvSpPr>
          <p:cNvPr id="5" name="Text 3"/>
          <p:cNvSpPr txBox="1"/>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8A94A0"/>
                </a:solidFill>
                <a:latin typeface="Calibri" pitchFamily="34" charset="0"/>
                <a:ea typeface="Calibri" pitchFamily="34" charset="-122"/>
                <a:cs typeface="Calibri" pitchFamily="34" charset="-120"/>
              </a:rPr>
              <a:t>N. Belhadj  |  PhD defence  |  ENSI, University of Manouba</a:t>
            </a:r>
            <a:endParaRPr lang="en-US" sz="1000" dirty="0"/>
          </a:p>
        </p:txBody>
      </p:sp>
      <p:sp>
        <p:nvSpPr>
          <p:cNvPr id="6" name="Text 4"/>
          <p:cNvSpPr txBox="1"/>
          <p:nvPr/>
        </p:nvSpPr>
        <p:spPr>
          <a:xfrm>
            <a:off x="10911535" y="6473952"/>
            <a:ext cx="731520" cy="274320"/>
          </a:xfrm>
          <a:prstGeom prst="rect">
            <a:avLst/>
          </a:prstGeom>
          <a:noFill/>
          <a:ln/>
        </p:spPr>
        <p:txBody>
          <a:bodyPr wrap="square" lIns="0" tIns="0" rIns="0" bIns="0" rtlCol="0" anchor="ctr"/>
          <a:lstStyle/>
          <a:p>
            <a:pPr algn="r" indent="0" marL="0">
              <a:buNone/>
            </a:pPr>
            <a:r>
              <a:rPr lang="en-US" sz="1000" dirty="0">
                <a:solidFill>
                  <a:srgbClr val="8A94A0"/>
                </a:solidFill>
                <a:latin typeface="Calibri" pitchFamily="34" charset="0"/>
                <a:ea typeface="Calibri" pitchFamily="34" charset="-122"/>
                <a:cs typeface="Calibri" pitchFamily="34" charset="-120"/>
              </a:rPr>
              <a:t>38</a:t>
            </a:r>
            <a:endParaRPr lang="en-US" sz="1000" dirty="0"/>
          </a:p>
        </p:txBody>
      </p:sp>
      <p:sp>
        <p:nvSpPr>
          <p:cNvPr id="8" name="Text 5"/>
          <p:cNvSpPr txBox="1"/>
          <p:nvPr/>
        </p:nvSpPr>
        <p:spPr>
          <a:xfrm>
            <a:off x="731520" y="1371600"/>
            <a:ext cx="3291840" cy="914400"/>
          </a:xfrm>
          <a:prstGeom prst="rect">
            <a:avLst/>
          </a:prstGeom>
          <a:noFill/>
          <a:ln/>
        </p:spPr>
        <p:txBody>
          <a:bodyPr wrap="square" lIns="0" tIns="0" rIns="0" bIns="0" rtlCol="0" anchor="ctr"/>
          <a:lstStyle/>
          <a:p>
            <a:pPr algn="l" indent="0" marL="0">
              <a:buNone/>
            </a:pPr>
            <a:r>
              <a:rPr lang="en-US" sz="5000" b="1" dirty="0">
                <a:solidFill>
                  <a:srgbClr val="16324F"/>
                </a:solidFill>
                <a:latin typeface="Cambria" pitchFamily="34" charset="0"/>
                <a:ea typeface="Cambria" pitchFamily="34" charset="-122"/>
                <a:cs typeface="Cambria" pitchFamily="34" charset="-120"/>
              </a:rPr>
              <a:t>13</a:t>
            </a:r>
            <a:endParaRPr lang="en-US" sz="5000" dirty="0"/>
          </a:p>
        </p:txBody>
      </p:sp>
      <p:sp>
        <p:nvSpPr>
          <p:cNvPr id="9" name="Text 6"/>
          <p:cNvSpPr txBox="1"/>
          <p:nvPr/>
        </p:nvSpPr>
        <p:spPr>
          <a:xfrm>
            <a:off x="731520" y="228600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publications supporting the thesis</a:t>
            </a:r>
            <a:endParaRPr lang="en-US" sz="1500" dirty="0"/>
          </a:p>
        </p:txBody>
      </p:sp>
      <p:sp>
        <p:nvSpPr>
          <p:cNvPr id="10" name="Text 7"/>
          <p:cNvSpPr txBox="1"/>
          <p:nvPr/>
        </p:nvSpPr>
        <p:spPr>
          <a:xfrm>
            <a:off x="4343400" y="1371600"/>
            <a:ext cx="3291840" cy="914400"/>
          </a:xfrm>
          <a:prstGeom prst="rect">
            <a:avLst/>
          </a:prstGeom>
          <a:noFill/>
          <a:ln/>
        </p:spPr>
        <p:txBody>
          <a:bodyPr wrap="square" lIns="0" tIns="0" rIns="0" bIns="0" rtlCol="0" anchor="ctr"/>
          <a:lstStyle/>
          <a:p>
            <a:pPr algn="l" indent="0" marL="0">
              <a:buNone/>
            </a:pPr>
            <a:r>
              <a:rPr lang="en-US" sz="5000" b="1" dirty="0">
                <a:solidFill>
                  <a:srgbClr val="1B7A4E"/>
                </a:solidFill>
                <a:latin typeface="Cambria" pitchFamily="34" charset="0"/>
                <a:ea typeface="Cambria" pitchFamily="34" charset="-122"/>
                <a:cs typeface="Cambria" pitchFamily="34" charset="-120"/>
              </a:rPr>
              <a:t>9</a:t>
            </a:r>
            <a:endParaRPr lang="en-US" sz="5000" dirty="0"/>
          </a:p>
        </p:txBody>
      </p:sp>
      <p:sp>
        <p:nvSpPr>
          <p:cNvPr id="11" name="Text 8"/>
          <p:cNvSpPr txBox="1"/>
          <p:nvPr/>
        </p:nvSpPr>
        <p:spPr>
          <a:xfrm>
            <a:off x="4343400" y="2286000"/>
            <a:ext cx="32918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accepted or published (7 conference papers, 2 book chapters)</a:t>
            </a:r>
            <a:endParaRPr lang="en-US" sz="1500" dirty="0"/>
          </a:p>
        </p:txBody>
      </p:sp>
      <p:sp>
        <p:nvSpPr>
          <p:cNvPr id="12" name="Text 9"/>
          <p:cNvSpPr txBox="1"/>
          <p:nvPr/>
        </p:nvSpPr>
        <p:spPr>
          <a:xfrm>
            <a:off x="7955280" y="1371600"/>
            <a:ext cx="3520440" cy="914400"/>
          </a:xfrm>
          <a:prstGeom prst="rect">
            <a:avLst/>
          </a:prstGeom>
          <a:noFill/>
          <a:ln/>
        </p:spPr>
        <p:txBody>
          <a:bodyPr wrap="square" lIns="0" tIns="0" rIns="0" bIns="0" rtlCol="0" anchor="ctr"/>
          <a:lstStyle/>
          <a:p>
            <a:pPr algn="l" indent="0" marL="0">
              <a:buNone/>
            </a:pPr>
            <a:r>
              <a:rPr lang="en-US" sz="5000" b="1" dirty="0">
                <a:solidFill>
                  <a:srgbClr val="6B3D8C"/>
                </a:solidFill>
                <a:latin typeface="Cambria" pitchFamily="34" charset="0"/>
                <a:ea typeface="Cambria" pitchFamily="34" charset="-122"/>
                <a:cs typeface="Cambria" pitchFamily="34" charset="-120"/>
              </a:rPr>
              <a:t>4</a:t>
            </a:r>
            <a:endParaRPr lang="en-US" sz="5000" dirty="0"/>
          </a:p>
        </p:txBody>
      </p:sp>
      <p:sp>
        <p:nvSpPr>
          <p:cNvPr id="13" name="Text 10"/>
          <p:cNvSpPr txBox="1"/>
          <p:nvPr/>
        </p:nvSpPr>
        <p:spPr>
          <a:xfrm>
            <a:off x="7955280" y="2286000"/>
            <a:ext cx="3520440" cy="640080"/>
          </a:xfrm>
          <a:prstGeom prst="rect">
            <a:avLst/>
          </a:prstGeom>
          <a:noFill/>
          <a:ln/>
        </p:spPr>
        <p:txBody>
          <a:bodyPr wrap="square" lIns="0" tIns="0" rIns="0" bIns="0" rtlCol="0" anchor="t"/>
          <a:lstStyle/>
          <a:p>
            <a:pPr indent="0" marL="0">
              <a:buNone/>
            </a:pPr>
            <a:r>
              <a:rPr lang="en-US" sz="1500" dirty="0">
                <a:solidFill>
                  <a:srgbClr val="5A6470"/>
                </a:solidFill>
                <a:latin typeface="Calibri" pitchFamily="34" charset="0"/>
                <a:ea typeface="Calibri" pitchFamily="34" charset="-122"/>
                <a:cs typeface="Calibri" pitchFamily="34" charset="-120"/>
              </a:rPr>
              <a:t>journal articles: 1 under revision (PLOS ONE), 3 under review</a:t>
            </a:r>
            <a:endParaRPr lang="en-US" sz="15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31520" y="3383280"/>
          <a:ext cx="10744200" cy="914400"/>
        </p:xfrm>
        <a:graphic>
          <a:graphicData uri="http://schemas.openxmlformats.org/drawingml/2006/table">
            <a:tbl>
              <a:tblPr/>
              <a:tblGrid>
                <a:gridCol w="1188720"/>
                <a:gridCol w="5715000"/>
                <a:gridCol w="38404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Chapter</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Content</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Publications</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6324F"/>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Graph template outside medicine; structural evidence on DR</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P1-P4, P7, B1, B2, J2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TOPORET; tests of H1 and H2</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J3 (PLOS ONE), P5 (ENASE), P6 (MIUA)</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DGTS and DOTS; H3</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J1, J4</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Software architecture, regulatory-oriented design</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P5</a:t>
                      </a:r>
                      <a:endParaRPr lang="en-US" sz="1400" dirty="0">
                        <a:latin typeface="Calibri" charset="0"/>
                        <a:ea typeface="Calibri" charset="0"/>
                        <a:cs typeface="Calibri" charset="0"/>
                      </a:endParaRPr>
                    </a:p>
                  </a:txBody>
                  <a:tcPr marL="76200" marR="76200" marT="38100" marB="3810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3F5F8"/>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324F"/>
        </a:solidFill>
      </p:bgPr>
    </p:bg>
    <p:spTree>
      <p:nvGrpSpPr>
        <p:cNvPr id="1" name=""/>
        <p:cNvGrpSpPr/>
        <p:nvPr/>
      </p:nvGrpSpPr>
      <p:grpSpPr>
        <a:xfrm>
          <a:off x="0" y="0"/>
          <a:ext cx="0" cy="0"/>
          <a:chOff x="0" y="0"/>
          <a:chExt cx="0" cy="0"/>
        </a:xfrm>
      </p:grpSpPr>
      <p:sp>
        <p:nvSpPr>
          <p:cNvPr id="2" name="Text 0"/>
          <p:cNvSpPr txBox="1"/>
          <p:nvPr/>
        </p:nvSpPr>
        <p:spPr>
          <a:xfrm>
            <a:off x="822960" y="548640"/>
            <a:ext cx="105156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Conclusion</a:t>
            </a:r>
            <a:endParaRPr lang="en-US" sz="4000" dirty="0"/>
          </a:p>
        </p:txBody>
      </p:sp>
      <p:sp>
        <p:nvSpPr>
          <p:cNvPr id="3" name="Shape 1"/>
          <p:cNvSpPr/>
          <p:nvPr/>
        </p:nvSpPr>
        <p:spPr>
          <a:xfrm>
            <a:off x="822960" y="1600200"/>
            <a:ext cx="777240" cy="777240"/>
          </a:xfrm>
          <a:prstGeom prst="ellipse">
            <a:avLst/>
          </a:prstGeom>
          <a:solidFill>
            <a:srgbClr val="1F4E79"/>
          </a:solidFill>
          <a:ln w="19050">
            <a:solidFill>
              <a:srgbClr val="FFFFFF"/>
            </a:solidFill>
            <a:prstDash val="solid"/>
          </a:ln>
        </p:spPr>
      </p:sp>
      <p:sp>
        <p:nvSpPr>
          <p:cNvPr id="4" name="Text 2"/>
          <p:cNvSpPr txBox="1"/>
          <p:nvPr/>
        </p:nvSpPr>
        <p:spPr>
          <a:xfrm>
            <a:off x="822960" y="160020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5" name="Text 3"/>
          <p:cNvSpPr txBox="1"/>
          <p:nvPr/>
        </p:nvSpPr>
        <p:spPr>
          <a:xfrm>
            <a:off x="1828800" y="1600200"/>
            <a:ext cx="210312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Relations</a:t>
            </a:r>
            <a:endParaRPr lang="en-US" sz="2200" dirty="0"/>
          </a:p>
        </p:txBody>
      </p:sp>
      <p:sp>
        <p:nvSpPr>
          <p:cNvPr id="6" name="Text 4"/>
          <p:cNvSpPr txBox="1"/>
          <p:nvPr/>
        </p:nvSpPr>
        <p:spPr>
          <a:xfrm>
            <a:off x="3931920" y="1600200"/>
            <a:ext cx="7406640" cy="7772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Evidence supporting H1: consistent gains, limited by five folds; inductive confirmation with DGTS.</a:t>
            </a:r>
            <a:endParaRPr lang="en-US" sz="1600" dirty="0"/>
          </a:p>
        </p:txBody>
      </p:sp>
      <p:sp>
        <p:nvSpPr>
          <p:cNvPr id="7" name="Shape 5"/>
          <p:cNvSpPr/>
          <p:nvPr/>
        </p:nvSpPr>
        <p:spPr>
          <a:xfrm>
            <a:off x="822960" y="2788920"/>
            <a:ext cx="777240" cy="777240"/>
          </a:xfrm>
          <a:prstGeom prst="ellipse">
            <a:avLst/>
          </a:prstGeom>
          <a:solidFill>
            <a:srgbClr val="1B7A4E"/>
          </a:solidFill>
          <a:ln w="19050">
            <a:solidFill>
              <a:srgbClr val="FFFFFF"/>
            </a:solidFill>
            <a:prstDash val="solid"/>
          </a:ln>
        </p:spPr>
      </p:sp>
      <p:sp>
        <p:nvSpPr>
          <p:cNvPr id="8" name="Text 6"/>
          <p:cNvSpPr txBox="1"/>
          <p:nvPr/>
        </p:nvSpPr>
        <p:spPr>
          <a:xfrm>
            <a:off x="822960" y="278892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S</a:t>
            </a:r>
            <a:endParaRPr lang="en-US" sz="2200" dirty="0"/>
          </a:p>
        </p:txBody>
      </p:sp>
      <p:sp>
        <p:nvSpPr>
          <p:cNvPr id="9" name="Text 7"/>
          <p:cNvSpPr txBox="1"/>
          <p:nvPr/>
        </p:nvSpPr>
        <p:spPr>
          <a:xfrm>
            <a:off x="1828800" y="2788920"/>
            <a:ext cx="210312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Topology</a:t>
            </a:r>
            <a:endParaRPr lang="en-US" sz="2200" dirty="0"/>
          </a:p>
        </p:txBody>
      </p:sp>
      <p:sp>
        <p:nvSpPr>
          <p:cNvPr id="10" name="Text 8"/>
          <p:cNvSpPr txBox="1"/>
          <p:nvPr/>
        </p:nvSpPr>
        <p:spPr>
          <a:xfrm>
            <a:off x="3931920" y="2788920"/>
            <a:ext cx="7406640" cy="7772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small but robust statistical association (H2); a useful regulariser in DGTS; not a biomarker.</a:t>
            </a:r>
            <a:endParaRPr lang="en-US" sz="1600" dirty="0"/>
          </a:p>
        </p:txBody>
      </p:sp>
      <p:sp>
        <p:nvSpPr>
          <p:cNvPr id="11" name="Shape 9"/>
          <p:cNvSpPr/>
          <p:nvPr/>
        </p:nvSpPr>
        <p:spPr>
          <a:xfrm>
            <a:off x="822960" y="3977640"/>
            <a:ext cx="777240" cy="777240"/>
          </a:xfrm>
          <a:prstGeom prst="ellipse">
            <a:avLst/>
          </a:prstGeom>
          <a:solidFill>
            <a:srgbClr val="6B3D8C"/>
          </a:solidFill>
          <a:ln w="19050">
            <a:solidFill>
              <a:srgbClr val="FFFFFF"/>
            </a:solidFill>
            <a:prstDash val="solid"/>
          </a:ln>
        </p:spPr>
      </p:sp>
      <p:sp>
        <p:nvSpPr>
          <p:cNvPr id="12" name="Text 10"/>
          <p:cNvSpPr txBox="1"/>
          <p:nvPr/>
        </p:nvSpPr>
        <p:spPr>
          <a:xfrm>
            <a:off x="822960" y="3977640"/>
            <a:ext cx="777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O</a:t>
            </a:r>
            <a:endParaRPr lang="en-US" sz="2200" dirty="0"/>
          </a:p>
        </p:txBody>
      </p:sp>
      <p:sp>
        <p:nvSpPr>
          <p:cNvPr id="13" name="Text 11"/>
          <p:cNvSpPr txBox="1"/>
          <p:nvPr/>
        </p:nvSpPr>
        <p:spPr>
          <a:xfrm>
            <a:off x="1828800" y="3977640"/>
            <a:ext cx="2103120" cy="7772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Ordinality</a:t>
            </a:r>
            <a:endParaRPr lang="en-US" sz="2200" dirty="0"/>
          </a:p>
        </p:txBody>
      </p:sp>
      <p:sp>
        <p:nvSpPr>
          <p:cNvPr id="14" name="Text 12"/>
          <p:cNvSpPr txBox="1"/>
          <p:nvPr/>
        </p:nvSpPr>
        <p:spPr>
          <a:xfrm>
            <a:off x="3931920" y="3977640"/>
            <a:ext cx="7406640" cy="7772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DOTS satisfies the screening targets at the point estimate, internally and on Messidor-2; safety not yet demonstrated.</a:t>
            </a:r>
            <a:endParaRPr lang="en-US" sz="1600" dirty="0"/>
          </a:p>
        </p:txBody>
      </p:sp>
      <p:sp>
        <p:nvSpPr>
          <p:cNvPr id="15" name="Text 13"/>
          <p:cNvSpPr txBox="1"/>
          <p:nvPr/>
        </p:nvSpPr>
        <p:spPr>
          <a:xfrm>
            <a:off x="822960" y="5212080"/>
            <a:ext cx="10515600" cy="73152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Relational, topological and ordinal information can complement deep visual representations for DR grading: here is the evidence, and here is exactly where it stops.</a:t>
            </a:r>
            <a:endParaRPr lang="en-US" sz="1800" dirty="0"/>
          </a:p>
        </p:txBody>
      </p:sp>
      <p:sp>
        <p:nvSpPr>
          <p:cNvPr id="16" name="Text 14"/>
          <p:cNvSpPr txBox="1"/>
          <p:nvPr/>
        </p:nvSpPr>
        <p:spPr>
          <a:xfrm>
            <a:off x="822960" y="5989320"/>
            <a:ext cx="10515600" cy="457200"/>
          </a:xfrm>
          <a:prstGeom prst="rect">
            <a:avLst/>
          </a:prstGeom>
          <a:noFill/>
          <a:ln/>
        </p:spPr>
        <p:txBody>
          <a:bodyPr wrap="square" lIns="0" tIns="0" rIns="0" bIns="0" rtlCol="0" anchor="ctr"/>
          <a:lstStyle/>
          <a:p>
            <a:pPr indent="0" marL="0">
              <a:buNone/>
            </a:pPr>
            <a:r>
              <a:rPr lang="en-US" sz="1800" b="1" dirty="0">
                <a:solidFill>
                  <a:srgbClr val="CADCFC"/>
                </a:solidFill>
                <a:latin typeface="Cambria" pitchFamily="34" charset="0"/>
                <a:ea typeface="Cambria" pitchFamily="34" charset="-122"/>
                <a:cs typeface="Cambria" pitchFamily="34" charset="-120"/>
              </a:rPr>
              <a:t>Thank you for your attention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PhD defence - Deep Learning-Based Prediction of Disease Severity Using Medical Imaging</dc:title>
  <dc:subject>PptxGenJS Presentation</dc:subject>
  <dc:creator>Nader Belhadj</dc:creator>
  <cp:lastModifiedBy>Nader Belhadj</cp:lastModifiedBy>
  <cp:revision>1</cp:revision>
  <dcterms:created xsi:type="dcterms:W3CDTF">2026-09-29T21:57:42Z</dcterms:created>
  <dcterms:modified xsi:type="dcterms:W3CDTF">2026-09-29T21:57:42Z</dcterms:modified>
</cp:coreProperties>
</file>