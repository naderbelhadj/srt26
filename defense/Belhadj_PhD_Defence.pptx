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324F"/>
                </a:solidFill>
                <a:latin typeface="Cambria"/>
              </a:defRPr>
            </a:pPr>
            <a:r>
              <a:rPr sz="1400" b="0" i="0" u="none" strike="noStrike">
                <a:solidFill>
                  <a:srgbClr val="16324F"/>
                </a:solidFill>
                <a:latin typeface="Cambria"/>
              </a:rPr>
              <a:t>QWK (mean over five folds)</a:t>
            </a:r>
          </a:p>
        </c:rich>
      </c:tx>
      <c:layout/>
      <c:overlay val="0"/>
    </c:title>
    <c:autoTitleDeleted val="0"/>
    <c:plotArea>
      <c:layout/>
      <c:barChart>
        <c:barDir val="col"/>
        <c:grouping val="clustered"/>
        <c:varyColors val="0"/>
        <c:ser>
          <c:idx val="0"/>
          <c:order val="0"/>
          <c:tx>
            <c:strRef>
              <c:f>Sheet1!$B$1</c:f>
              <c:strCache>
                <c:ptCount val="1"/>
                <c:pt idx="0">
                  <c:v>CNN baseline</c:v>
                </c:pt>
              </c:strCache>
            </c:strRef>
          </c:tx>
          <c:spPr>
            <a:solidFill>
              <a:srgbClr val="A7B4C2"/>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Sheet1!$A$2:$A$4</c:f>
              <c:multiLvlStrCache>
                <c:ptCount val="3"/>
                <c:lvl>
                  <c:pt idx="0">
                    <c:v>Kaggle DR</c:v>
                  </c:pt>
                  <c:pt idx="1">
                    <c:v>Messidor-2</c:v>
                  </c:pt>
                  <c:pt idx="2">
                    <c:v>APTOS 2019</c:v>
                  </c:pt>
                </c:lvl>
              </c:multiLvlStrCache>
            </c:multiLvlStrRef>
          </c:cat>
          <c:val>
            <c:numRef>
              <c:f>Sheet1!$B$2:$B$4</c:f>
              <c:numCache>
                <c:formatCode>General</c:formatCode>
                <c:ptCount val="3"/>
                <c:pt idx="0">
                  <c:v>0.84</c:v>
                </c:pt>
                <c:pt idx="1">
                  <c:v>0.83</c:v>
                </c:pt>
                <c:pt idx="2">
                  <c:v>0.82</c:v>
                </c:pt>
              </c:numCache>
            </c:numRef>
          </c:val>
        </c:ser>
        <c:ser>
          <c:idx val="1"/>
          <c:order val="1"/>
          <c:tx>
            <c:strRef>
              <c:f>Sheet1!$C$1</c:f>
              <c:strCache>
                <c:ptCount val="1"/>
                <c:pt idx="0">
                  <c:v>TOPORET</c:v>
                </c:pt>
              </c:strCache>
            </c:strRef>
          </c:tx>
          <c:spPr>
            <a:solidFill>
              <a:srgbClr val="1F4E79"/>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Sheet1!$A$2:$A$4</c:f>
              <c:multiLvlStrCache>
                <c:ptCount val="3"/>
                <c:lvl>
                  <c:pt idx="0">
                    <c:v>Kaggle DR</c:v>
                  </c:pt>
                  <c:pt idx="1">
                    <c:v>Messidor-2</c:v>
                  </c:pt>
                  <c:pt idx="2">
                    <c:v>APTOS 2019</c:v>
                  </c:pt>
                </c:lvl>
              </c:multiLvlStrCache>
            </c:multiLvlStrRef>
          </c:cat>
          <c:val>
            <c:numRef>
              <c:f>Sheet1!$C$2:$C$4</c:f>
              <c:numCache>
                <c:formatCode>General</c:formatCode>
                <c:ptCount val="3"/>
                <c:pt idx="0">
                  <c:v>0.88</c:v>
                </c:pt>
                <c:pt idx="1">
                  <c:v>0.9</c:v>
                </c:pt>
                <c:pt idx="2">
                  <c:v>0.86</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0.95"/>
          <c:min val="0.75"/>
        </c:scaling>
        <c:delete val="0"/>
        <c:axPos val="l"/>
        <c:majorGridlines>
          <c:spPr>
            <a:ln w="6350" cap="flat">
              <a:solidFill>
                <a:srgbClr val="E3E7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324F"/>
                </a:solidFill>
                <a:latin typeface="Cambria"/>
              </a:defRPr>
            </a:pPr>
            <a:r>
              <a:rPr sz="1400" b="0" i="0" u="none" strike="noStrike">
                <a:solidFill>
                  <a:srgbClr val="16324F"/>
                </a:solidFill>
                <a:latin typeface="Cambria"/>
              </a:rPr>
              <a:t>QWK on Kaggle DR (five folds)</a:t>
            </a:r>
          </a:p>
        </c:rich>
      </c:tx>
      <c:layout/>
      <c:overlay val="0"/>
    </c:title>
    <c:autoTitleDeleted val="0"/>
    <c:plotArea>
      <c:layout/>
      <c:barChart>
        <c:barDir val="col"/>
        <c:grouping val="clustered"/>
        <c:varyColors val="0"/>
        <c:ser>
          <c:idx val="0"/>
          <c:order val="0"/>
          <c:tx>
            <c:strRef>
              <c:f>Sheet1!$B$1</c:f>
              <c:strCache>
                <c:ptCount val="1"/>
                <c:pt idx="0">
                  <c:v>QWK</c:v>
                </c:pt>
              </c:strCache>
            </c:strRef>
          </c:tx>
          <c:spPr>
            <a:solidFill>
              <a:srgbClr val="1F4E79"/>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Sheet1!$A$2:$A$5</c:f>
              <c:multiLvlStrCache>
                <c:ptCount val="4"/>
                <c:lvl>
                  <c:pt idx="0">
                    <c:v>(A) CNN only</c:v>
                  </c:pt>
                  <c:pt idx="1">
                    <c:v>(B) + TDA features</c:v>
                  </c:pt>
                  <c:pt idx="2">
                    <c:v>(C) + graph (TDA in edges)</c:v>
                  </c:pt>
                  <c:pt idx="3">
                    <c:v>(D) Full TOPORET</c:v>
                  </c:pt>
                </c:lvl>
              </c:multiLvlStrCache>
            </c:multiLvlStrRef>
          </c:cat>
          <c:val>
            <c:numRef>
              <c:f>Sheet1!$B$2:$B$5</c:f>
              <c:numCache>
                <c:formatCode>General</c:formatCode>
                <c:ptCount val="4"/>
                <c:pt idx="0">
                  <c:v>0.84</c:v>
                </c:pt>
                <c:pt idx="1">
                  <c:v>0.86</c:v>
                </c:pt>
                <c:pt idx="2">
                  <c:v>0.87</c:v>
                </c:pt>
                <c:pt idx="3">
                  <c:v>0.88</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0.9"/>
          <c:min val="0.8"/>
        </c:scaling>
        <c:delete val="0"/>
        <c:axPos val="l"/>
        <c:majorGridlines>
          <c:spPr>
            <a:ln w="6350" cap="flat">
              <a:solidFill>
                <a:srgbClr val="E3E7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324F"/>
                </a:solidFill>
                <a:latin typeface="Cambria"/>
              </a:defRPr>
            </a:pPr>
            <a:r>
              <a:rPr sz="1400" b="0" i="0" u="none" strike="noStrike">
                <a:solidFill>
                  <a:srgbClr val="16324F"/>
                </a:solidFill>
                <a:latin typeface="Cambria"/>
              </a:rPr>
              <a:t>DGTS ablation, QWK (A1-A5 on APTOS 2019)</a:t>
            </a:r>
          </a:p>
        </c:rich>
      </c:tx>
      <c:layout/>
      <c:overlay val="0"/>
    </c:title>
    <c:autoTitleDeleted val="0"/>
    <c:plotArea>
      <c:layout/>
      <c:barChart>
        <c:barDir val="col"/>
        <c:grouping val="clustered"/>
        <c:varyColors val="0"/>
        <c:ser>
          <c:idx val="0"/>
          <c:order val="0"/>
          <c:tx>
            <c:strRef>
              <c:f>Sheet1!$B$1</c:f>
              <c:strCache>
                <c:ptCount val="1"/>
                <c:pt idx="0">
                  <c:v>QWK</c:v>
                </c:pt>
              </c:strCache>
            </c:strRef>
          </c:tx>
          <c:spPr>
            <a:solidFill>
              <a:srgbClr val="1B7A4E"/>
            </a:solidFill>
            <a:effectLst/>
          </c:spPr>
          <c:invertIfNegative val="0"/>
          <c:dLbls>
            <c:numFmt formatCode="0.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Sheet1!$A$2:$A$8</c:f>
              <c:multiLvlStrCache>
                <c:ptCount val="7"/>
                <c:lvl>
                  <c:pt idx="0">
                    <c:v>A1 CNN</c:v>
                  </c:pt>
                  <c:pt idx="1">
                    <c:v>A2 + focal</c:v>
                  </c:pt>
                  <c:pt idx="2">
                    <c:v>A3 + graph</c:v>
                  </c:pt>
                  <c:pt idx="3">
                    <c:v>A4 + PH</c:v>
                  </c:pt>
                  <c:pt idx="4">
                    <c:v>A5 graph+PH</c:v>
                  </c:pt>
                  <c:pt idx="5">
                    <c:v>A6 DGTS (fused)</c:v>
                  </c:pt>
                  <c:pt idx="6">
                    <c:v>A7 EMD loss</c:v>
                  </c:pt>
                </c:lvl>
              </c:multiLvlStrCache>
            </c:multiLvlStrRef>
          </c:cat>
          <c:val>
            <c:numRef>
              <c:f>Sheet1!$B$2:$B$8</c:f>
              <c:numCache>
                <c:formatCode>General</c:formatCode>
                <c:ptCount val="7"/>
                <c:pt idx="0">
                  <c:v>0.858</c:v>
                </c:pt>
                <c:pt idx="1">
                  <c:v>0.878</c:v>
                </c:pt>
                <c:pt idx="2">
                  <c:v>0.896</c:v>
                </c:pt>
                <c:pt idx="3">
                  <c:v>0.908</c:v>
                </c:pt>
                <c:pt idx="4">
                  <c:v>0.93</c:v>
                </c:pt>
                <c:pt idx="5">
                  <c:v>0.941</c:v>
                </c:pt>
                <c:pt idx="6">
                  <c:v>0.921</c:v>
                </c:pt>
              </c:numCache>
            </c:numRef>
          </c:val>
        </c:ser>
        <c:dLbls>
          <c:numFmt formatCode="0.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0.96"/>
          <c:min val="0.8"/>
        </c:scaling>
        <c:delete val="0"/>
        <c:axPos val="l"/>
        <c:majorGridlines>
          <c:spPr>
            <a:ln w="6350" cap="flat">
              <a:solidFill>
                <a:srgbClr val="E3E7EC"/>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324F"/>
                </a:solidFill>
                <a:latin typeface="Cambria"/>
              </a:defRPr>
            </a:pPr>
            <a:r>
              <a:rPr sz="1400" b="0" i="0" u="none" strike="noStrike">
                <a:solidFill>
                  <a:srgbClr val="16324F"/>
                </a:solidFill>
                <a:latin typeface="Cambria"/>
              </a:rPr>
              <a:t>Progressive ablation, QWK (5-fold CV, 10 epochs)</a:t>
            </a:r>
          </a:p>
        </c:rich>
      </c:tx>
      <c:layout/>
      <c:overlay val="0"/>
    </c:title>
    <c:autoTitleDeleted val="0"/>
    <c:plotArea>
      <c:layout/>
      <c:barChart>
        <c:barDir val="col"/>
        <c:grouping val="clustered"/>
        <c:varyColors val="0"/>
        <c:ser>
          <c:idx val="0"/>
          <c:order val="0"/>
          <c:tx>
            <c:strRef>
              <c:f>Sheet1!$B$1</c:f>
              <c:strCache>
                <c:ptCount val="1"/>
                <c:pt idx="0">
                  <c:v>QWK</c:v>
                </c:pt>
              </c:strCache>
            </c:strRef>
          </c:tx>
          <c:spPr>
            <a:solidFill>
              <a:srgbClr val="6B3D8C"/>
            </a:solidFill>
            <a:effectLst/>
          </c:spPr>
          <c:invertIfNegative val="0"/>
          <c:dLbls>
            <c:numFmt formatCode="0.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Sheet1!$A$2:$A$6</c:f>
              <c:multiLvlStrCache>
                <c:ptCount val="5"/>
                <c:lvl>
                  <c:pt idx="0">
                    <c:v>EfficientNet-B3</c:v>
                  </c:pt>
                  <c:pt idx="1">
                    <c:v>+ TTA ×5</c:v>
                  </c:pt>
                  <c:pt idx="2">
                    <c:v>+ GraphSAGE</c:v>
                  </c:pt>
                  <c:pt idx="3">
                    <c:v>FRE replacing graph</c:v>
                  </c:pt>
                  <c:pt idx="4">
                    <c:v>+ CORAL (DOTS)</c:v>
                  </c:pt>
                </c:lvl>
              </c:multiLvlStrCache>
            </c:multiLvlStrRef>
          </c:cat>
          <c:val>
            <c:numRef>
              <c:f>Sheet1!$B$2:$B$6</c:f>
              <c:numCache>
                <c:formatCode>General</c:formatCode>
                <c:ptCount val="5"/>
                <c:pt idx="0">
                  <c:v>0.903</c:v>
                </c:pt>
                <c:pt idx="1">
                  <c:v>0.918</c:v>
                </c:pt>
                <c:pt idx="2">
                  <c:v>0.928</c:v>
                </c:pt>
                <c:pt idx="3">
                  <c:v>0.937</c:v>
                </c:pt>
                <c:pt idx="4">
                  <c:v>0.943</c:v>
                </c:pt>
              </c:numCache>
            </c:numRef>
          </c:val>
        </c:ser>
        <c:dLbls>
          <c:numFmt formatCode="0.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0.95"/>
          <c:min val="0.88"/>
        </c:scaling>
        <c:delete val="0"/>
        <c:axPos val="l"/>
        <c:majorGridlines>
          <c:spPr>
            <a:ln w="6350" cap="flat">
              <a:solidFill>
                <a:srgbClr val="E3E7EC"/>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01:00]  Monsieur le Président, Mesdames et Messieurs les membres du jury, bonjour. Je vous remercie d'avoir accepté d'évaluer ce travail. Je vais vous présenter ma thèse intitulée « Deep Learning-Based Prediction of Disease Severity Using Medical Imaging: An Application to Diabetology ». En une phrase : cette thèse étudie comment trois types d'information – les relations entre les images, la topologie des vaisseaux de la rétine et l'ordre des grades de la maladie – peuvent améliorer le classement automatique de la rétinopathie diabétique. Les trois cercles R, S et O que vous voyez reviendront tout au long de la présentation : R pour relationnel, S pour structurel, c'est-à-dire la topologie, et O pour ordinal.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 – 01:45]  La présentation suit la logique de la thèse. Je commence par le contexte médical, que j'expliquerai simplement. Je présente ensuite le problème, les trois hypothèses et la méthodologie, puis les outils utilisés et les premiers résultats qui ont motivé le travail. Viennent ensuite les trois systèmes : TOPORET, puis DGTS et DOTS. Je dirai un mot de la partie logicielle et réglementaire, et je terminerai par une synthèse : ce qui est établi, ce qui ne l'est pas encore, et les perspectives.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[01:45 – 02:00]  Première partie : le contexte, et pourquoi le classement de la rétinopathie diabétique est un problème de sécurité, pas seulement de précision.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 03:15]  Le diabète abîme progressivement les petits vaisseaux sanguins du corps, et en particulier ceux de la rétine, au fond de l'œil. C'est la rétinopathie diabétique. Environ 537 millions d'adultes vivent avec un diabète, et l'on en attend 783 millions en 2045. Environ 103 millions de personnes ont une rétinopathie diabétique, et c'est l'une des premières causes de cécité évitable chez l'adulte en âge de travailler. La difficulté principale est que la maladie est silencieuse : le patient voit normalement jusqu'à un stade avancé, alors que le traitement est surtout efficace tôt. La seule réponse efficace à l'échelle d'une population est donc le dépistage régulier : on photographie le fond d'œil de chaque patient diabétique, et un expert classe l'image. Or le nombre d'images dépasse aujourd'hui largement le nombre d'experts disponibles, surtout là où les ophtalmologistes sont rares. Le classement automatique par apprentissage profond est donc la réponse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[03:15 – 04:45]  Voici ce que voit l'expert. L'échelle internationale ICDR compte cinq grades. Le grade 0 : pas de rétinopathie. Le grade 1, légère : seulement des micro-anévrismes, de petites dilatations des capillaires. Le grade 2, modérée : des hémorragies et des exsudats apparaissent. Le grade 3, sévère, défini par la règle dite 4-2-1 : de nombreuses hémorragies dans les quatre quadrants, ou des veines en chapelet, ou des anomalies microvasculaires. Enfin le grade 4, proliférant : de nouveaux vaisseaux anormaux se forment ; c'est une urgence. Deux faits guident toute la thèse. Premièrement, les grades sont ordonnés : confondre un grade 0 avec un grade 4 est beaucoup plus grave que confondre un grade 1 avec un grade 2. Deuxièmement, les grades 3 et 4 doivent être orientés vers l'ophtalmologiste en quelques semaines, voire en urgence. Ce sont donc les erreurs sur ces grades qui comptent le plus pour le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[04:45 – 06:15]  Un système peut avoir une très bonne précision globale et pourtant laisser passer des cas graves. Pour le mesurer, j'utilise le Sev-NR, le taux de non-orientation des cas sévères : la proportion d'images de grade 3 que le système classe « pas de rétinopathie » ou « légère », et qui ne seraient donc pas orientées. Le PDR-NR est la même mesure pour le grade 4. Un exemple illustratif : un programme qui dépiste 500 000 patients par an, dont environ 25 000 ont une forme sévère. Avec un Sev-NR de 5,8 % – c'est la valeur d'un CNN de référence sur la base externe Messidor-2 dans cette thèse –, environ 1 450 cas sévères ne seraient pas orientés chaque année. Je précise que c'est une projection sous hypothèses de prévalence, pas un résultat clinique. Mais elle explique un choix de la thèse : les métriques de sécurité sont toujours rapportées à côté de la précision, et vérifiées sur des données d'un autre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[06:15 – 07:45]  En étudiant les systèmes représentatifs de la littérature – par exemple Gulshan et al. en 2016, CABNet en 2021 ou RETFound en 2023 –, on observe trois limites d'architecture. L1 : chaque image est classée isolément ; des patients qui se ressemblent, et qui ont souvent le même grade, ne s'informent jamais. L2 : les réseaux de convolution voient la texture locale, mais ne mesurent pas explicitement la structure globale de l'arbre vasculaire – ses composantes et ses boucles –, qui change avec la maladie. L3 : les grades sont traités comme des catégories sans ordre, et le taux de cas sévères non orientés est rarement mesuré, encore moins sur des données externes. Je souligne que c'est une remarque d'architecture et non un jugement sur toute la littérature : plusieurs systèmes ont été validés prospectivement et déployés.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[07:45 – 08:00]  Deuxième partie : ce que la thèse cherche à tester, et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[08:00 – 09:30]  L'objectif est unique : exploiter les relations, la topologie et l'ordinalité pour améliorer le classement de la rétinopathie diabétique. Il se traduit par trois hypothèses, chacune liée à une limite. H1, l'hypothèse relationnelle : un graphe de population apporte une information au-delà de celle d'un classifieur image par image. H2, l'hypothèse structurelle : l'homologie persistante du réseau vasculaire est statistiquement associée à la sévérité. H3, l'hypothèse de sécurité ordinale : une chaîne ordinale satisfait des objectifs de dépistage fixés à l'avance – un QWK d'au moins 0,80, des taux de non-orientation d'au plus 2 %, et aucune confusion entre les grades 0 et 4 –, en interne et sur des données externes ; c'est H3a. Et aucune de ses variantes réduites n'y parvient ; c'est H3b. Pour H1 et H2, le test, le seuil de décision et la mesure de taille d'effet ont été fixés avant l'expérience, pour qu'un résultat négatif ne puisse pas être expliqué après coup.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[09:30 – 11:00]  Un choix méthodologique essentiel : la thèse propose un cadre de recherche à trois axes, et non un modèle unique. Chaque axe est porté par un système dédié, pour pouvoir mesurer sa contribution séparément, avec sa propre ablation. TOPORET teste ensemble les relations et la topologie des vaisseaux, sur trois bases publiques, selon un protocole transductif ; il porte H1 et H2. DGTS reprend ces deux ingrédients dans un graphe inductif, avec un régulariseur topologique dans l'espace des caractéristiques, et il est évalué sans réentraînement sur EyePACS. DOTS ajoute l'ordinalité et est évalué contre les objectifs de sécurité sur Messidor-2 ; il porte H3. Ces trois systèmes ne fournissent donc pas la même forme de preuve, et je le dis explicitement : preuve transductive pour TOPORET, preuve inductive et externe pour DGTS, preuve orientée dépistage, en estimation ponctuelle, pour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12:00]  Tous les systèmes reposent sur une chaîne en six étapes, avec des interfaces typées : le prétraitement et l'extraction du squelette vasculaire, un réseau de convolution, le calcul de l'homologie persistante, la fusion des caractéristiques, le graphe de population, et enfin la tête de classement. Les couleurs indiquent l'axe auquel appartient chaque étape. Ces interfaces typées permettent de tester chaque étape séparément ; je m'en sers au chapitre 6 pour la vérification logicielle.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12:15]  Troisième partie : les trois outils, puis les premiers résultats qui ont conduit à TOPORET.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 – 14:00]  Trois outils, expliqués simplement. Le premier est le graphe de population, traité par GraphSAGE. Chaque image est un nœud ; on relie les images qui se ressemblent ; puis le réseau agrège, pour chaque nœud, l'information de ses voisins. L'idée est qu'un cas ressemble souvent à ses voisins. Le deuxième est l'homologie persistante. On considère le squelette des vaisseaux comme un nuage de points, et l'on fait grossir progressivement une boule autour de chaque point. À chaque échelle, on compte les composantes connexes, notées H0, et les boucles, notées H1. Une boucle qui persiste sur une large gamme d'échelles est une vraie structure ; une boucle qui disparaît aussitôt est du bruit. Le troisième est la régression ordinale CORAL. Au lieu de choisir parmi cinq classes sans ordre, le modèle répond à quatre questions binaires emboîtées : le grade est-il au moins 1, au moins 2, au moins 3, au moins 4 ? L'ordre des grades est ainsi inscrit dans le modèle.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Avant de construire TOPORET, j'ai réuni trois indices, présentés au chapitre 3. F1 : le gabarit de graphe a d'abord été évalué hors de la médecine, sur l'orchestration de microservices et la détection d'anomalies, avec un F1 de 94,4 à 97,0 % dans l'étude de conférence. Mais la réévaluation sur dix exécutions montre honnêtement que les invariants ajoutés apportent de l'interprétabilité et de la robustesse à la dérive, pas un gain de précision significatif. F2 : sur APTOS 2019 en binaire, un modèle hybride CNN-GNN avec géométrie et topologie atteint 95,1 %, soit 7 points de plus que le CNN, sur un seul découpage. F3 : la structure vasculaire globale est discriminante, ce que confirment trois méthodes ; SAMF-GB, un modèle de boosting sur CPU, gagne 0,042 de QWK face à EfficientNet-B3 sur GPU. Ce n'est pas une comparaison d'architectures à armes égales, mais cela justifie de tester un graphe de population qui intègre la topologie.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15:45]  Quatrième partie : TOPORET, qui porte les hypothèses H1 et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 – 17:15]  TOPORET relie les images dans un graphe de population. Deux images sont proches si elles se ressemblent pour le réseau de convolution – c'est la similarité cosinus – et si leurs réseaux vasculaires ont une topologie proche – c'est le terme exponentiel sur la distance entre leurs descripteurs topologiques. Le poids alpha vaut 0,6 et le seuil tau 0,65, choisis par recherche sur grille avec les données de validation. La topologie joue un double rôle : dans les arêtes, et dans les caractéristiques des nœuds, qui concatènent 1 536 dimensions visuelles et 6 dimensions topologiques. Je précise le protocole, tel qu'il est dans le code publié : validation croisée en cinq plis, graine 42, au niveau de l'image, et transductive, c'est-à-dire que les images de test sont présentes dans le graphe comme nœuds non étiquetés.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[17:15 – 18:45]  Concrètement, on améliore le contraste avec CLAHE, on extrait le squelette des vaisseaux, on prend ses points de bifurcation comme nuage de points, puis on calcule une filtration de Vietoris-Rips avec la bibliothèque GUDHI, avec une longueur d'arête maximale de 100 pixels. On résume ensuite les diagrammes par six nombres : pour les composantes H0 comme pour les boucles H1, la persistance totale, l'entropie de persistance et le nombre de barres longues, une barre étant longue si elle dépasse 5 % de la plus longue barre. Je précise honnêtement que la similarité compare ces six statistiques, et non les diagrammes complets : c'est un résumé grossier de la topologie, moins coûteux, qui ne garde que l'information de ces statistiques.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 – 20:15]  Sur les trois bases, TOPORET améliore toutes les métriques par rapport au même CNN : le QWK passe de 0,84 à 0,88 sur Kaggle DR, de 0,83 à 0,90 sur Messidor-2, et de 0,82 à 0,86 sur APTOS 2019 ; la précision gagne de 1,5 à 2,3 points. Le gain est le plus grand sur Messidor-2, dont l'acquisition standardisée donne des squelettes plus propres, et le plus faible sur APTOS, dont la qualité d'image est plus variable. Une précaution importante : ces valeurs absolues sont obtenues en transductif, avec des plis au niveau de l'image ; elles ne se comparent pas directement aux systèmes publiés. Ce qui est valide, c'est la comparaison appariée avec le même CNN, sur les mêmes caractéristiques et les mêmes plis.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 – 22:30]  Le test de H1, fixé à l'avance, est un test t apparié sur les cinq plis, avec un seuil de 2,78 en valeur absolue. Sur Kaggle DR, t vaut 3,82, avec p égal à 0,019 : le test est passé, et il l'est aussi sur Messidor-2 et APTOS. Mais cinq plis, c'est peu : quatre degrés de liberté. J'ai donc ajouté deux analyses. Un bootstrap sur les différences donne un intervalle de plus 0,021 à plus 0,059, qui exclut zéro. Un test de permutation exact donne p égal à un trente-deuxième, le minimum possible, car le gain est positif dans chaque pli. Il reste un point : les plis partagent l'essentiel de leurs données d'entraînement. J'ai appliqué la correction de Nadeau et Bengio. Après correction, aucune base seule ne reste sous 0,05 : p vaut 0,070, 0,058 et 0,088. Les trois bases étant indépendantes, je les combine par la méthode de Fisher, ce qui donne p égal à 0,015. Mon verdict est donc le suivant : des preuves convergentes mais limitées en faveur de H1, dans les conditions évaluées, et non une preuve d'un avantage général des graphes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[22:30 – 23:45]  L'ablation sur Kaggle DR isole chaque composant. Ajouter seulement les descripteurs topologiques aux nœuds, sans graphe, donne plus 0,02 de QWK. Le graphe avec des caractéristiques visuelles seules, la topologie n'intervenant que dans les arêtes, donne plus 0,03 : c'est le plus gros contributeur. Le modèle complet donne plus 0,04. Les contributions sont donc complémentaires et à peu près additives. La matrice de confusion montre que l'amélioration la plus nette se situe à la frontière entre les grades léger et modéré, la plus ambiguë aussi pour les experts humains. Je précise que les tests de l'ablation ne sont pas corrigés du chevauchement des plis.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 – 25:30]  H2 est testée par une analyse de variance fixée à l'avance : la persistance totale H1 est comparée entre les cinq grades, sur les 35 126 images de Kaggle DR. On obtient F égal à 84,3, avec p inférieur à 0,001, soit environ 23 fois la valeur critique. Le seuil de décision, 0,005, est inférieur au niveau de Bonferroni pour six descripteurs. Et comme les deux yeux d'un même patient ne sont pas indépendants, j'ai vérifié que même avec un échantillon effectif divisé par deux, F resterait autour de 42. Mais la taille d'effet est petite : êta carré vaut environ 0,01, c'est-à-dire que le grade explique environ 1 % de la variance. Ma conclusion est donc mesurée : c'est une association statistique robuste, pas une causalité, et pas une signification biologique démontrée. Un lien avec la néovascularisation est plausible, mais non vérifié ; j'emploie le terme de caractéristique topologique associée à la sévérité, et non de biomarqueur. C'est cohérent avec l'ablation : la topologie est une information complémentaire.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27:00]  J'expose moi-même les limites de TOPORET. Validité interne : le protocole est transductif ; les caractéristiques des images de test, mais pas leurs grades, influencent leurs voisins pendant l'entraînement. Ce n'est donc pas équivalent à une évaluation strictement inductive et indépendante du patient. Validité statistique : cinq plis, une graine, et une significativité corrigée seulement pour les trois bases combinées. Validité externe : Kaggle DR et Messidor-2 contiennent les deux yeux de chaque patient ; une image de test peut être reliée à l'œil adelphe du même patient. Deux faits limitent ce risque : le gain est aussi observé sur APTOS, qui n'a qu'une image par patient, et DGTS montre un gain du graphe en mode inductif. La réévaluation au niveau du patient est la première de mes perspectives.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[27:00 – 27:15]  Cinquième partie : les deux systèmes entraînés sur un corpus multi-source, et le test de H3.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[27:15 – 28:45]  TOPORET laissait trois lacunes : un entraînement sur une seule source, une perte qui ignore l'ordre des grades, et une sécurité non mesurée. DGTS et DOTS partagent le même corpus fusionné : APTOS 2019, 3 662 images, et KaggleDR-F1, 2 197 images, soit 5 859 images, dont 309 sévères et 472 proliférantes. Pour ce corpus, le découpage par image est aussi un découpage par patient. Un point d'honnêteté sur la provenance : KaggleDR-F1 contient exactement 60 % des effectifs d'APTOS dans chaque grade. Un chevauchement entre les deux sources n'est donc pas exclu, et je lis la validation croisée comme une preuve interne multi-source, peut-être optimiste. C'est pourquoi les conclusions reposent d'abord sur les évaluations externes : EyePACS pour DGTS, 35 126 images, vérifié sans doublon, et Messidor-2 pour DOTS, 1 744 images acquises en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[28:45 – 30:15]  DGTS utilise un EfficientNet-B4 gelé, puis construit un graphe des huit plus proches voisins, par similarité cosinus, uniquement sur les images d'entraînement : l'évaluation est donc inductive. Un GraphSAGE à deux couches traite ce graphe. En parallèle, une branche d'homologie persistante décrit la forme du voisinage de chaque nœud dans l'espace des caractéristiques. Un point souvent demandé : à l'inférence, ce descripteur vaut zéro ; la topologie agit comme un régulariseur d'entraînement, à travers les gradients, et tous les chiffres sont mesurés dans ce réglage. Ce n'est pas non plus la topologie des vaisseaux. L'ablation, sur APTOS, montre que le graphe apporte 0,018 de QWK, le régulariseur 0,030, les deux ensemble 0,052, et la fusion des sources 0,011 de plus. Un test de Wilcoxon de DGTS contre le CNN donne p égal à 0,031.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[30:15 – 31:15]  Appliqué sans réentraînement aux 35 126 images d'EyePACS, DGTS atteint un QWK de 0,925, soit une baisse de seulement 0,016 par rapport à la validation croisée. C'est une bonne généralisation. Mais son Sev-NR externe est d'environ 2,1 %, légèrement au-dessus de l'objectif de 2 %. C'est l'une des leçons principales de la thèse : une bonne précision ne garantit pas la sécurité, il faut mesurer les deux séparément. C'est ce qui motive DOTS. DGTS classe une image en 18,3 millisecondes sur un GPU T4.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[31:15 – 32:15]  Les objectifs de H3 ont été fixés à l'avance : un QWK d'au moins 0,80, un Sev-NR et un PDR-NR d'au plus 2 %, et aucune confusion entre les grades 0 et 4. Ils viennent de l'article DOTS et s'inspirent de la pratique du dépistage : l'essai pivot de l'IA autonome et le programme national anglais. Ce ne sont pas des seuils réglementaires. Et la définition est explicite : une image sévère prédite « modérée » compte comme orientée, ce qui correspond à un parcours où le grade modéré est déjà orientable ; une définition plus stricte donnerait des taux plus élevés.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[32:15 – 33:45]  DOTS utilise un EfficientNet-B3 affiné de bout en bout, une projection, un encodeur de raffinement appelé FRE, une tête ordinale CORAL et une augmentation au test sur cinq transformations. Une remarque honnête sur le FRE : il a la forme d'un bloc transformer, mais il opère sur une séquence de longueur un ; l'attention n'y fait donc rien, et c'est en pratique un perceptron résiduel normalisé. Je ne revendique aucun bénéfice de l'attention. L'ablation, à budget égal de dix époques, montre la progression : 0,903 pour le CNN, 0,918 avec l'augmentation au test, 0,928 avec GraphSAGE, 0,937 avec le FRE à la place du graphe, et 0,943 avec CORAL. Le graphe aide ici aussi, ce qui est cohérent avec H1, mais le FRE fait mieux à moindre coût.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[33:45 – 35:15]  Voici les résultats de DOTS. En interne, sur les 5 859 prédictions hors pli : un QWK de 0,953, un Sev-NR de 0,97 %, soit 3 images sur 309, un PDR-NR de 1,27 %, soit 6 sur 472, et aucune confusion entre 0 et 4. Sur Messidor-2, jamais vu pendant l'entraînement : un QWK de 0,931, un Sev-NR de 1,4 % et un PDR-NR de 1,9 %. Les performances observées satisfont donc tous les objectifs, en estimation ponctuelle. Mais avec 309 images sévères, l'intervalle exact du Sev-NR interne va de 0,2 à 2,8 % : il dépasse 2 %. Et les intervalles externes ne peuvent pas être calculés à partir des effectifs publiés. La sécurité n'est donc pas démontrée. Au taux observé, il faudrait environ 650 images sévères pour que la borne supérieure passe sous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[35:15 – 36:45]  H3b est testée sur Messidor-2. Chaque variante réduite échoue sur le Sev-NR : 5,8 % pour le CNN de base, 4,1 % avec GraphSAGE, 3,7 % avec CORAL seul, 2,9 % avec l'augmentation au test seule. Seule la chaîne complète descend à 1,4 %. Sur la figure, les barres représentent le QWK et les lignes les taux de non-orientation ; toutes les métriques évoluent dans le même sens. L'enseignement est le suivant : le composant qui améliore le plus la sécurité n'est pas celui qui améliore le plus le QWK. La limite : cette conclusion vaut pour les variantes de cette ablation, pas pour tout système auquel il manquerait l'un de ces composants.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[36:45 – 37:45]  La structure des erreurs compte autant que leur nombre. Sur 597 erreurs, 82,9 % sont entre grades adjacents, et aucune ne traverse quatre grades. La confusion dominante est de « léger » vers « modéré » : une sur-orientation, pas une sous-orientation. Les images sévères ont un rappel de 0,770 : DOTS prédit « sévère » plus souvent qu'il ne le faudrait, ce qui est la bonne direction pour l'orientation. Après une mise à l'échelle de température, l'erreur de calibration passe de 0,067 à 0,031, sans changer le QWK. Et le test de McNemar entre DOTS et le CNN donne p égal à 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[37:45 – 38:00]  Sixième partie, brièvement : l'ingénierie logicielle.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[38:00 – 39:15]  Le chapitre 6 relie l'architecture aux exigences de trois référentiels : IEC 62304 pour le cycle de vie du logiciel et la vérification unitaire, ISO 14971 pour la gestion des risques, avec une AMDEC sur six dangers, et l'EU AI Act, qui classe un tel système à haut risque. C'est un exercice d'ingénierie, pas une évaluation de conformité, ni un marquage CE, ni une autorisation de la FDA. Le tableau d'état le montre clairement : les chaînes sont implémentées en code de recherche et évaluées rétrospectivement ; le plan de vérification est spécifié ; l'adaptateur FHIR vers le dossier patient est conçu mais pas implémenté ; il n'y a ni déploiement ni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[39:15 – 39:30]  Dernière partie : la synthèse.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[39:30 – 40:30]  Cette figure résume l'ensemble. En haut, l'objectif commun. Au milieu, les trois systèmes, qui apportent chacun un type de preuve différent : une preuve transductive pour TOPORET, une preuve inductive et externe pour DGTS, une preuve orientée dépistage pour DOTS. Toute cette preuve est rétrospective, obtenue sur des données publiques, en interne et sur deux bases externes. Et en bas, en rouge, ce qui n'est pas encore évalué : un modèle unique à trois axes, TOPORET au niveau du patient, plusieurs graines, une étude de lecteurs, des études prospectives et multi-sites, et la validation clinique.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42:00]  Je distingue trois niveaux. Ce qui est montré directement, ce sont les quantités mesurées : le gain de TOPORET dans chaque pli des trois bases, les gains du graphe et du régulariseur dans DGTS, le QWK externe de DGTS, les estimations ponctuelles de DOTS qui satisfont les objectifs, et l'échec des quatre variantes réduites. Ce qui est soutenu sans être établi de façon concluante : que l'information relationnelle améliore le classement, que la topologie porte une information liée à la sévérité, et que la chaîne ordinale est assez sûre pour le dépistage. Enfin, ce que la thèse ne revendique pas : la sécurité clinique, la conformité réglementaire, la prédiction longitudinale, ou une supériorité générale des graphes. La contribution centrale est donc un ensemble structuré de preuves rétrospectives sur la façon dont ces trois informations complètent les représentations visuelles profondes.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 – 43:30]  Les limites définissent directement les perspectives, par ordre de coût. D'abord, réévaluer TOPORET avec un découpage par patient et un graphe construit à chaque pli : le code publié n'a besoin que d'un découpage groupé. Ensuite, répéter les expériences sur plusieurs graines, et ajouter de nouvelles bases externes avec assez de cas sévères, environ 650. Puis construire un modèle unifié – graphe, topologie vasculaire et tête CORAL – avec un mécanisme d'abstention fondé sur les probabilités calibrées de DOTS. Viendraient ensuite une étude de lecteurs, une étude prospective pré-enregistrée, dimensionnée sur environ 1 240 images sévères pour une puissance de 80 %, une vraie validation multi-site ou fédérée, et enfin la validation clinique au sens du règlement européen sur les dispositifs médicaux.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[43:30 – 44:00]  Treize publications soutiennent la thèse : neuf sont acceptées ou publiées – sept articles de conférence, notamment à ICAART, ICPRAM, ENASE, MIUA et IJCNN, et deux chapitres de livre chez Springer – et quatre articles de revue sont soumis, dont un en révision à PLOS ONE et trois en cours d'évaluation.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Pour conclure, sur les trois axes. R, les relations : des preuves en faveur de H1, cohérentes mais limitées par cinq plis, et confirmées en mode inductif avec DGTS. S, la topologie : une association statistique faible mais robuste, et un régulariseur utile dans DGTS, sans être un biomarqueur. O, l'ordinalité : DOTS satisfait les objectifs de dépistage en estimation ponctuelle, en interne et sur Messidor-2, mais sa sécurité n'est pas encore démontrée. Les informations relationnelles, topologiques et ordinales peuvent compléter les représentations visuelles profondes pour le classement de la rétinopathie diabétique : voici la preuve, et voici exactement où elle s'arrête. Je vous remercie de votre attention, et je suis prêt à répondre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pic>
        <p:nvPicPr>
          <p:cNvPr id="2" name="Image 0" descr="/home/user/SRT26/img/logo_manouba.png">    </p:cNvPr>
          <p:cNvPicPr>
            <a:picLocks noChangeAspect="1"/>
          </p:cNvPicPr>
          <p:nvPr/>
        </p:nvPicPr>
        <p:blipFill>
          <a:blip r:embed="rId1"/>
          <a:stretch>
            <a:fillRect/>
          </a:stretch>
        </p:blipFill>
        <p:spPr>
          <a:xfrm>
            <a:off x="640080" y="411480"/>
            <a:ext cx="868680" cy="868680"/>
          </a:xfrm>
          <a:prstGeom prst="rect">
            <a:avLst/>
          </a:prstGeom>
        </p:spPr>
      </p:pic>
      <p:pic>
        <p:nvPicPr>
          <p:cNvPr id="3" name="Image 1" descr="/home/user/SRT26/img/logo_ensi.png">    </p:cNvPr>
          <p:cNvPicPr>
            <a:picLocks noChangeAspect="1"/>
          </p:cNvPicPr>
          <p:nvPr/>
        </p:nvPicPr>
        <p:blipFill>
          <a:blip r:embed="rId2"/>
          <a:stretch>
            <a:fillRect/>
          </a:stretch>
        </p:blipFill>
        <p:spPr>
          <a:xfrm>
            <a:off x="10682935" y="411480"/>
            <a:ext cx="868680" cy="868680"/>
          </a:xfrm>
          <a:prstGeom prst="rect">
            <a:avLst/>
          </a:prstGeom>
        </p:spPr>
      </p:pic>
      <p:sp>
        <p:nvSpPr>
          <p:cNvPr id="4" name="Text 0"/>
          <p:cNvSpPr txBox="1"/>
          <p:nvPr/>
        </p:nvSpPr>
        <p:spPr>
          <a:xfrm>
            <a:off x="2011680" y="548640"/>
            <a:ext cx="8138160" cy="548640"/>
          </a:xfrm>
          <a:prstGeom prst="rect">
            <a:avLst/>
          </a:prstGeom>
          <a:noFill/>
          <a:ln/>
        </p:spPr>
        <p:txBody>
          <a:bodyPr wrap="square" lIns="0" tIns="0" rIns="0" bIns="0" rtlCol="0" anchor="ctr"/>
          <a:lstStyle/>
          <a:p>
            <a:pPr algn="ctr" indent="0" marL="0">
              <a:buNone/>
            </a:pPr>
            <a:r>
              <a:rPr lang="en-US" sz="1400" dirty="0">
                <a:solidFill>
                  <a:srgbClr val="CADCFC"/>
                </a:solidFill>
                <a:latin typeface="Calibri" pitchFamily="34" charset="0"/>
                <a:ea typeface="Calibri" pitchFamily="34" charset="-122"/>
                <a:cs typeface="Calibri" pitchFamily="34" charset="-120"/>
              </a:rPr>
              <a:t>University of Manouba  |  National School of Computer Sciences (ENSI)  |  HANALab</a:t>
            </a:r>
            <a:endParaRPr lang="en-US" sz="1400" dirty="0"/>
          </a:p>
        </p:txBody>
      </p:sp>
      <p:sp>
        <p:nvSpPr>
          <p:cNvPr id="5" name="Text 1"/>
          <p:cNvSpPr txBox="1"/>
          <p:nvPr/>
        </p:nvSpPr>
        <p:spPr>
          <a:xfrm>
            <a:off x="822960" y="1417320"/>
            <a:ext cx="10515600" cy="14630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Deep Learning-Based Prediction of Disease Severity Using Medical Imaging</a:t>
            </a:r>
            <a:endParaRPr lang="en-US" sz="3400" dirty="0"/>
          </a:p>
        </p:txBody>
      </p:sp>
      <p:sp>
        <p:nvSpPr>
          <p:cNvPr id="6" name="Text 2"/>
          <p:cNvSpPr txBox="1"/>
          <p:nvPr/>
        </p:nvSpPr>
        <p:spPr>
          <a:xfrm>
            <a:off x="822960" y="3017520"/>
            <a:ext cx="10515600" cy="548640"/>
          </a:xfrm>
          <a:prstGeom prst="rect">
            <a:avLst/>
          </a:prstGeom>
          <a:noFill/>
          <a:ln/>
        </p:spPr>
        <p:txBody>
          <a:bodyPr wrap="square" lIns="0" tIns="0" rIns="0" bIns="0" rtlCol="0" anchor="ctr"/>
          <a:lstStyle/>
          <a:p>
            <a:pPr algn="ctr" indent="0" marL="0">
              <a:buNone/>
            </a:pPr>
            <a:r>
              <a:rPr lang="en-US" sz="2400" i="1" dirty="0">
                <a:solidFill>
                  <a:srgbClr val="CADCFC"/>
                </a:solidFill>
                <a:latin typeface="Cambria" pitchFamily="34" charset="0"/>
                <a:ea typeface="Cambria" pitchFamily="34" charset="-122"/>
                <a:cs typeface="Cambria" pitchFamily="34" charset="-120"/>
              </a:rPr>
              <a:t>An Application to Diabetology</a:t>
            </a:r>
            <a:endParaRPr lang="en-US" sz="2400" dirty="0"/>
          </a:p>
        </p:txBody>
      </p:sp>
      <p:sp>
        <p:nvSpPr>
          <p:cNvPr id="7" name="Shape 3"/>
          <p:cNvSpPr/>
          <p:nvPr/>
        </p:nvSpPr>
        <p:spPr>
          <a:xfrm>
            <a:off x="5138928" y="3840480"/>
            <a:ext cx="502920" cy="502920"/>
          </a:xfrm>
          <a:prstGeom prst="ellipse">
            <a:avLst/>
          </a:prstGeom>
          <a:solidFill>
            <a:srgbClr val="1F4E79"/>
          </a:solidFill>
          <a:ln w="19050">
            <a:solidFill>
              <a:srgbClr val="FFFFFF"/>
            </a:solidFill>
            <a:prstDash val="solid"/>
          </a:ln>
        </p:spPr>
      </p:sp>
      <p:sp>
        <p:nvSpPr>
          <p:cNvPr id="8" name="Text 4"/>
          <p:cNvSpPr txBox="1"/>
          <p:nvPr/>
        </p:nvSpPr>
        <p:spPr>
          <a:xfrm>
            <a:off x="5138928" y="38404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R</a:t>
            </a:r>
            <a:endParaRPr lang="en-US" sz="1600" dirty="0"/>
          </a:p>
        </p:txBody>
      </p:sp>
      <p:sp>
        <p:nvSpPr>
          <p:cNvPr id="9" name="Shape 5"/>
          <p:cNvSpPr/>
          <p:nvPr/>
        </p:nvSpPr>
        <p:spPr>
          <a:xfrm>
            <a:off x="5824728" y="3840480"/>
            <a:ext cx="502920" cy="502920"/>
          </a:xfrm>
          <a:prstGeom prst="ellipse">
            <a:avLst/>
          </a:prstGeom>
          <a:solidFill>
            <a:srgbClr val="1B7A4E"/>
          </a:solidFill>
          <a:ln w="19050">
            <a:solidFill>
              <a:srgbClr val="FFFFFF"/>
            </a:solidFill>
            <a:prstDash val="solid"/>
          </a:ln>
        </p:spPr>
      </p:sp>
      <p:sp>
        <p:nvSpPr>
          <p:cNvPr id="10" name="Text 6"/>
          <p:cNvSpPr txBox="1"/>
          <p:nvPr/>
        </p:nvSpPr>
        <p:spPr>
          <a:xfrm>
            <a:off x="5824728" y="38404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a:t>
            </a:r>
            <a:endParaRPr lang="en-US" sz="1600" dirty="0"/>
          </a:p>
        </p:txBody>
      </p:sp>
      <p:sp>
        <p:nvSpPr>
          <p:cNvPr id="11" name="Shape 7"/>
          <p:cNvSpPr/>
          <p:nvPr/>
        </p:nvSpPr>
        <p:spPr>
          <a:xfrm>
            <a:off x="6510528" y="3840480"/>
            <a:ext cx="502920" cy="502920"/>
          </a:xfrm>
          <a:prstGeom prst="ellipse">
            <a:avLst/>
          </a:prstGeom>
          <a:solidFill>
            <a:srgbClr val="6B3D8C"/>
          </a:solidFill>
          <a:ln w="19050">
            <a:solidFill>
              <a:srgbClr val="FFFFFF"/>
            </a:solidFill>
            <a:prstDash val="solid"/>
          </a:ln>
        </p:spPr>
      </p:sp>
      <p:sp>
        <p:nvSpPr>
          <p:cNvPr id="12" name="Text 8"/>
          <p:cNvSpPr txBox="1"/>
          <p:nvPr/>
        </p:nvSpPr>
        <p:spPr>
          <a:xfrm>
            <a:off x="6510528" y="38404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a:t>
            </a:r>
            <a:endParaRPr lang="en-US" sz="1600" dirty="0"/>
          </a:p>
        </p:txBody>
      </p:sp>
      <p:sp>
        <p:nvSpPr>
          <p:cNvPr id="13" name="Text 9"/>
          <p:cNvSpPr txBox="1"/>
          <p:nvPr/>
        </p:nvSpPr>
        <p:spPr>
          <a:xfrm>
            <a:off x="822960" y="4572000"/>
            <a:ext cx="10515600"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Nader BELHADJ</a:t>
            </a:r>
            <a:endParaRPr lang="en-US" sz="2400" dirty="0"/>
          </a:p>
        </p:txBody>
      </p:sp>
      <p:sp>
        <p:nvSpPr>
          <p:cNvPr id="14" name="Text 10"/>
          <p:cNvSpPr txBox="1"/>
          <p:nvPr/>
        </p:nvSpPr>
        <p:spPr>
          <a:xfrm>
            <a:off x="822960" y="5074920"/>
            <a:ext cx="10515600" cy="822960"/>
          </a:xfrm>
          <a:prstGeom prst="rect">
            <a:avLst/>
          </a:prstGeom>
          <a:noFill/>
          <a:ln/>
        </p:spPr>
        <p:txBody>
          <a:bodyPr wrap="square" lIns="0" tIns="0" rIns="0" bIns="0" rtlCol="0" anchor="ctr"/>
          <a:lstStyle/>
          <a:p>
            <a:pPr algn="ctr" indent="0" marL="0">
              <a:buNone/>
            </a:pPr>
            <a:r>
              <a:rPr lang="en-US" sz="1400" dirty="0">
                <a:solidFill>
                  <a:srgbClr val="CADCFC"/>
                </a:solidFill>
                <a:latin typeface="Calibri" pitchFamily="34" charset="0"/>
                <a:ea typeface="Calibri" pitchFamily="34" charset="-122"/>
                <a:cs typeface="Calibri" pitchFamily="34" charset="-120"/>
              </a:rPr>
              <a:t>Doctoral thesis in Computer Science (Artificial Intelligence)</a:t>
            </a:r>
            <a:endParaRPr lang="en-US" sz="1400" dirty="0"/>
          </a:p>
          <a:p>
            <a:pPr algn="ctr" indent="0" marL="0">
              <a:buNone/>
            </a:pPr>
            <a:r>
              <a:rPr lang="en-US" sz="1400" dirty="0">
                <a:solidFill>
                  <a:srgbClr val="CADCFC"/>
                </a:solidFill>
                <a:latin typeface="Calibri" pitchFamily="34" charset="0"/>
                <a:ea typeface="Calibri" pitchFamily="34" charset="-122"/>
                <a:cs typeface="Calibri" pitchFamily="34" charset="-120"/>
              </a:rPr>
              <a:t>Supervisor: Prof. Lassaad Latrach  |  Co-supervisor: Prof. Ridha Ghayoula (Laval University)  |  Co-advisor: Mohamed Amine Mezghich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i</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Outline</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731520" y="1463040"/>
            <a:ext cx="640080" cy="640080"/>
          </a:xfrm>
          <a:prstGeom prst="ellipse">
            <a:avLst/>
          </a:prstGeom>
          <a:solidFill>
            <a:srgbClr val="16324F"/>
          </a:solidFill>
          <a:ln w="12700">
            <a:solidFill>
              <a:srgbClr val="16324F"/>
            </a:solidFill>
            <a:prstDash val="solid"/>
          </a:ln>
        </p:spPr>
      </p:sp>
      <p:sp>
        <p:nvSpPr>
          <p:cNvPr id="9" name="Text 6"/>
          <p:cNvSpPr txBox="1"/>
          <p:nvPr/>
        </p:nvSpPr>
        <p:spPr>
          <a:xfrm>
            <a:off x="731520" y="1463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600200" y="1417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Context and problem</a:t>
            </a:r>
            <a:endParaRPr lang="en-US" sz="2000" dirty="0"/>
          </a:p>
        </p:txBody>
      </p:sp>
      <p:sp>
        <p:nvSpPr>
          <p:cNvPr id="11" name="Text 8"/>
          <p:cNvSpPr txBox="1"/>
          <p:nvPr/>
        </p:nvSpPr>
        <p:spPr>
          <a:xfrm>
            <a:off x="1600200" y="1828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Diabetic retinopathy, screening, three limitations</a:t>
            </a:r>
            <a:endParaRPr lang="en-US" sz="1400" dirty="0"/>
          </a:p>
        </p:txBody>
      </p:sp>
      <p:sp>
        <p:nvSpPr>
          <p:cNvPr id="12" name="Shape 9"/>
          <p:cNvSpPr/>
          <p:nvPr/>
        </p:nvSpPr>
        <p:spPr>
          <a:xfrm>
            <a:off x="731520" y="2606040"/>
            <a:ext cx="640080" cy="640080"/>
          </a:xfrm>
          <a:prstGeom prst="ellipse">
            <a:avLst/>
          </a:prstGeom>
          <a:solidFill>
            <a:srgbClr val="16324F"/>
          </a:solidFill>
          <a:ln w="12700">
            <a:solidFill>
              <a:srgbClr val="16324F"/>
            </a:solidFill>
            <a:prstDash val="solid"/>
          </a:ln>
        </p:spPr>
      </p:sp>
      <p:sp>
        <p:nvSpPr>
          <p:cNvPr id="13" name="Text 10"/>
          <p:cNvSpPr txBox="1"/>
          <p:nvPr/>
        </p:nvSpPr>
        <p:spPr>
          <a:xfrm>
            <a:off x="731520" y="2606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600200" y="2560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Hypotheses and methodology</a:t>
            </a:r>
            <a:endParaRPr lang="en-US" sz="2000" dirty="0"/>
          </a:p>
        </p:txBody>
      </p:sp>
      <p:sp>
        <p:nvSpPr>
          <p:cNvPr id="15" name="Text 12"/>
          <p:cNvSpPr txBox="1"/>
          <p:nvPr/>
        </p:nvSpPr>
        <p:spPr>
          <a:xfrm>
            <a:off x="1600200" y="2971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H1, H2, H3; three systems; pre-specified tests</a:t>
            </a:r>
            <a:endParaRPr lang="en-US" sz="1400" dirty="0"/>
          </a:p>
        </p:txBody>
      </p:sp>
      <p:sp>
        <p:nvSpPr>
          <p:cNvPr id="16" name="Shape 13"/>
          <p:cNvSpPr/>
          <p:nvPr/>
        </p:nvSpPr>
        <p:spPr>
          <a:xfrm>
            <a:off x="731520" y="3749040"/>
            <a:ext cx="640080" cy="640080"/>
          </a:xfrm>
          <a:prstGeom prst="ellipse">
            <a:avLst/>
          </a:prstGeom>
          <a:solidFill>
            <a:srgbClr val="5A6470"/>
          </a:solidFill>
          <a:ln w="12700">
            <a:solidFill>
              <a:srgbClr val="5A6470"/>
            </a:solidFill>
            <a:prstDash val="solid"/>
          </a:ln>
        </p:spPr>
      </p:sp>
      <p:sp>
        <p:nvSpPr>
          <p:cNvPr id="17" name="Text 14"/>
          <p:cNvSpPr txBox="1"/>
          <p:nvPr/>
        </p:nvSpPr>
        <p:spPr>
          <a:xfrm>
            <a:off x="731520" y="3749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1600200" y="3703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Tools and first evidence</a:t>
            </a:r>
            <a:endParaRPr lang="en-US" sz="2000" dirty="0"/>
          </a:p>
        </p:txBody>
      </p:sp>
      <p:sp>
        <p:nvSpPr>
          <p:cNvPr id="19" name="Text 16"/>
          <p:cNvSpPr txBox="1"/>
          <p:nvPr/>
        </p:nvSpPr>
        <p:spPr>
          <a:xfrm>
            <a:off x="1600200" y="4114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Graphs, persistent homology, ordinal regression (Ch. 2-3)</a:t>
            </a:r>
            <a:endParaRPr lang="en-US" sz="1400" dirty="0"/>
          </a:p>
        </p:txBody>
      </p:sp>
      <p:sp>
        <p:nvSpPr>
          <p:cNvPr id="20" name="Shape 17"/>
          <p:cNvSpPr/>
          <p:nvPr/>
        </p:nvSpPr>
        <p:spPr>
          <a:xfrm>
            <a:off x="731520" y="4892040"/>
            <a:ext cx="640080" cy="640080"/>
          </a:xfrm>
          <a:prstGeom prst="ellipse">
            <a:avLst/>
          </a:prstGeom>
          <a:solidFill>
            <a:srgbClr val="1F4E79"/>
          </a:solidFill>
          <a:ln w="12700">
            <a:solidFill>
              <a:srgbClr val="1F4E79"/>
            </a:solidFill>
            <a:prstDash val="solid"/>
          </a:ln>
        </p:spPr>
      </p:sp>
      <p:sp>
        <p:nvSpPr>
          <p:cNvPr id="21" name="Text 18"/>
          <p:cNvSpPr txBox="1"/>
          <p:nvPr/>
        </p:nvSpPr>
        <p:spPr>
          <a:xfrm>
            <a:off x="731520" y="4892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2" name="Text 19"/>
          <p:cNvSpPr txBox="1"/>
          <p:nvPr/>
        </p:nvSpPr>
        <p:spPr>
          <a:xfrm>
            <a:off x="1600200" y="4846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TOPORET</a:t>
            </a:r>
            <a:endParaRPr lang="en-US" sz="2000" dirty="0"/>
          </a:p>
        </p:txBody>
      </p:sp>
      <p:sp>
        <p:nvSpPr>
          <p:cNvPr id="23" name="Text 20"/>
          <p:cNvSpPr txBox="1"/>
          <p:nvPr/>
        </p:nvSpPr>
        <p:spPr>
          <a:xfrm>
            <a:off x="1600200" y="5257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Relations + vessel topology; tests of H1 and H2 (Ch. 4)</a:t>
            </a:r>
            <a:endParaRPr lang="en-US" sz="1400" dirty="0"/>
          </a:p>
        </p:txBody>
      </p:sp>
      <p:sp>
        <p:nvSpPr>
          <p:cNvPr id="24" name="Shape 21"/>
          <p:cNvSpPr/>
          <p:nvPr/>
        </p:nvSpPr>
        <p:spPr>
          <a:xfrm>
            <a:off x="6309360" y="1463040"/>
            <a:ext cx="640080" cy="640080"/>
          </a:xfrm>
          <a:prstGeom prst="ellipse">
            <a:avLst/>
          </a:prstGeom>
          <a:solidFill>
            <a:srgbClr val="6B3D8C"/>
          </a:solidFill>
          <a:ln w="12700">
            <a:solidFill>
              <a:srgbClr val="6B3D8C"/>
            </a:solidFill>
            <a:prstDash val="solid"/>
          </a:ln>
        </p:spPr>
      </p:sp>
      <p:sp>
        <p:nvSpPr>
          <p:cNvPr id="25" name="Text 22"/>
          <p:cNvSpPr txBox="1"/>
          <p:nvPr/>
        </p:nvSpPr>
        <p:spPr>
          <a:xfrm>
            <a:off x="6309360" y="1463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6" name="Text 23"/>
          <p:cNvSpPr txBox="1"/>
          <p:nvPr/>
        </p:nvSpPr>
        <p:spPr>
          <a:xfrm>
            <a:off x="7178040" y="1417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DGTS and DOTS</a:t>
            </a:r>
            <a:endParaRPr lang="en-US" sz="2000" dirty="0"/>
          </a:p>
        </p:txBody>
      </p:sp>
      <p:sp>
        <p:nvSpPr>
          <p:cNvPr id="27" name="Text 24"/>
          <p:cNvSpPr txBox="1"/>
          <p:nvPr/>
        </p:nvSpPr>
        <p:spPr>
          <a:xfrm>
            <a:off x="7178040" y="1828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Inductive graph; ordinal safety; test of H3 (Ch. 5)</a:t>
            </a:r>
            <a:endParaRPr lang="en-US" sz="1400" dirty="0"/>
          </a:p>
        </p:txBody>
      </p:sp>
      <p:sp>
        <p:nvSpPr>
          <p:cNvPr id="28" name="Shape 25"/>
          <p:cNvSpPr/>
          <p:nvPr/>
        </p:nvSpPr>
        <p:spPr>
          <a:xfrm>
            <a:off x="6309360" y="2606040"/>
            <a:ext cx="640080" cy="640080"/>
          </a:xfrm>
          <a:prstGeom prst="ellipse">
            <a:avLst/>
          </a:prstGeom>
          <a:solidFill>
            <a:srgbClr val="B35C00"/>
          </a:solidFill>
          <a:ln w="12700">
            <a:solidFill>
              <a:srgbClr val="B35C00"/>
            </a:solidFill>
            <a:prstDash val="solid"/>
          </a:ln>
        </p:spPr>
      </p:sp>
      <p:sp>
        <p:nvSpPr>
          <p:cNvPr id="29" name="Text 26"/>
          <p:cNvSpPr txBox="1"/>
          <p:nvPr/>
        </p:nvSpPr>
        <p:spPr>
          <a:xfrm>
            <a:off x="6309360" y="2606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0" name="Text 27"/>
          <p:cNvSpPr txBox="1"/>
          <p:nvPr/>
        </p:nvSpPr>
        <p:spPr>
          <a:xfrm>
            <a:off x="7178040" y="2560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Engineering</a:t>
            </a:r>
            <a:endParaRPr lang="en-US" sz="2000" dirty="0"/>
          </a:p>
        </p:txBody>
      </p:sp>
      <p:sp>
        <p:nvSpPr>
          <p:cNvPr id="31" name="Text 28"/>
          <p:cNvSpPr txBox="1"/>
          <p:nvPr/>
        </p:nvSpPr>
        <p:spPr>
          <a:xfrm>
            <a:off x="7178040" y="2971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Six-stage architecture, regulatory-oriented design (Ch. 6)</a:t>
            </a:r>
            <a:endParaRPr lang="en-US" sz="1400" dirty="0"/>
          </a:p>
        </p:txBody>
      </p:sp>
      <p:sp>
        <p:nvSpPr>
          <p:cNvPr id="32" name="Shape 29"/>
          <p:cNvSpPr/>
          <p:nvPr/>
        </p:nvSpPr>
        <p:spPr>
          <a:xfrm>
            <a:off x="6309360" y="3749040"/>
            <a:ext cx="640080" cy="640080"/>
          </a:xfrm>
          <a:prstGeom prst="ellipse">
            <a:avLst/>
          </a:prstGeom>
          <a:solidFill>
            <a:srgbClr val="16324F"/>
          </a:solidFill>
          <a:ln w="12700">
            <a:solidFill>
              <a:srgbClr val="16324F"/>
            </a:solidFill>
            <a:prstDash val="solid"/>
          </a:ln>
        </p:spPr>
      </p:sp>
      <p:sp>
        <p:nvSpPr>
          <p:cNvPr id="33" name="Text 30"/>
          <p:cNvSpPr txBox="1"/>
          <p:nvPr/>
        </p:nvSpPr>
        <p:spPr>
          <a:xfrm>
            <a:off x="6309360" y="37490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7</a:t>
            </a:r>
            <a:endParaRPr lang="en-US" sz="2000" dirty="0"/>
          </a:p>
        </p:txBody>
      </p:sp>
      <p:sp>
        <p:nvSpPr>
          <p:cNvPr id="34" name="Text 31"/>
          <p:cNvSpPr txBox="1"/>
          <p:nvPr/>
        </p:nvSpPr>
        <p:spPr>
          <a:xfrm>
            <a:off x="7178040" y="3703320"/>
            <a:ext cx="4480560" cy="411480"/>
          </a:xfrm>
          <a:prstGeom prst="rect">
            <a:avLst/>
          </a:prstGeom>
          <a:noFill/>
          <a:ln/>
        </p:spPr>
        <p:txBody>
          <a:bodyPr wrap="square" lIns="0" tIns="0" rIns="0" bIns="0" rtlCol="0" anchor="ctr"/>
          <a:lstStyle/>
          <a:p>
            <a:pPr indent="0" marL="0">
              <a:buNone/>
            </a:pPr>
            <a:r>
              <a:rPr lang="en-US" sz="2000" b="1" dirty="0">
                <a:solidFill>
                  <a:srgbClr val="16324F"/>
                </a:solidFill>
                <a:latin typeface="Cambria" pitchFamily="34" charset="0"/>
                <a:ea typeface="Cambria" pitchFamily="34" charset="-122"/>
                <a:cs typeface="Cambria" pitchFamily="34" charset="-120"/>
              </a:rPr>
              <a:t>Synthesis</a:t>
            </a:r>
            <a:endParaRPr lang="en-US" sz="2000" dirty="0"/>
          </a:p>
        </p:txBody>
      </p:sp>
      <p:sp>
        <p:nvSpPr>
          <p:cNvPr id="35" name="Text 32"/>
          <p:cNvSpPr txBox="1"/>
          <p:nvPr/>
        </p:nvSpPr>
        <p:spPr>
          <a:xfrm>
            <a:off x="7178040" y="4114800"/>
            <a:ext cx="448056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Evidence, limits, perspectives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16324F"/>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1</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Context and Problem</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Why grading diabetic retinopathy is a safety problem, not only an accuracy problem</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DR: a silent, preventable cause of blindness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4</a:t>
            </a:r>
            <a:endParaRPr lang="en-US" sz="1000" dirty="0"/>
          </a:p>
        </p:txBody>
      </p:sp>
      <p:sp>
        <p:nvSpPr>
          <p:cNvPr id="8" name="Text 5"/>
          <p:cNvSpPr txBox="1"/>
          <p:nvPr/>
        </p:nvSpPr>
        <p:spPr>
          <a:xfrm>
            <a:off x="731520" y="1463040"/>
            <a:ext cx="3291840" cy="914400"/>
          </a:xfrm>
          <a:prstGeom prst="rect">
            <a:avLst/>
          </a:prstGeom>
          <a:noFill/>
          <a:ln/>
        </p:spPr>
        <p:txBody>
          <a:bodyPr wrap="square" lIns="0" tIns="0" rIns="0" bIns="0" rtlCol="0" anchor="ctr"/>
          <a:lstStyle/>
          <a:p>
            <a:pPr algn="l" indent="0" marL="0">
              <a:buNone/>
            </a:pPr>
            <a:r>
              <a:rPr lang="en-US" sz="5000" b="1" dirty="0">
                <a:solidFill>
                  <a:srgbClr val="16324F"/>
                </a:solidFill>
                <a:latin typeface="Cambria" pitchFamily="34" charset="0"/>
                <a:ea typeface="Cambria" pitchFamily="34" charset="-122"/>
                <a:cs typeface="Cambria" pitchFamily="34" charset="-120"/>
              </a:rPr>
              <a:t>537 M</a:t>
            </a:r>
            <a:endParaRPr lang="en-US" sz="5000" dirty="0"/>
          </a:p>
        </p:txBody>
      </p:sp>
      <p:sp>
        <p:nvSpPr>
          <p:cNvPr id="9" name="Text 6"/>
          <p:cNvSpPr txBox="1"/>
          <p:nvPr/>
        </p:nvSpPr>
        <p:spPr>
          <a:xfrm>
            <a:off x="73152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adults with diabetes (783 M expected by 2045)</a:t>
            </a:r>
            <a:endParaRPr lang="en-US" sz="1500" dirty="0"/>
          </a:p>
        </p:txBody>
      </p:sp>
      <p:sp>
        <p:nvSpPr>
          <p:cNvPr id="10" name="Text 7"/>
          <p:cNvSpPr txBox="1"/>
          <p:nvPr/>
        </p:nvSpPr>
        <p:spPr>
          <a:xfrm>
            <a:off x="4343400" y="1463040"/>
            <a:ext cx="3291840" cy="914400"/>
          </a:xfrm>
          <a:prstGeom prst="rect">
            <a:avLst/>
          </a:prstGeom>
          <a:noFill/>
          <a:ln/>
        </p:spPr>
        <p:txBody>
          <a:bodyPr wrap="square" lIns="0" tIns="0" rIns="0" bIns="0" rtlCol="0" anchor="ctr"/>
          <a:lstStyle/>
          <a:p>
            <a:pPr algn="l" indent="0" marL="0">
              <a:buNone/>
            </a:pPr>
            <a:r>
              <a:rPr lang="en-US" sz="5000" b="1" dirty="0">
                <a:solidFill>
                  <a:srgbClr val="A32020"/>
                </a:solidFill>
                <a:latin typeface="Cambria" pitchFamily="34" charset="0"/>
                <a:ea typeface="Cambria" pitchFamily="34" charset="-122"/>
                <a:cs typeface="Cambria" pitchFamily="34" charset="-120"/>
              </a:rPr>
              <a:t>103 M</a:t>
            </a:r>
            <a:endParaRPr lang="en-US" sz="5000" dirty="0"/>
          </a:p>
        </p:txBody>
      </p:sp>
      <p:sp>
        <p:nvSpPr>
          <p:cNvPr id="11" name="Text 8"/>
          <p:cNvSpPr txBox="1"/>
          <p:nvPr/>
        </p:nvSpPr>
        <p:spPr>
          <a:xfrm>
            <a:off x="434340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people with diabetic retinopathy (DR)</a:t>
            </a:r>
            <a:endParaRPr lang="en-US" sz="1500" dirty="0"/>
          </a:p>
        </p:txBody>
      </p:sp>
      <p:sp>
        <p:nvSpPr>
          <p:cNvPr id="12" name="Text 9"/>
          <p:cNvSpPr txBox="1"/>
          <p:nvPr/>
        </p:nvSpPr>
        <p:spPr>
          <a:xfrm>
            <a:off x="7955280" y="1463040"/>
            <a:ext cx="3566160" cy="914400"/>
          </a:xfrm>
          <a:prstGeom prst="rect">
            <a:avLst/>
          </a:prstGeom>
          <a:noFill/>
          <a:ln/>
        </p:spPr>
        <p:txBody>
          <a:bodyPr wrap="square" lIns="0" tIns="0" rIns="0" bIns="0" rtlCol="0" anchor="ctr"/>
          <a:lstStyle/>
          <a:p>
            <a:pPr algn="l" indent="0" marL="0">
              <a:buNone/>
            </a:pPr>
            <a:r>
              <a:rPr lang="en-US" sz="5000" b="1" dirty="0">
                <a:solidFill>
                  <a:srgbClr val="6B3D8C"/>
                </a:solidFill>
                <a:latin typeface="Cambria" pitchFamily="34" charset="0"/>
                <a:ea typeface="Cambria" pitchFamily="34" charset="-122"/>
                <a:cs typeface="Cambria" pitchFamily="34" charset="-120"/>
              </a:rPr>
              <a:t>Silent</a:t>
            </a:r>
            <a:endParaRPr lang="en-US" sz="5000" dirty="0"/>
          </a:p>
        </p:txBody>
      </p:sp>
      <p:sp>
        <p:nvSpPr>
          <p:cNvPr id="13" name="Text 10"/>
          <p:cNvSpPr txBox="1"/>
          <p:nvPr/>
        </p:nvSpPr>
        <p:spPr>
          <a:xfrm>
            <a:off x="7955280" y="2377440"/>
            <a:ext cx="356616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vision is preserved until the disease is advanced; treatment works best early</a:t>
            </a:r>
            <a:endParaRPr lang="en-US" sz="1500" dirty="0"/>
          </a:p>
        </p:txBody>
      </p:sp>
      <p:sp>
        <p:nvSpPr>
          <p:cNvPr id="14" name="Shape 11"/>
          <p:cNvSpPr/>
          <p:nvPr/>
        </p:nvSpPr>
        <p:spPr>
          <a:xfrm>
            <a:off x="731520" y="3703320"/>
            <a:ext cx="10744200" cy="2331720"/>
          </a:xfrm>
          <a:prstGeom prst="roundRect">
            <a:avLst>
              <a:gd name="adj" fmla="val 3137"/>
            </a:avLst>
          </a:prstGeom>
          <a:solidFill>
            <a:srgbClr val="F3F5F8"/>
          </a:solidFill>
          <a:ln w="12700">
            <a:solidFill>
              <a:srgbClr val="F3F5F8"/>
            </a:solidFill>
            <a:prstDash val="solid"/>
          </a:ln>
        </p:spPr>
      </p:sp>
      <p:sp>
        <p:nvSpPr>
          <p:cNvPr id="15" name="Text 12"/>
          <p:cNvSpPr txBox="1"/>
          <p:nvPr/>
        </p:nvSpPr>
        <p:spPr>
          <a:xfrm>
            <a:off x="914400" y="3840480"/>
            <a:ext cx="10378440" cy="411480"/>
          </a:xfrm>
          <a:prstGeom prst="rect">
            <a:avLst/>
          </a:prstGeom>
          <a:noFill/>
          <a:ln/>
        </p:spPr>
        <p:txBody>
          <a:bodyPr wrap="square" lIns="0" tIns="0" rIns="0" bIns="0" rtlCol="0" anchor="t"/>
          <a:lstStyle/>
          <a:p>
            <a:pPr indent="0" marL="0">
              <a:buNone/>
            </a:pPr>
            <a:r>
              <a:rPr lang="en-US" sz="1800" b="1" dirty="0">
                <a:solidFill>
                  <a:srgbClr val="16324F"/>
                </a:solidFill>
                <a:latin typeface="Cambria" pitchFamily="34" charset="0"/>
                <a:ea typeface="Cambria" pitchFamily="34" charset="-122"/>
                <a:cs typeface="Cambria" pitchFamily="34" charset="-120"/>
              </a:rPr>
              <a:t>What it means in practice</a:t>
            </a:r>
            <a:endParaRPr lang="en-US" sz="1800" dirty="0"/>
          </a:p>
        </p:txBody>
      </p:sp>
      <p:sp>
        <p:nvSpPr>
          <p:cNvPr id="16" name="Text 13"/>
          <p:cNvSpPr txBox="1"/>
          <p:nvPr/>
        </p:nvSpPr>
        <p:spPr>
          <a:xfrm>
            <a:off x="914400" y="4297680"/>
            <a:ext cx="10378440" cy="16459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Every diabetic patient should have the retina photographed regularly (fundus photograph).</a:t>
            </a:r>
            <a:endParaRPr lang="en-US" sz="1600" dirty="0"/>
          </a:p>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Each image is graded by an expert on the five-level international ICDR scale.</a:t>
            </a:r>
            <a:endParaRPr lang="en-US" sz="1600" dirty="0"/>
          </a:p>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number of images now far exceeds the number of available graders, especially where ophthalmologists are scarce: automated grading is the natural answer.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What the grader sees: the five ICDR grades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5</a:t>
            </a:r>
            <a:endParaRPr lang="en-US" sz="1000" dirty="0"/>
          </a:p>
        </p:txBody>
      </p:sp>
      <p:pic>
        <p:nvPicPr>
          <p:cNvPr id="8" name="Image 0" descr="/home/user/SRT26/img/fundus_grade0.png">    </p:cNvPr>
          <p:cNvPicPr>
            <a:picLocks noChangeAspect="1"/>
          </p:cNvPicPr>
          <p:nvPr/>
        </p:nvPicPr>
        <p:blipFill>
          <a:blip r:embed="rId1"/>
          <a:stretch>
            <a:fillRect/>
          </a:stretch>
        </p:blipFill>
        <p:spPr>
          <a:xfrm>
            <a:off x="640080" y="1325880"/>
            <a:ext cx="2011680" cy="2011680"/>
          </a:xfrm>
          <a:prstGeom prst="rect">
            <a:avLst/>
          </a:prstGeom>
        </p:spPr>
      </p:pic>
      <p:sp>
        <p:nvSpPr>
          <p:cNvPr id="9" name="Text 5"/>
          <p:cNvSpPr txBox="1"/>
          <p:nvPr/>
        </p:nvSpPr>
        <p:spPr>
          <a:xfrm>
            <a:off x="640080" y="3474720"/>
            <a:ext cx="2011680" cy="411480"/>
          </a:xfrm>
          <a:prstGeom prst="rect">
            <a:avLst/>
          </a:prstGeom>
          <a:noFill/>
          <a:ln/>
        </p:spPr>
        <p:txBody>
          <a:bodyPr wrap="square" lIns="0" tIns="0" rIns="0" bIns="0" rtlCol="0" anchor="ctr"/>
          <a:lstStyle/>
          <a:p>
            <a:pPr algn="ctr" indent="0" marL="0">
              <a:buNone/>
            </a:pPr>
            <a:r>
              <a:rPr lang="en-US" sz="1600" b="1" dirty="0">
                <a:solidFill>
                  <a:srgbClr val="16324F"/>
                </a:solidFill>
                <a:latin typeface="Cambria" pitchFamily="34" charset="0"/>
                <a:ea typeface="Cambria" pitchFamily="34" charset="-122"/>
                <a:cs typeface="Cambria" pitchFamily="34" charset="-120"/>
              </a:rPr>
              <a:t>Grade 0  No DR</a:t>
            </a:r>
            <a:endParaRPr lang="en-US" sz="1600" dirty="0"/>
          </a:p>
        </p:txBody>
      </p:sp>
      <p:sp>
        <p:nvSpPr>
          <p:cNvPr id="10" name="Text 6"/>
          <p:cNvSpPr txBox="1"/>
          <p:nvPr/>
        </p:nvSpPr>
        <p:spPr>
          <a:xfrm>
            <a:off x="640080" y="3886200"/>
            <a:ext cx="2011680" cy="365760"/>
          </a:xfrm>
          <a:prstGeom prst="rect">
            <a:avLst/>
          </a:prstGeom>
          <a:noFill/>
          <a:ln/>
        </p:spPr>
        <p:txBody>
          <a:bodyPr wrap="square" lIns="0" tIns="0" rIns="0" bIns="0" rtlCol="0" anchor="ctr"/>
          <a:lstStyle/>
          <a:p>
            <a:pPr algn="ctr" indent="0" marL="0">
              <a:buNone/>
            </a:pPr>
            <a:r>
              <a:rPr lang="en-US" sz="1300" dirty="0">
                <a:solidFill>
                  <a:srgbClr val="1F2933"/>
                </a:solidFill>
                <a:latin typeface="Calibri" pitchFamily="34" charset="0"/>
                <a:ea typeface="Calibri" pitchFamily="34" charset="-122"/>
                <a:cs typeface="Calibri" pitchFamily="34" charset="-120"/>
              </a:rPr>
              <a:t>No lesion</a:t>
            </a:r>
            <a:endParaRPr lang="en-US" sz="1300" dirty="0"/>
          </a:p>
        </p:txBody>
      </p:sp>
      <p:sp>
        <p:nvSpPr>
          <p:cNvPr id="11" name="Text 7"/>
          <p:cNvSpPr txBox="1"/>
          <p:nvPr/>
        </p:nvSpPr>
        <p:spPr>
          <a:xfrm>
            <a:off x="640080" y="4251960"/>
            <a:ext cx="2011680" cy="365760"/>
          </a:xfrm>
          <a:prstGeom prst="rect">
            <a:avLst/>
          </a:prstGeom>
          <a:noFill/>
          <a:ln/>
        </p:spPr>
        <p:txBody>
          <a:bodyPr wrap="square" lIns="0" tIns="0" rIns="0" bIns="0" rtlCol="0" anchor="ctr"/>
          <a:lstStyle/>
          <a:p>
            <a:pPr algn="ctr" indent="0" marL="0">
              <a:buNone/>
            </a:pPr>
            <a:r>
              <a:rPr lang="en-US" sz="1300" i="1" dirty="0">
                <a:solidFill>
                  <a:srgbClr val="5A6470"/>
                </a:solidFill>
                <a:latin typeface="Calibri" pitchFamily="34" charset="0"/>
                <a:ea typeface="Calibri" pitchFamily="34" charset="-122"/>
                <a:cs typeface="Calibri" pitchFamily="34" charset="-120"/>
              </a:rPr>
              <a:t>Annual recall</a:t>
            </a:r>
            <a:endParaRPr lang="en-US" sz="1300" dirty="0"/>
          </a:p>
        </p:txBody>
      </p:sp>
      <p:pic>
        <p:nvPicPr>
          <p:cNvPr id="12" name="Image 1" descr="/home/user/SRT26/img/fundus_grade1.png">    </p:cNvPr>
          <p:cNvPicPr>
            <a:picLocks noChangeAspect="1"/>
          </p:cNvPicPr>
          <p:nvPr/>
        </p:nvPicPr>
        <p:blipFill>
          <a:blip r:embed="rId2"/>
          <a:stretch>
            <a:fillRect/>
          </a:stretch>
        </p:blipFill>
        <p:spPr>
          <a:xfrm>
            <a:off x="2862072" y="1325880"/>
            <a:ext cx="2011680" cy="2011680"/>
          </a:xfrm>
          <a:prstGeom prst="rect">
            <a:avLst/>
          </a:prstGeom>
        </p:spPr>
      </p:pic>
      <p:sp>
        <p:nvSpPr>
          <p:cNvPr id="13" name="Text 8"/>
          <p:cNvSpPr txBox="1"/>
          <p:nvPr/>
        </p:nvSpPr>
        <p:spPr>
          <a:xfrm>
            <a:off x="2862072" y="3474720"/>
            <a:ext cx="2011680" cy="411480"/>
          </a:xfrm>
          <a:prstGeom prst="rect">
            <a:avLst/>
          </a:prstGeom>
          <a:noFill/>
          <a:ln/>
        </p:spPr>
        <p:txBody>
          <a:bodyPr wrap="square" lIns="0" tIns="0" rIns="0" bIns="0" rtlCol="0" anchor="ctr"/>
          <a:lstStyle/>
          <a:p>
            <a:pPr algn="ctr" indent="0" marL="0">
              <a:buNone/>
            </a:pPr>
            <a:r>
              <a:rPr lang="en-US" sz="1600" b="1" dirty="0">
                <a:solidFill>
                  <a:srgbClr val="16324F"/>
                </a:solidFill>
                <a:latin typeface="Cambria" pitchFamily="34" charset="0"/>
                <a:ea typeface="Cambria" pitchFamily="34" charset="-122"/>
                <a:cs typeface="Cambria" pitchFamily="34" charset="-120"/>
              </a:rPr>
              <a:t>Grade 1  Mild</a:t>
            </a:r>
            <a:endParaRPr lang="en-US" sz="1600" dirty="0"/>
          </a:p>
        </p:txBody>
      </p:sp>
      <p:sp>
        <p:nvSpPr>
          <p:cNvPr id="14" name="Text 9"/>
          <p:cNvSpPr txBox="1"/>
          <p:nvPr/>
        </p:nvSpPr>
        <p:spPr>
          <a:xfrm>
            <a:off x="2862072" y="3886200"/>
            <a:ext cx="2011680" cy="365760"/>
          </a:xfrm>
          <a:prstGeom prst="rect">
            <a:avLst/>
          </a:prstGeom>
          <a:noFill/>
          <a:ln/>
        </p:spPr>
        <p:txBody>
          <a:bodyPr wrap="square" lIns="0" tIns="0" rIns="0" bIns="0" rtlCol="0" anchor="ctr"/>
          <a:lstStyle/>
          <a:p>
            <a:pPr algn="ctr" indent="0" marL="0">
              <a:buNone/>
            </a:pPr>
            <a:r>
              <a:rPr lang="en-US" sz="1300" dirty="0">
                <a:solidFill>
                  <a:srgbClr val="1F2933"/>
                </a:solidFill>
                <a:latin typeface="Calibri" pitchFamily="34" charset="0"/>
                <a:ea typeface="Calibri" pitchFamily="34" charset="-122"/>
                <a:cs typeface="Calibri" pitchFamily="34" charset="-120"/>
              </a:rPr>
              <a:t>Microaneurysms only</a:t>
            </a:r>
            <a:endParaRPr lang="en-US" sz="1300" dirty="0"/>
          </a:p>
        </p:txBody>
      </p:sp>
      <p:sp>
        <p:nvSpPr>
          <p:cNvPr id="15" name="Text 10"/>
          <p:cNvSpPr txBox="1"/>
          <p:nvPr/>
        </p:nvSpPr>
        <p:spPr>
          <a:xfrm>
            <a:off x="2862072" y="4251960"/>
            <a:ext cx="2011680" cy="365760"/>
          </a:xfrm>
          <a:prstGeom prst="rect">
            <a:avLst/>
          </a:prstGeom>
          <a:noFill/>
          <a:ln/>
        </p:spPr>
        <p:txBody>
          <a:bodyPr wrap="square" lIns="0" tIns="0" rIns="0" bIns="0" rtlCol="0" anchor="ctr"/>
          <a:lstStyle/>
          <a:p>
            <a:pPr algn="ctr" indent="0" marL="0">
              <a:buNone/>
            </a:pPr>
            <a:r>
              <a:rPr lang="en-US" sz="1300" i="1" dirty="0">
                <a:solidFill>
                  <a:srgbClr val="5A6470"/>
                </a:solidFill>
                <a:latin typeface="Calibri" pitchFamily="34" charset="0"/>
                <a:ea typeface="Calibri" pitchFamily="34" charset="-122"/>
                <a:cs typeface="Calibri" pitchFamily="34" charset="-120"/>
              </a:rPr>
              <a:t>12 months</a:t>
            </a:r>
            <a:endParaRPr lang="en-US" sz="1300" dirty="0"/>
          </a:p>
        </p:txBody>
      </p:sp>
      <p:pic>
        <p:nvPicPr>
          <p:cNvPr id="16" name="Image 2" descr="/home/user/SRT26/img/fundus_grade2.png">    </p:cNvPr>
          <p:cNvPicPr>
            <a:picLocks noChangeAspect="1"/>
          </p:cNvPicPr>
          <p:nvPr/>
        </p:nvPicPr>
        <p:blipFill>
          <a:blip r:embed="rId3"/>
          <a:stretch>
            <a:fillRect/>
          </a:stretch>
        </p:blipFill>
        <p:spPr>
          <a:xfrm>
            <a:off x="5084064" y="1325880"/>
            <a:ext cx="2011680" cy="2011680"/>
          </a:xfrm>
          <a:prstGeom prst="rect">
            <a:avLst/>
          </a:prstGeom>
        </p:spPr>
      </p:pic>
      <p:sp>
        <p:nvSpPr>
          <p:cNvPr id="17" name="Text 11"/>
          <p:cNvSpPr txBox="1"/>
          <p:nvPr/>
        </p:nvSpPr>
        <p:spPr>
          <a:xfrm>
            <a:off x="5084064" y="3474720"/>
            <a:ext cx="2011680" cy="411480"/>
          </a:xfrm>
          <a:prstGeom prst="rect">
            <a:avLst/>
          </a:prstGeom>
          <a:noFill/>
          <a:ln/>
        </p:spPr>
        <p:txBody>
          <a:bodyPr wrap="square" lIns="0" tIns="0" rIns="0" bIns="0" rtlCol="0" anchor="ctr"/>
          <a:lstStyle/>
          <a:p>
            <a:pPr algn="ctr" indent="0" marL="0">
              <a:buNone/>
            </a:pPr>
            <a:r>
              <a:rPr lang="en-US" sz="1600" b="1" dirty="0">
                <a:solidFill>
                  <a:srgbClr val="16324F"/>
                </a:solidFill>
                <a:latin typeface="Cambria" pitchFamily="34" charset="0"/>
                <a:ea typeface="Cambria" pitchFamily="34" charset="-122"/>
                <a:cs typeface="Cambria" pitchFamily="34" charset="-120"/>
              </a:rPr>
              <a:t>Grade 2  Moderate</a:t>
            </a:r>
            <a:endParaRPr lang="en-US" sz="1600" dirty="0"/>
          </a:p>
        </p:txBody>
      </p:sp>
      <p:sp>
        <p:nvSpPr>
          <p:cNvPr id="18" name="Text 12"/>
          <p:cNvSpPr txBox="1"/>
          <p:nvPr/>
        </p:nvSpPr>
        <p:spPr>
          <a:xfrm>
            <a:off x="5084064" y="3886200"/>
            <a:ext cx="2011680" cy="365760"/>
          </a:xfrm>
          <a:prstGeom prst="rect">
            <a:avLst/>
          </a:prstGeom>
          <a:noFill/>
          <a:ln/>
        </p:spPr>
        <p:txBody>
          <a:bodyPr wrap="square" lIns="0" tIns="0" rIns="0" bIns="0" rtlCol="0" anchor="ctr"/>
          <a:lstStyle/>
          <a:p>
            <a:pPr algn="ctr" indent="0" marL="0">
              <a:buNone/>
            </a:pPr>
            <a:r>
              <a:rPr lang="en-US" sz="1300" dirty="0">
                <a:solidFill>
                  <a:srgbClr val="1F2933"/>
                </a:solidFill>
                <a:latin typeface="Calibri" pitchFamily="34" charset="0"/>
                <a:ea typeface="Calibri" pitchFamily="34" charset="-122"/>
                <a:cs typeface="Calibri" pitchFamily="34" charset="-120"/>
              </a:rPr>
              <a:t>Haemorrhages, exudates</a:t>
            </a:r>
            <a:endParaRPr lang="en-US" sz="1300" dirty="0"/>
          </a:p>
        </p:txBody>
      </p:sp>
      <p:sp>
        <p:nvSpPr>
          <p:cNvPr id="19" name="Text 13"/>
          <p:cNvSpPr txBox="1"/>
          <p:nvPr/>
        </p:nvSpPr>
        <p:spPr>
          <a:xfrm>
            <a:off x="5084064" y="4251960"/>
            <a:ext cx="2011680" cy="365760"/>
          </a:xfrm>
          <a:prstGeom prst="rect">
            <a:avLst/>
          </a:prstGeom>
          <a:noFill/>
          <a:ln/>
        </p:spPr>
        <p:txBody>
          <a:bodyPr wrap="square" lIns="0" tIns="0" rIns="0" bIns="0" rtlCol="0" anchor="ctr"/>
          <a:lstStyle/>
          <a:p>
            <a:pPr algn="ctr" indent="0" marL="0">
              <a:buNone/>
            </a:pPr>
            <a:r>
              <a:rPr lang="en-US" sz="1300" i="1" dirty="0">
                <a:solidFill>
                  <a:srgbClr val="5A6470"/>
                </a:solidFill>
                <a:latin typeface="Calibri" pitchFamily="34" charset="0"/>
                <a:ea typeface="Calibri" pitchFamily="34" charset="-122"/>
                <a:cs typeface="Calibri" pitchFamily="34" charset="-120"/>
              </a:rPr>
              <a:t>6 months</a:t>
            </a:r>
            <a:endParaRPr lang="en-US" sz="1300" dirty="0"/>
          </a:p>
        </p:txBody>
      </p:sp>
      <p:pic>
        <p:nvPicPr>
          <p:cNvPr id="20" name="Image 3" descr="/home/user/SRT26/img/fundus_grade3.png">    </p:cNvPr>
          <p:cNvPicPr>
            <a:picLocks noChangeAspect="1"/>
          </p:cNvPicPr>
          <p:nvPr/>
        </p:nvPicPr>
        <p:blipFill>
          <a:blip r:embed="rId4"/>
          <a:stretch>
            <a:fillRect/>
          </a:stretch>
        </p:blipFill>
        <p:spPr>
          <a:xfrm>
            <a:off x="7306056" y="1325880"/>
            <a:ext cx="2011680" cy="2011680"/>
          </a:xfrm>
          <a:prstGeom prst="rect">
            <a:avLst/>
          </a:prstGeom>
        </p:spPr>
      </p:pic>
      <p:sp>
        <p:nvSpPr>
          <p:cNvPr id="21" name="Text 14"/>
          <p:cNvSpPr txBox="1"/>
          <p:nvPr/>
        </p:nvSpPr>
        <p:spPr>
          <a:xfrm>
            <a:off x="7306056" y="3474720"/>
            <a:ext cx="2011680" cy="411480"/>
          </a:xfrm>
          <a:prstGeom prst="rect">
            <a:avLst/>
          </a:prstGeom>
          <a:noFill/>
          <a:ln/>
        </p:spPr>
        <p:txBody>
          <a:bodyPr wrap="square" lIns="0" tIns="0" rIns="0" bIns="0" rtlCol="0" anchor="ctr"/>
          <a:lstStyle/>
          <a:p>
            <a:pPr algn="ctr" indent="0" marL="0">
              <a:buNone/>
            </a:pPr>
            <a:r>
              <a:rPr lang="en-US" sz="1600" b="1" dirty="0">
                <a:solidFill>
                  <a:srgbClr val="A32020"/>
                </a:solidFill>
                <a:latin typeface="Cambria" pitchFamily="34" charset="0"/>
                <a:ea typeface="Cambria" pitchFamily="34" charset="-122"/>
                <a:cs typeface="Cambria" pitchFamily="34" charset="-120"/>
              </a:rPr>
              <a:t>Grade 3  Severe</a:t>
            </a:r>
            <a:endParaRPr lang="en-US" sz="1600" dirty="0"/>
          </a:p>
        </p:txBody>
      </p:sp>
      <p:sp>
        <p:nvSpPr>
          <p:cNvPr id="22" name="Text 15"/>
          <p:cNvSpPr txBox="1"/>
          <p:nvPr/>
        </p:nvSpPr>
        <p:spPr>
          <a:xfrm>
            <a:off x="7306056" y="3886200"/>
            <a:ext cx="2011680" cy="365760"/>
          </a:xfrm>
          <a:prstGeom prst="rect">
            <a:avLst/>
          </a:prstGeom>
          <a:noFill/>
          <a:ln/>
        </p:spPr>
        <p:txBody>
          <a:bodyPr wrap="square" lIns="0" tIns="0" rIns="0" bIns="0" rtlCol="0" anchor="ctr"/>
          <a:lstStyle/>
          <a:p>
            <a:pPr algn="ctr" indent="0" marL="0">
              <a:buNone/>
            </a:pPr>
            <a:r>
              <a:rPr lang="en-US" sz="1300" dirty="0">
                <a:solidFill>
                  <a:srgbClr val="1F2933"/>
                </a:solidFill>
                <a:latin typeface="Calibri" pitchFamily="34" charset="0"/>
                <a:ea typeface="Calibri" pitchFamily="34" charset="-122"/>
                <a:cs typeface="Calibri" pitchFamily="34" charset="-120"/>
              </a:rPr>
              <a:t>4-2-1 rule</a:t>
            </a:r>
            <a:endParaRPr lang="en-US" sz="1300" dirty="0"/>
          </a:p>
        </p:txBody>
      </p:sp>
      <p:sp>
        <p:nvSpPr>
          <p:cNvPr id="23" name="Text 16"/>
          <p:cNvSpPr txBox="1"/>
          <p:nvPr/>
        </p:nvSpPr>
        <p:spPr>
          <a:xfrm>
            <a:off x="7306056" y="4251960"/>
            <a:ext cx="2011680" cy="365760"/>
          </a:xfrm>
          <a:prstGeom prst="rect">
            <a:avLst/>
          </a:prstGeom>
          <a:noFill/>
          <a:ln/>
        </p:spPr>
        <p:txBody>
          <a:bodyPr wrap="square" lIns="0" tIns="0" rIns="0" bIns="0" rtlCol="0" anchor="ctr"/>
          <a:lstStyle/>
          <a:p>
            <a:pPr algn="ctr" indent="0" marL="0">
              <a:buNone/>
            </a:pPr>
            <a:r>
              <a:rPr lang="en-US" sz="1300" i="1" dirty="0">
                <a:solidFill>
                  <a:srgbClr val="A32020"/>
                </a:solidFill>
                <a:latin typeface="Calibri" pitchFamily="34" charset="0"/>
                <a:ea typeface="Calibri" pitchFamily="34" charset="-122"/>
                <a:cs typeface="Calibri" pitchFamily="34" charset="-120"/>
              </a:rPr>
              <a:t>2-4 weeks</a:t>
            </a:r>
            <a:endParaRPr lang="en-US" sz="1300" dirty="0"/>
          </a:p>
        </p:txBody>
      </p:sp>
      <p:pic>
        <p:nvPicPr>
          <p:cNvPr id="24" name="Image 4" descr="/home/user/SRT26/img/fundus_grade4.png">    </p:cNvPr>
          <p:cNvPicPr>
            <a:picLocks noChangeAspect="1"/>
          </p:cNvPicPr>
          <p:nvPr/>
        </p:nvPicPr>
        <p:blipFill>
          <a:blip r:embed="rId5"/>
          <a:stretch>
            <a:fillRect/>
          </a:stretch>
        </p:blipFill>
        <p:spPr>
          <a:xfrm>
            <a:off x="9528048" y="1325880"/>
            <a:ext cx="2011680" cy="2011680"/>
          </a:xfrm>
          <a:prstGeom prst="rect">
            <a:avLst/>
          </a:prstGeom>
        </p:spPr>
      </p:pic>
      <p:sp>
        <p:nvSpPr>
          <p:cNvPr id="25" name="Text 17"/>
          <p:cNvSpPr txBox="1"/>
          <p:nvPr/>
        </p:nvSpPr>
        <p:spPr>
          <a:xfrm>
            <a:off x="9528048" y="3474720"/>
            <a:ext cx="2011680" cy="411480"/>
          </a:xfrm>
          <a:prstGeom prst="rect">
            <a:avLst/>
          </a:prstGeom>
          <a:noFill/>
          <a:ln/>
        </p:spPr>
        <p:txBody>
          <a:bodyPr wrap="square" lIns="0" tIns="0" rIns="0" bIns="0" rtlCol="0" anchor="ctr"/>
          <a:lstStyle/>
          <a:p>
            <a:pPr algn="ctr" indent="0" marL="0">
              <a:buNone/>
            </a:pPr>
            <a:r>
              <a:rPr lang="en-US" sz="1600" b="1" dirty="0">
                <a:solidFill>
                  <a:srgbClr val="A32020"/>
                </a:solidFill>
                <a:latin typeface="Cambria" pitchFamily="34" charset="0"/>
                <a:ea typeface="Cambria" pitchFamily="34" charset="-122"/>
                <a:cs typeface="Cambria" pitchFamily="34" charset="-120"/>
              </a:rPr>
              <a:t>Grade 4  Proliferative</a:t>
            </a:r>
            <a:endParaRPr lang="en-US" sz="1600" dirty="0"/>
          </a:p>
        </p:txBody>
      </p:sp>
      <p:sp>
        <p:nvSpPr>
          <p:cNvPr id="26" name="Text 18"/>
          <p:cNvSpPr txBox="1"/>
          <p:nvPr/>
        </p:nvSpPr>
        <p:spPr>
          <a:xfrm>
            <a:off x="9528048" y="3886200"/>
            <a:ext cx="2011680" cy="365760"/>
          </a:xfrm>
          <a:prstGeom prst="rect">
            <a:avLst/>
          </a:prstGeom>
          <a:noFill/>
          <a:ln/>
        </p:spPr>
        <p:txBody>
          <a:bodyPr wrap="square" lIns="0" tIns="0" rIns="0" bIns="0" rtlCol="0" anchor="ctr"/>
          <a:lstStyle/>
          <a:p>
            <a:pPr algn="ctr" indent="0" marL="0">
              <a:buNone/>
            </a:pPr>
            <a:r>
              <a:rPr lang="en-US" sz="1300" dirty="0">
                <a:solidFill>
                  <a:srgbClr val="1F2933"/>
                </a:solidFill>
                <a:latin typeface="Calibri" pitchFamily="34" charset="0"/>
                <a:ea typeface="Calibri" pitchFamily="34" charset="-122"/>
                <a:cs typeface="Calibri" pitchFamily="34" charset="-120"/>
              </a:rPr>
              <a:t>New vessels</a:t>
            </a:r>
            <a:endParaRPr lang="en-US" sz="1300" dirty="0"/>
          </a:p>
        </p:txBody>
      </p:sp>
      <p:sp>
        <p:nvSpPr>
          <p:cNvPr id="27" name="Text 19"/>
          <p:cNvSpPr txBox="1"/>
          <p:nvPr/>
        </p:nvSpPr>
        <p:spPr>
          <a:xfrm>
            <a:off x="9528048" y="4251960"/>
            <a:ext cx="2011680" cy="365760"/>
          </a:xfrm>
          <a:prstGeom prst="rect">
            <a:avLst/>
          </a:prstGeom>
          <a:noFill/>
          <a:ln/>
        </p:spPr>
        <p:txBody>
          <a:bodyPr wrap="square" lIns="0" tIns="0" rIns="0" bIns="0" rtlCol="0" anchor="ctr"/>
          <a:lstStyle/>
          <a:p>
            <a:pPr algn="ctr" indent="0" marL="0">
              <a:buNone/>
            </a:pPr>
            <a:r>
              <a:rPr lang="en-US" sz="1300" i="1" dirty="0">
                <a:solidFill>
                  <a:srgbClr val="A32020"/>
                </a:solidFill>
                <a:latin typeface="Calibri" pitchFamily="34" charset="0"/>
                <a:ea typeface="Calibri" pitchFamily="34" charset="-122"/>
                <a:cs typeface="Calibri" pitchFamily="34" charset="-120"/>
              </a:rPr>
              <a:t>Emergency</a:t>
            </a:r>
            <a:endParaRPr lang="en-US" sz="1300" dirty="0"/>
          </a:p>
        </p:txBody>
      </p:sp>
      <p:sp>
        <p:nvSpPr>
          <p:cNvPr id="28" name="Shape 20"/>
          <p:cNvSpPr/>
          <p:nvPr/>
        </p:nvSpPr>
        <p:spPr>
          <a:xfrm>
            <a:off x="640080" y="4892040"/>
            <a:ext cx="10881360" cy="1188720"/>
          </a:xfrm>
          <a:prstGeom prst="roundRect">
            <a:avLst>
              <a:gd name="adj" fmla="val 6154"/>
            </a:avLst>
          </a:prstGeom>
          <a:solidFill>
            <a:srgbClr val="F3F5F8"/>
          </a:solidFill>
          <a:ln w="12700">
            <a:solidFill>
              <a:srgbClr val="F3F5F8"/>
            </a:solidFill>
            <a:prstDash val="solid"/>
          </a:ln>
        </p:spPr>
      </p:sp>
      <p:sp>
        <p:nvSpPr>
          <p:cNvPr id="29" name="Text 21"/>
          <p:cNvSpPr txBox="1"/>
          <p:nvPr/>
        </p:nvSpPr>
        <p:spPr>
          <a:xfrm>
            <a:off x="822960" y="5029200"/>
            <a:ext cx="10515600" cy="411480"/>
          </a:xfrm>
          <a:prstGeom prst="rect">
            <a:avLst/>
          </a:prstGeom>
          <a:noFill/>
          <a:ln/>
        </p:spPr>
        <p:txBody>
          <a:bodyPr wrap="square" lIns="0" tIns="0" rIns="0" bIns="0" rtlCol="0" anchor="t"/>
          <a:lstStyle/>
          <a:p>
            <a:pPr indent="0" marL="0">
              <a:buNone/>
            </a:pPr>
            <a:r>
              <a:rPr lang="en-US" sz="1800" b="1" dirty="0">
                <a:solidFill>
                  <a:srgbClr val="16324F"/>
                </a:solidFill>
                <a:latin typeface="Cambria" pitchFamily="34" charset="0"/>
                <a:ea typeface="Cambria" pitchFamily="34" charset="-122"/>
                <a:cs typeface="Cambria" pitchFamily="34" charset="-120"/>
              </a:rPr>
              <a:t>Two facts that drive the thesis</a:t>
            </a:r>
            <a:endParaRPr lang="en-US" sz="1800" dirty="0"/>
          </a:p>
        </p:txBody>
      </p:sp>
      <p:sp>
        <p:nvSpPr>
          <p:cNvPr id="30" name="Text 22"/>
          <p:cNvSpPr txBox="1"/>
          <p:nvPr/>
        </p:nvSpPr>
        <p:spPr>
          <a:xfrm>
            <a:off x="822960" y="5486400"/>
            <a:ext cx="10515600" cy="50292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grades are ordered (confusing 0 with 4 is far worse than 1 with 2), and Severe (3) and Proliferative (4) cases must be referred quickly.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A32020"/>
          </a:solidFill>
          <a:ln w="12700">
            <a:solidFill>
              <a:srgbClr val="A32020"/>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Why accuracy is not enough: missed severe cases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6</a:t>
            </a:r>
            <a:endParaRPr lang="en-US" sz="1000" dirty="0"/>
          </a:p>
        </p:txBody>
      </p:sp>
      <p:sp>
        <p:nvSpPr>
          <p:cNvPr id="8" name="Shape 5"/>
          <p:cNvSpPr/>
          <p:nvPr/>
        </p:nvSpPr>
        <p:spPr>
          <a:xfrm>
            <a:off x="731520" y="1371600"/>
            <a:ext cx="5120640" cy="2194560"/>
          </a:xfrm>
          <a:prstGeom prst="roundRect">
            <a:avLst>
              <a:gd name="adj" fmla="val 3333"/>
            </a:avLst>
          </a:prstGeom>
          <a:solidFill>
            <a:srgbClr val="F8D6D6"/>
          </a:solidFill>
          <a:ln w="12700">
            <a:solidFill>
              <a:srgbClr val="F8D6D6"/>
            </a:solidFill>
            <a:prstDash val="solid"/>
          </a:ln>
        </p:spPr>
      </p:sp>
      <p:sp>
        <p:nvSpPr>
          <p:cNvPr id="9" name="Text 6"/>
          <p:cNvSpPr txBox="1"/>
          <p:nvPr/>
        </p:nvSpPr>
        <p:spPr>
          <a:xfrm>
            <a:off x="960120" y="1508760"/>
            <a:ext cx="4663440" cy="1920240"/>
          </a:xfrm>
          <a:prstGeom prst="rect">
            <a:avLst/>
          </a:prstGeom>
          <a:noFill/>
          <a:ln/>
        </p:spPr>
        <p:txBody>
          <a:bodyPr wrap="square" lIns="0" tIns="0" rIns="0" bIns="0" rtlCol="0" anchor="t"/>
          <a:lstStyle/>
          <a:p>
            <a:pPr indent="0" marL="0">
              <a:buNone/>
            </a:pPr>
            <a:r>
              <a:rPr lang="en-US" sz="2600" b="1" dirty="0">
                <a:solidFill>
                  <a:srgbClr val="A32020"/>
                </a:solidFill>
                <a:latin typeface="Calibri" pitchFamily="34" charset="0"/>
                <a:ea typeface="Calibri" pitchFamily="34" charset="-122"/>
                <a:cs typeface="Calibri" pitchFamily="34" charset="-120"/>
              </a:rPr>
              <a:t>Sev-NR</a:t>
            </a:r>
            <a:endParaRPr lang="en-US" sz="2600" dirty="0"/>
          </a:p>
          <a:p>
            <a:pPr indent="0" marL="0">
              <a:buNone/>
            </a:pPr>
            <a:r>
              <a:rPr lang="en-US" sz="1600" dirty="0">
                <a:solidFill>
                  <a:srgbClr val="1F2933"/>
                </a:solidFill>
                <a:latin typeface="Calibri" pitchFamily="34" charset="0"/>
                <a:ea typeface="Calibri" pitchFamily="34" charset="-122"/>
                <a:cs typeface="Calibri" pitchFamily="34" charset="-120"/>
              </a:rPr>
              <a:t>share of Severe (Grade 3) images predicted as No DR or Mild, i.e. not referred</a:t>
            </a:r>
            <a:endParaRPr lang="en-US" sz="2600" dirty="0"/>
          </a:p>
          <a:p>
            <a:pPr indent="0" marL="0">
              <a:buNone/>
            </a:pPr>
            <a:r>
              <a:rPr lang="en-US" sz="1400" dirty="0">
                <a:solidFill>
                  <a:srgbClr val="5A6470"/>
                </a:solidFill>
                <a:latin typeface="Calibri" pitchFamily="34" charset="0"/>
                <a:ea typeface="Calibri" pitchFamily="34" charset="-122"/>
                <a:cs typeface="Calibri" pitchFamily="34" charset="-120"/>
              </a:rPr>
              <a:t>PDR-NR: the same for Grade 4</a:t>
            </a:r>
            <a:endParaRPr lang="en-US" sz="2600" dirty="0"/>
          </a:p>
        </p:txBody>
      </p:sp>
      <p:sp>
        <p:nvSpPr>
          <p:cNvPr id="10" name="Text 7"/>
          <p:cNvSpPr txBox="1"/>
          <p:nvPr/>
        </p:nvSpPr>
        <p:spPr>
          <a:xfrm>
            <a:off x="6400800" y="1371600"/>
            <a:ext cx="5029200" cy="411480"/>
          </a:xfrm>
          <a:prstGeom prst="rect">
            <a:avLst/>
          </a:prstGeom>
          <a:noFill/>
          <a:ln/>
        </p:spPr>
        <p:txBody>
          <a:bodyPr wrap="square" lIns="0" tIns="0" rIns="0" bIns="0" rtlCol="0" anchor="ctr"/>
          <a:lstStyle/>
          <a:p>
            <a:pPr indent="0" marL="0">
              <a:buNone/>
            </a:pPr>
            <a:r>
              <a:rPr lang="en-US" sz="1800" b="1" dirty="0">
                <a:solidFill>
                  <a:srgbClr val="16324F"/>
                </a:solidFill>
                <a:latin typeface="Cambria" pitchFamily="34" charset="0"/>
                <a:ea typeface="Cambria" pitchFamily="34" charset="-122"/>
                <a:cs typeface="Cambria" pitchFamily="34" charset="-120"/>
              </a:rPr>
              <a:t>Illustrative projection</a:t>
            </a:r>
            <a:endParaRPr lang="en-US" sz="1800" dirty="0"/>
          </a:p>
        </p:txBody>
      </p:sp>
      <p:sp>
        <p:nvSpPr>
          <p:cNvPr id="11" name="Text 8"/>
          <p:cNvSpPr txBox="1"/>
          <p:nvPr/>
        </p:nvSpPr>
        <p:spPr>
          <a:xfrm>
            <a:off x="6400800" y="1828800"/>
            <a:ext cx="2468880" cy="914400"/>
          </a:xfrm>
          <a:prstGeom prst="rect">
            <a:avLst/>
          </a:prstGeom>
          <a:noFill/>
          <a:ln/>
        </p:spPr>
        <p:txBody>
          <a:bodyPr wrap="square" lIns="0" tIns="0" rIns="0" bIns="0" rtlCol="0" anchor="ctr"/>
          <a:lstStyle/>
          <a:p>
            <a:pPr algn="l" indent="0" marL="0">
              <a:buNone/>
            </a:pPr>
            <a:r>
              <a:rPr lang="en-US" sz="3800" b="1" dirty="0">
                <a:solidFill>
                  <a:srgbClr val="16324F"/>
                </a:solidFill>
                <a:latin typeface="Cambria" pitchFamily="34" charset="0"/>
                <a:ea typeface="Cambria" pitchFamily="34" charset="-122"/>
                <a:cs typeface="Cambria" pitchFamily="34" charset="-120"/>
              </a:rPr>
              <a:t>25,000</a:t>
            </a:r>
            <a:endParaRPr lang="en-US" sz="3800" dirty="0"/>
          </a:p>
        </p:txBody>
      </p:sp>
      <p:sp>
        <p:nvSpPr>
          <p:cNvPr id="12" name="Text 9"/>
          <p:cNvSpPr txBox="1"/>
          <p:nvPr/>
        </p:nvSpPr>
        <p:spPr>
          <a:xfrm>
            <a:off x="6400800" y="2743200"/>
            <a:ext cx="246888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severe cases among 500,000 screened patients / year</a:t>
            </a:r>
            <a:endParaRPr lang="en-US" sz="1500" dirty="0"/>
          </a:p>
        </p:txBody>
      </p:sp>
      <p:sp>
        <p:nvSpPr>
          <p:cNvPr id="13" name="Text 10"/>
          <p:cNvSpPr txBox="1"/>
          <p:nvPr/>
        </p:nvSpPr>
        <p:spPr>
          <a:xfrm>
            <a:off x="9052560" y="1828800"/>
            <a:ext cx="2468880" cy="914400"/>
          </a:xfrm>
          <a:prstGeom prst="rect">
            <a:avLst/>
          </a:prstGeom>
          <a:noFill/>
          <a:ln/>
        </p:spPr>
        <p:txBody>
          <a:bodyPr wrap="square" lIns="0" tIns="0" rIns="0" bIns="0" rtlCol="0" anchor="ctr"/>
          <a:lstStyle/>
          <a:p>
            <a:pPr algn="l" indent="0" marL="0">
              <a:buNone/>
            </a:pPr>
            <a:r>
              <a:rPr lang="en-US" sz="3800" b="1" dirty="0">
                <a:solidFill>
                  <a:srgbClr val="A32020"/>
                </a:solidFill>
                <a:latin typeface="Cambria" pitchFamily="34" charset="0"/>
                <a:ea typeface="Cambria" pitchFamily="34" charset="-122"/>
                <a:cs typeface="Cambria" pitchFamily="34" charset="-120"/>
              </a:rPr>
              <a:t>1,450</a:t>
            </a:r>
            <a:endParaRPr lang="en-US" sz="3800" dirty="0"/>
          </a:p>
        </p:txBody>
      </p:sp>
      <p:sp>
        <p:nvSpPr>
          <p:cNvPr id="14" name="Text 11"/>
          <p:cNvSpPr txBox="1"/>
          <p:nvPr/>
        </p:nvSpPr>
        <p:spPr>
          <a:xfrm>
            <a:off x="9052560" y="2743200"/>
            <a:ext cx="246888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left unreferred at Sev-NR = 5.8% (CNN baseline, Messidor-2)</a:t>
            </a:r>
            <a:endParaRPr lang="en-US" sz="1500" dirty="0"/>
          </a:p>
        </p:txBody>
      </p:sp>
      <p:sp>
        <p:nvSpPr>
          <p:cNvPr id="15" name="Shape 12"/>
          <p:cNvSpPr/>
          <p:nvPr/>
        </p:nvSpPr>
        <p:spPr>
          <a:xfrm>
            <a:off x="731520" y="3977640"/>
            <a:ext cx="10744200" cy="2103120"/>
          </a:xfrm>
          <a:prstGeom prst="roundRect">
            <a:avLst>
              <a:gd name="adj" fmla="val 3478"/>
            </a:avLst>
          </a:prstGeom>
          <a:solidFill>
            <a:srgbClr val="F3F5F8"/>
          </a:solidFill>
          <a:ln w="12700">
            <a:solidFill>
              <a:srgbClr val="F3F5F8"/>
            </a:solidFill>
            <a:prstDash val="solid"/>
          </a:ln>
        </p:spPr>
      </p:sp>
      <p:sp>
        <p:nvSpPr>
          <p:cNvPr id="16" name="Text 13"/>
          <p:cNvSpPr txBox="1"/>
          <p:nvPr/>
        </p:nvSpPr>
        <p:spPr>
          <a:xfrm>
            <a:off x="914400" y="4114800"/>
            <a:ext cx="1037844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Consequence for the thesis</a:t>
            </a:r>
            <a:endParaRPr lang="en-US" sz="1800" dirty="0"/>
          </a:p>
        </p:txBody>
      </p:sp>
      <p:sp>
        <p:nvSpPr>
          <p:cNvPr id="17" name="Text 14"/>
          <p:cNvSpPr txBox="1"/>
          <p:nvPr/>
        </p:nvSpPr>
        <p:spPr>
          <a:xfrm>
            <a:off x="914400" y="4572000"/>
            <a:ext cx="10378440" cy="14173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Safety metrics (Sev-NR, PDR-NR) are reported next to accuracy (QWK), and checked on data from another country.</a:t>
            </a:r>
            <a:endParaRPr lang="en-US" sz="1600" dirty="0"/>
          </a:p>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projection is a calculation under assumed prevalence, not an estimate of clinical impact.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Three limitations of representative systems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7</a:t>
            </a:r>
            <a:endParaRPr lang="en-US" sz="1000" dirty="0"/>
          </a:p>
        </p:txBody>
      </p:sp>
      <p:sp>
        <p:nvSpPr>
          <p:cNvPr id="8" name="Shape 5"/>
          <p:cNvSpPr/>
          <p:nvPr/>
        </p:nvSpPr>
        <p:spPr>
          <a:xfrm>
            <a:off x="731520" y="1371600"/>
            <a:ext cx="3429000" cy="2697480"/>
          </a:xfrm>
          <a:prstGeom prst="roundRect">
            <a:avLst>
              <a:gd name="adj" fmla="val 2712"/>
            </a:avLst>
          </a:prstGeom>
          <a:solidFill>
            <a:srgbClr val="D6E6F5"/>
          </a:solidFill>
          <a:ln w="12700">
            <a:solidFill>
              <a:srgbClr val="D6E6F5"/>
            </a:solidFill>
            <a:prstDash val="solid"/>
          </a:ln>
        </p:spPr>
      </p:sp>
      <p:sp>
        <p:nvSpPr>
          <p:cNvPr id="9" name="Shape 6"/>
          <p:cNvSpPr/>
          <p:nvPr/>
        </p:nvSpPr>
        <p:spPr>
          <a:xfrm>
            <a:off x="960120" y="1554480"/>
            <a:ext cx="685800" cy="685800"/>
          </a:xfrm>
          <a:prstGeom prst="ellipse">
            <a:avLst/>
          </a:prstGeom>
          <a:solidFill>
            <a:srgbClr val="1F4E79"/>
          </a:solidFill>
          <a:ln w="12700">
            <a:solidFill>
              <a:srgbClr val="1F4E79"/>
            </a:solidFill>
            <a:prstDash val="solid"/>
          </a:ln>
        </p:spPr>
      </p:sp>
      <p:sp>
        <p:nvSpPr>
          <p:cNvPr id="10" name="Text 7"/>
          <p:cNvSpPr txBox="1"/>
          <p:nvPr/>
        </p:nvSpPr>
        <p:spPr>
          <a:xfrm>
            <a:off x="960120" y="155448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L1</a:t>
            </a:r>
            <a:endParaRPr lang="en-US" sz="1800" dirty="0"/>
          </a:p>
        </p:txBody>
      </p:sp>
      <p:sp>
        <p:nvSpPr>
          <p:cNvPr id="11" name="Text 8"/>
          <p:cNvSpPr txBox="1"/>
          <p:nvPr/>
        </p:nvSpPr>
        <p:spPr>
          <a:xfrm>
            <a:off x="1783080" y="1554480"/>
            <a:ext cx="2240280" cy="68580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No relational context</a:t>
            </a:r>
            <a:endParaRPr lang="en-US" sz="1800" dirty="0"/>
          </a:p>
        </p:txBody>
      </p:sp>
      <p:sp>
        <p:nvSpPr>
          <p:cNvPr id="12" name="Text 9"/>
          <p:cNvSpPr txBox="1"/>
          <p:nvPr/>
        </p:nvSpPr>
        <p:spPr>
          <a:xfrm>
            <a:off x="960120" y="2423160"/>
            <a:ext cx="2971800" cy="182880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Each image is graded in isolation: similar patients, who often share a grade, never inform one another.</a:t>
            </a:r>
            <a:endParaRPr lang="en-US" sz="1500" dirty="0"/>
          </a:p>
        </p:txBody>
      </p:sp>
      <p:sp>
        <p:nvSpPr>
          <p:cNvPr id="13" name="Shape 10"/>
          <p:cNvSpPr/>
          <p:nvPr/>
        </p:nvSpPr>
        <p:spPr>
          <a:xfrm>
            <a:off x="4361688" y="1371600"/>
            <a:ext cx="3429000" cy="2697480"/>
          </a:xfrm>
          <a:prstGeom prst="roundRect">
            <a:avLst>
              <a:gd name="adj" fmla="val 2712"/>
            </a:avLst>
          </a:prstGeom>
          <a:solidFill>
            <a:srgbClr val="D9F0E3"/>
          </a:solidFill>
          <a:ln w="12700">
            <a:solidFill>
              <a:srgbClr val="D9F0E3"/>
            </a:solidFill>
            <a:prstDash val="solid"/>
          </a:ln>
        </p:spPr>
      </p:sp>
      <p:sp>
        <p:nvSpPr>
          <p:cNvPr id="14" name="Shape 11"/>
          <p:cNvSpPr/>
          <p:nvPr/>
        </p:nvSpPr>
        <p:spPr>
          <a:xfrm>
            <a:off x="4590288" y="1554480"/>
            <a:ext cx="685800" cy="685800"/>
          </a:xfrm>
          <a:prstGeom prst="ellipse">
            <a:avLst/>
          </a:prstGeom>
          <a:solidFill>
            <a:srgbClr val="1B7A4E"/>
          </a:solidFill>
          <a:ln w="12700">
            <a:solidFill>
              <a:srgbClr val="1B7A4E"/>
            </a:solidFill>
            <a:prstDash val="solid"/>
          </a:ln>
        </p:spPr>
      </p:sp>
      <p:sp>
        <p:nvSpPr>
          <p:cNvPr id="15" name="Text 12"/>
          <p:cNvSpPr txBox="1"/>
          <p:nvPr/>
        </p:nvSpPr>
        <p:spPr>
          <a:xfrm>
            <a:off x="4590288" y="155448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L2</a:t>
            </a:r>
            <a:endParaRPr lang="en-US" sz="1800" dirty="0"/>
          </a:p>
        </p:txBody>
      </p:sp>
      <p:sp>
        <p:nvSpPr>
          <p:cNvPr id="16" name="Text 13"/>
          <p:cNvSpPr txBox="1"/>
          <p:nvPr/>
        </p:nvSpPr>
        <p:spPr>
          <a:xfrm>
            <a:off x="5413248" y="1554480"/>
            <a:ext cx="2240280" cy="685800"/>
          </a:xfrm>
          <a:prstGeom prst="rect">
            <a:avLst/>
          </a:prstGeom>
          <a:noFill/>
          <a:ln/>
        </p:spPr>
        <p:txBody>
          <a:bodyPr wrap="square" lIns="0" tIns="0" rIns="0" bIns="0" rtlCol="0" anchor="ctr"/>
          <a:lstStyle/>
          <a:p>
            <a:pPr indent="0" marL="0">
              <a:buNone/>
            </a:pPr>
            <a:r>
              <a:rPr lang="en-US" sz="1800" b="1" dirty="0">
                <a:solidFill>
                  <a:srgbClr val="1B7A4E"/>
                </a:solidFill>
                <a:latin typeface="Cambria" pitchFamily="34" charset="0"/>
                <a:ea typeface="Cambria" pitchFamily="34" charset="-122"/>
                <a:cs typeface="Cambria" pitchFamily="34" charset="-120"/>
              </a:rPr>
              <a:t>No vascular topology</a:t>
            </a:r>
            <a:endParaRPr lang="en-US" sz="1800" dirty="0"/>
          </a:p>
        </p:txBody>
      </p:sp>
      <p:sp>
        <p:nvSpPr>
          <p:cNvPr id="17" name="Text 14"/>
          <p:cNvSpPr txBox="1"/>
          <p:nvPr/>
        </p:nvSpPr>
        <p:spPr>
          <a:xfrm>
            <a:off x="4590288" y="2423160"/>
            <a:ext cx="2971800" cy="182880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Networks see local texture, not the global structure of the vessel tree (components, loops), which changes with the disease.</a:t>
            </a:r>
            <a:endParaRPr lang="en-US" sz="1500" dirty="0"/>
          </a:p>
        </p:txBody>
      </p:sp>
      <p:sp>
        <p:nvSpPr>
          <p:cNvPr id="18" name="Shape 15"/>
          <p:cNvSpPr/>
          <p:nvPr/>
        </p:nvSpPr>
        <p:spPr>
          <a:xfrm>
            <a:off x="7991856" y="1371600"/>
            <a:ext cx="3429000" cy="2697480"/>
          </a:xfrm>
          <a:prstGeom prst="roundRect">
            <a:avLst>
              <a:gd name="adj" fmla="val 2712"/>
            </a:avLst>
          </a:prstGeom>
          <a:solidFill>
            <a:srgbClr val="EADCF3"/>
          </a:solidFill>
          <a:ln w="12700">
            <a:solidFill>
              <a:srgbClr val="EADCF3"/>
            </a:solidFill>
            <a:prstDash val="solid"/>
          </a:ln>
        </p:spPr>
      </p:sp>
      <p:sp>
        <p:nvSpPr>
          <p:cNvPr id="19" name="Shape 16"/>
          <p:cNvSpPr/>
          <p:nvPr/>
        </p:nvSpPr>
        <p:spPr>
          <a:xfrm>
            <a:off x="8220456" y="1554480"/>
            <a:ext cx="685800" cy="685800"/>
          </a:xfrm>
          <a:prstGeom prst="ellipse">
            <a:avLst/>
          </a:prstGeom>
          <a:solidFill>
            <a:srgbClr val="6B3D8C"/>
          </a:solidFill>
          <a:ln w="12700">
            <a:solidFill>
              <a:srgbClr val="6B3D8C"/>
            </a:solidFill>
            <a:prstDash val="solid"/>
          </a:ln>
        </p:spPr>
      </p:sp>
      <p:sp>
        <p:nvSpPr>
          <p:cNvPr id="20" name="Text 17"/>
          <p:cNvSpPr txBox="1"/>
          <p:nvPr/>
        </p:nvSpPr>
        <p:spPr>
          <a:xfrm>
            <a:off x="8220456" y="155448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L3</a:t>
            </a:r>
            <a:endParaRPr lang="en-US" sz="1800" dirty="0"/>
          </a:p>
        </p:txBody>
      </p:sp>
      <p:sp>
        <p:nvSpPr>
          <p:cNvPr id="21" name="Text 18"/>
          <p:cNvSpPr txBox="1"/>
          <p:nvPr/>
        </p:nvSpPr>
        <p:spPr>
          <a:xfrm>
            <a:off x="9043416" y="1554480"/>
            <a:ext cx="2240280" cy="685800"/>
          </a:xfrm>
          <a:prstGeom prst="rect">
            <a:avLst/>
          </a:prstGeom>
          <a:noFill/>
          <a:ln/>
        </p:spPr>
        <p:txBody>
          <a:bodyPr wrap="square" lIns="0" tIns="0" rIns="0" bIns="0" rtlCol="0" anchor="ctr"/>
          <a:lstStyle/>
          <a:p>
            <a:pPr indent="0" marL="0">
              <a:buNone/>
            </a:pPr>
            <a:r>
              <a:rPr lang="en-US" sz="1800" b="1" dirty="0">
                <a:solidFill>
                  <a:srgbClr val="6B3D8C"/>
                </a:solidFill>
                <a:latin typeface="Cambria" pitchFamily="34" charset="0"/>
                <a:ea typeface="Cambria" pitchFamily="34" charset="-122"/>
                <a:cs typeface="Cambria" pitchFamily="34" charset="-120"/>
              </a:rPr>
              <a:t>No safety-oriented grading</a:t>
            </a:r>
            <a:endParaRPr lang="en-US" sz="1800" dirty="0"/>
          </a:p>
        </p:txBody>
      </p:sp>
      <p:sp>
        <p:nvSpPr>
          <p:cNvPr id="22" name="Text 19"/>
          <p:cNvSpPr txBox="1"/>
          <p:nvPr/>
        </p:nvSpPr>
        <p:spPr>
          <a:xfrm>
            <a:off x="8220456" y="2423160"/>
            <a:ext cx="2971800" cy="182880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Grades treated as unordered; the rate of unreferred severe cases is rarely measured, let alone externally.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4343400"/>
          <a:ext cx="10744200" cy="914400"/>
        </p:xfrm>
        <a:graphic>
          <a:graphicData uri="http://schemas.openxmlformats.org/drawingml/2006/table">
            <a:tbl>
              <a:tblPr/>
              <a:tblGrid>
                <a:gridCol w="2377440"/>
                <a:gridCol w="914400"/>
                <a:gridCol w="4709160"/>
                <a:gridCol w="914400"/>
                <a:gridCol w="914400"/>
                <a:gridCol w="9144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System</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Year</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L1</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L2</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L3</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r>
              <a:tr h="365760">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Gulshan et al.</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2016</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Deep CNN (Inception-v3)</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CABNet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Category attention on a CNN</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RETFound</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ViT-L/16, retinal pre-training</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16324F"/>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2</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Hypotheses and Methodology</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One objective, three hypotheses, three dedicated systems</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Objective and research hypotheses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9</a:t>
            </a:r>
            <a:endParaRPr lang="en-US" sz="1000" dirty="0"/>
          </a:p>
        </p:txBody>
      </p:sp>
      <p:sp>
        <p:nvSpPr>
          <p:cNvPr id="8" name="Text 5"/>
          <p:cNvSpPr txBox="1"/>
          <p:nvPr/>
        </p:nvSpPr>
        <p:spPr>
          <a:xfrm>
            <a:off x="731520" y="1234440"/>
            <a:ext cx="10744200" cy="502920"/>
          </a:xfrm>
          <a:prstGeom prst="rect">
            <a:avLst/>
          </a:prstGeom>
          <a:noFill/>
          <a:ln/>
        </p:spPr>
        <p:txBody>
          <a:bodyPr wrap="square" lIns="0" tIns="0" rIns="0" bIns="0" rtlCol="0" anchor="ctr"/>
          <a:lstStyle/>
          <a:p>
            <a:pPr indent="0" marL="0">
              <a:buNone/>
            </a:pPr>
            <a:r>
              <a:rPr lang="en-US" sz="2000" i="1" dirty="0">
                <a:solidFill>
                  <a:srgbClr val="16324F"/>
                </a:solidFill>
                <a:latin typeface="Cambria" pitchFamily="34" charset="0"/>
                <a:ea typeface="Cambria" pitchFamily="34" charset="-122"/>
                <a:cs typeface="Cambria" pitchFamily="34" charset="-120"/>
              </a:rPr>
              <a:t>Objective: exploit relations, topology and ordinality to improve DR grading</a:t>
            </a:r>
            <a:endParaRPr lang="en-US" sz="2000" dirty="0"/>
          </a:p>
        </p:txBody>
      </p:sp>
      <p:sp>
        <p:nvSpPr>
          <p:cNvPr id="9" name="Shape 6"/>
          <p:cNvSpPr/>
          <p:nvPr/>
        </p:nvSpPr>
        <p:spPr>
          <a:xfrm>
            <a:off x="731520" y="1920240"/>
            <a:ext cx="10744200" cy="1188720"/>
          </a:xfrm>
          <a:prstGeom prst="roundRect">
            <a:avLst>
              <a:gd name="adj" fmla="val 6154"/>
            </a:avLst>
          </a:prstGeom>
          <a:solidFill>
            <a:srgbClr val="D6E6F5"/>
          </a:solidFill>
          <a:ln w="12700">
            <a:solidFill>
              <a:srgbClr val="D6E6F5"/>
            </a:solidFill>
            <a:prstDash val="solid"/>
          </a:ln>
        </p:spPr>
      </p:sp>
      <p:sp>
        <p:nvSpPr>
          <p:cNvPr id="10" name="Shape 7"/>
          <p:cNvSpPr/>
          <p:nvPr/>
        </p:nvSpPr>
        <p:spPr>
          <a:xfrm>
            <a:off x="914400" y="2148840"/>
            <a:ext cx="731520" cy="731520"/>
          </a:xfrm>
          <a:prstGeom prst="ellipse">
            <a:avLst/>
          </a:prstGeom>
          <a:solidFill>
            <a:srgbClr val="1F4E79"/>
          </a:solidFill>
          <a:ln w="12700">
            <a:solidFill>
              <a:srgbClr val="1F4E79"/>
            </a:solidFill>
            <a:prstDash val="solid"/>
          </a:ln>
        </p:spPr>
      </p:sp>
      <p:sp>
        <p:nvSpPr>
          <p:cNvPr id="11" name="Text 8"/>
          <p:cNvSpPr txBox="1"/>
          <p:nvPr/>
        </p:nvSpPr>
        <p:spPr>
          <a:xfrm>
            <a:off x="914400" y="21488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H1</a:t>
            </a:r>
            <a:endParaRPr lang="en-US" sz="2000" dirty="0"/>
          </a:p>
        </p:txBody>
      </p:sp>
      <p:sp>
        <p:nvSpPr>
          <p:cNvPr id="12" name="Text 9"/>
          <p:cNvSpPr txBox="1"/>
          <p:nvPr/>
        </p:nvSpPr>
        <p:spPr>
          <a:xfrm>
            <a:off x="1828800" y="2029968"/>
            <a:ext cx="2011680" cy="96012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Relational</a:t>
            </a:r>
            <a:endParaRPr lang="en-US" sz="1800" dirty="0"/>
          </a:p>
        </p:txBody>
      </p:sp>
      <p:sp>
        <p:nvSpPr>
          <p:cNvPr id="13" name="Text 10"/>
          <p:cNvSpPr txBox="1"/>
          <p:nvPr/>
        </p:nvSpPr>
        <p:spPr>
          <a:xfrm>
            <a:off x="3840480" y="2029968"/>
            <a:ext cx="4572000" cy="9601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A population graph adds information beyond a per-image classifier.</a:t>
            </a:r>
            <a:endParaRPr lang="en-US" sz="1500" dirty="0"/>
          </a:p>
        </p:txBody>
      </p:sp>
      <p:sp>
        <p:nvSpPr>
          <p:cNvPr id="14" name="Text 11"/>
          <p:cNvSpPr txBox="1"/>
          <p:nvPr/>
        </p:nvSpPr>
        <p:spPr>
          <a:xfrm>
            <a:off x="8595360" y="2029968"/>
            <a:ext cx="2743200" cy="96012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Paired t-test over folds (pre-specified)</a:t>
            </a:r>
            <a:endParaRPr lang="en-US" sz="1300" dirty="0"/>
          </a:p>
        </p:txBody>
      </p:sp>
      <p:sp>
        <p:nvSpPr>
          <p:cNvPr id="15" name="Shape 12"/>
          <p:cNvSpPr/>
          <p:nvPr/>
        </p:nvSpPr>
        <p:spPr>
          <a:xfrm>
            <a:off x="731520" y="3291840"/>
            <a:ext cx="10744200" cy="1188720"/>
          </a:xfrm>
          <a:prstGeom prst="roundRect">
            <a:avLst>
              <a:gd name="adj" fmla="val 6154"/>
            </a:avLst>
          </a:prstGeom>
          <a:solidFill>
            <a:srgbClr val="D9F0E3"/>
          </a:solidFill>
          <a:ln w="12700">
            <a:solidFill>
              <a:srgbClr val="D9F0E3"/>
            </a:solidFill>
            <a:prstDash val="solid"/>
          </a:ln>
        </p:spPr>
      </p:sp>
      <p:sp>
        <p:nvSpPr>
          <p:cNvPr id="16" name="Shape 13"/>
          <p:cNvSpPr/>
          <p:nvPr/>
        </p:nvSpPr>
        <p:spPr>
          <a:xfrm>
            <a:off x="914400" y="3520440"/>
            <a:ext cx="731520" cy="731520"/>
          </a:xfrm>
          <a:prstGeom prst="ellipse">
            <a:avLst/>
          </a:prstGeom>
          <a:solidFill>
            <a:srgbClr val="1B7A4E"/>
          </a:solidFill>
          <a:ln w="12700">
            <a:solidFill>
              <a:srgbClr val="1B7A4E"/>
            </a:solidFill>
            <a:prstDash val="solid"/>
          </a:ln>
        </p:spPr>
      </p:sp>
      <p:sp>
        <p:nvSpPr>
          <p:cNvPr id="17" name="Text 14"/>
          <p:cNvSpPr txBox="1"/>
          <p:nvPr/>
        </p:nvSpPr>
        <p:spPr>
          <a:xfrm>
            <a:off x="914400" y="35204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H2</a:t>
            </a:r>
            <a:endParaRPr lang="en-US" sz="2000" dirty="0"/>
          </a:p>
        </p:txBody>
      </p:sp>
      <p:sp>
        <p:nvSpPr>
          <p:cNvPr id="18" name="Text 15"/>
          <p:cNvSpPr txBox="1"/>
          <p:nvPr/>
        </p:nvSpPr>
        <p:spPr>
          <a:xfrm>
            <a:off x="1828800" y="3401568"/>
            <a:ext cx="2011680" cy="960120"/>
          </a:xfrm>
          <a:prstGeom prst="rect">
            <a:avLst/>
          </a:prstGeom>
          <a:noFill/>
          <a:ln/>
        </p:spPr>
        <p:txBody>
          <a:bodyPr wrap="square" lIns="0" tIns="0" rIns="0" bIns="0" rtlCol="0" anchor="ctr"/>
          <a:lstStyle/>
          <a:p>
            <a:pPr indent="0" marL="0">
              <a:buNone/>
            </a:pPr>
            <a:r>
              <a:rPr lang="en-US" sz="1800" b="1" dirty="0">
                <a:solidFill>
                  <a:srgbClr val="1B7A4E"/>
                </a:solidFill>
                <a:latin typeface="Cambria" pitchFamily="34" charset="0"/>
                <a:ea typeface="Cambria" pitchFamily="34" charset="-122"/>
                <a:cs typeface="Cambria" pitchFamily="34" charset="-120"/>
              </a:rPr>
              <a:t>Structural</a:t>
            </a:r>
            <a:endParaRPr lang="en-US" sz="1800" dirty="0"/>
          </a:p>
        </p:txBody>
      </p:sp>
      <p:sp>
        <p:nvSpPr>
          <p:cNvPr id="19" name="Text 16"/>
          <p:cNvSpPr txBox="1"/>
          <p:nvPr/>
        </p:nvSpPr>
        <p:spPr>
          <a:xfrm>
            <a:off x="3840480" y="3401568"/>
            <a:ext cx="4572000" cy="9601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Persistent homology of the vessel network is statistically associated with severity.</a:t>
            </a:r>
            <a:endParaRPr lang="en-US" sz="1500" dirty="0"/>
          </a:p>
        </p:txBody>
      </p:sp>
      <p:sp>
        <p:nvSpPr>
          <p:cNvPr id="20" name="Text 17"/>
          <p:cNvSpPr txBox="1"/>
          <p:nvPr/>
        </p:nvSpPr>
        <p:spPr>
          <a:xfrm>
            <a:off x="8595360" y="3401568"/>
            <a:ext cx="2743200" cy="96012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One-way ANOVA (pre-specified)</a:t>
            </a:r>
            <a:endParaRPr lang="en-US" sz="1300" dirty="0"/>
          </a:p>
        </p:txBody>
      </p:sp>
      <p:sp>
        <p:nvSpPr>
          <p:cNvPr id="21" name="Shape 18"/>
          <p:cNvSpPr/>
          <p:nvPr/>
        </p:nvSpPr>
        <p:spPr>
          <a:xfrm>
            <a:off x="731520" y="4663440"/>
            <a:ext cx="10744200" cy="1188720"/>
          </a:xfrm>
          <a:prstGeom prst="roundRect">
            <a:avLst>
              <a:gd name="adj" fmla="val 6154"/>
            </a:avLst>
          </a:prstGeom>
          <a:solidFill>
            <a:srgbClr val="EADCF3"/>
          </a:solidFill>
          <a:ln w="12700">
            <a:solidFill>
              <a:srgbClr val="EADCF3"/>
            </a:solidFill>
            <a:prstDash val="solid"/>
          </a:ln>
        </p:spPr>
      </p:sp>
      <p:sp>
        <p:nvSpPr>
          <p:cNvPr id="22" name="Shape 19"/>
          <p:cNvSpPr/>
          <p:nvPr/>
        </p:nvSpPr>
        <p:spPr>
          <a:xfrm>
            <a:off x="914400" y="4892040"/>
            <a:ext cx="731520" cy="731520"/>
          </a:xfrm>
          <a:prstGeom prst="ellipse">
            <a:avLst/>
          </a:prstGeom>
          <a:solidFill>
            <a:srgbClr val="6B3D8C"/>
          </a:solidFill>
          <a:ln w="12700">
            <a:solidFill>
              <a:srgbClr val="6B3D8C"/>
            </a:solidFill>
            <a:prstDash val="solid"/>
          </a:ln>
        </p:spPr>
      </p:sp>
      <p:sp>
        <p:nvSpPr>
          <p:cNvPr id="23" name="Text 20"/>
          <p:cNvSpPr txBox="1"/>
          <p:nvPr/>
        </p:nvSpPr>
        <p:spPr>
          <a:xfrm>
            <a:off x="914400" y="48920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H3</a:t>
            </a:r>
            <a:endParaRPr lang="en-US" sz="2000" dirty="0"/>
          </a:p>
        </p:txBody>
      </p:sp>
      <p:sp>
        <p:nvSpPr>
          <p:cNvPr id="24" name="Text 21"/>
          <p:cNvSpPr txBox="1"/>
          <p:nvPr/>
        </p:nvSpPr>
        <p:spPr>
          <a:xfrm>
            <a:off x="1828800" y="4773168"/>
            <a:ext cx="2011680" cy="960120"/>
          </a:xfrm>
          <a:prstGeom prst="rect">
            <a:avLst/>
          </a:prstGeom>
          <a:noFill/>
          <a:ln/>
        </p:spPr>
        <p:txBody>
          <a:bodyPr wrap="square" lIns="0" tIns="0" rIns="0" bIns="0" rtlCol="0" anchor="ctr"/>
          <a:lstStyle/>
          <a:p>
            <a:pPr indent="0" marL="0">
              <a:buNone/>
            </a:pPr>
            <a:r>
              <a:rPr lang="en-US" sz="1800" b="1" dirty="0">
                <a:solidFill>
                  <a:srgbClr val="6B3D8C"/>
                </a:solidFill>
                <a:latin typeface="Cambria" pitchFamily="34" charset="0"/>
                <a:ea typeface="Cambria" pitchFamily="34" charset="-122"/>
                <a:cs typeface="Cambria" pitchFamily="34" charset="-120"/>
              </a:rPr>
              <a:t>Ordinal safety</a:t>
            </a:r>
            <a:endParaRPr lang="en-US" sz="1800" dirty="0"/>
          </a:p>
        </p:txBody>
      </p:sp>
      <p:sp>
        <p:nvSpPr>
          <p:cNvPr id="25" name="Text 22"/>
          <p:cNvSpPr txBox="1"/>
          <p:nvPr/>
        </p:nvSpPr>
        <p:spPr>
          <a:xfrm>
            <a:off x="3840480" y="4773168"/>
            <a:ext cx="4572000" cy="9601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An ordinal pipeline satisfies pre-set screening targets internally and externally (H3a); no reduced variant does (H3b).</a:t>
            </a:r>
            <a:endParaRPr lang="en-US" sz="1500" dirty="0"/>
          </a:p>
        </p:txBody>
      </p:sp>
      <p:sp>
        <p:nvSpPr>
          <p:cNvPr id="26" name="Text 23"/>
          <p:cNvSpPr txBox="1"/>
          <p:nvPr/>
        </p:nvSpPr>
        <p:spPr>
          <a:xfrm>
            <a:off x="8595360" y="4773168"/>
            <a:ext cx="2743200" cy="96012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QWK ≥ 0.80; Sev-NR, PDR-NR ≤ 2%; no 0↔4 confusion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A three-axis research framework, not a single model</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914400"/>
        </p:xfrm>
        <a:graphic>
          <a:graphicData uri="http://schemas.openxmlformats.org/drawingml/2006/table">
            <a:tbl>
              <a:tblPr/>
              <a:tblGrid>
                <a:gridCol w="2514600"/>
                <a:gridCol w="2743200"/>
                <a:gridCol w="2743200"/>
                <a:gridCol w="2743200"/>
              </a:tblGrid>
              <a:tr h="512064">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TOPORET (Ch. 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DGTS (Ch. 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DOTS (Ch. 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Axes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Relational + structural</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Relational + structural</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Ordinal safety</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Topology</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Vessel skeleton (6 persistence statistics)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Feature-space neighbourhoods (training regulariser)</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Training data</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Each benchmark separately</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Fused corpus, 5,859 images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Fused corpus, 5,859 images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Test images in graph</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Yes (unlabelled nodes)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 (graph of training fold)</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 graph</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Protocol</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Transductive</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Inductive</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Per-image</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External evaluation</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None (within benchmark)</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EyePACS, zero-shot</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Messidor-2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Kind of evidence</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b="1" dirty="0">
                          <a:solidFill>
                            <a:srgbClr val="1F4E79"/>
                          </a:solidFill>
                          <a:latin typeface="Calibri" pitchFamily="34" charset="0"/>
                          <a:ea typeface="Calibri" pitchFamily="34" charset="-122"/>
                          <a:cs typeface="Calibri" pitchFamily="34" charset="-120"/>
                        </a:rPr>
                        <a:t>Transductive (H1, H2)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b="1" dirty="0">
                          <a:solidFill>
                            <a:srgbClr val="1B7A4E"/>
                          </a:solidFill>
                          <a:latin typeface="Calibri" pitchFamily="34" charset="0"/>
                          <a:ea typeface="Calibri" pitchFamily="34" charset="-122"/>
                          <a:cs typeface="Calibri" pitchFamily="34" charset="-120"/>
                        </a:rPr>
                        <a:t>Inductive, external</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b="1" dirty="0">
                          <a:solidFill>
                            <a:srgbClr val="6B3D8C"/>
                          </a:solidFill>
                          <a:latin typeface="Calibri" pitchFamily="34" charset="0"/>
                          <a:ea typeface="Calibri" pitchFamily="34" charset="-122"/>
                          <a:cs typeface="Calibri" pitchFamily="34" charset="-120"/>
                        </a:rPr>
                        <a:t>Screening-oriented, point estimate (H3)</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Text 5"/>
          <p:cNvSpPr txBox="1"/>
          <p:nvPr/>
        </p:nvSpPr>
        <p:spPr>
          <a:xfrm>
            <a:off x="731520" y="5669280"/>
            <a:ext cx="10744200" cy="411480"/>
          </a:xfrm>
          <a:prstGeom prst="rect">
            <a:avLst/>
          </a:prstGeom>
          <a:noFill/>
          <a:ln/>
        </p:spPr>
        <p:txBody>
          <a:bodyPr wrap="square" lIns="0" tIns="0" rIns="0" bIns="0" rtlCol="0" anchor="ctr"/>
          <a:lstStyle/>
          <a:p>
            <a:pPr indent="0" marL="0">
              <a:buNone/>
            </a:pPr>
            <a:r>
              <a:rPr lang="en-US" sz="1500" i="1" dirty="0">
                <a:solidFill>
                  <a:srgbClr val="5A6470"/>
                </a:solidFill>
                <a:latin typeface="Calibri" pitchFamily="34" charset="0"/>
                <a:ea typeface="Calibri" pitchFamily="34" charset="-122"/>
                <a:cs typeface="Calibri" pitchFamily="34" charset="-120"/>
              </a:rPr>
              <a:t>Pre-specified tests for H1 and H2: test, decision threshold and effect size fixed before the experiment.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A common six-stage framework</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11</a:t>
            </a:r>
            <a:endParaRPr lang="en-US" sz="1000" dirty="0"/>
          </a:p>
        </p:txBody>
      </p:sp>
      <p:pic>
        <p:nvPicPr>
          <p:cNvPr id="8" name="Image 0" descr="/tmp/claude-0/-home-user-SRT26/618f6450-ab76-51da-ba52-60090a9566a0/scratchpad/deckfig/fig_pipeline.png">    </p:cNvPr>
          <p:cNvPicPr>
            <a:picLocks noChangeAspect="1"/>
          </p:cNvPicPr>
          <p:nvPr/>
        </p:nvPicPr>
        <p:blipFill>
          <a:blip r:embed="rId1"/>
          <a:stretch>
            <a:fillRect/>
          </a:stretch>
        </p:blipFill>
        <p:spPr>
          <a:xfrm>
            <a:off x="731520" y="1615170"/>
            <a:ext cx="10744200" cy="2438939"/>
          </a:xfrm>
          <a:prstGeom prst="rect">
            <a:avLst/>
          </a:prstGeom>
        </p:spPr>
      </p:pic>
      <p:sp>
        <p:nvSpPr>
          <p:cNvPr id="9" name="Shape 5"/>
          <p:cNvSpPr/>
          <p:nvPr/>
        </p:nvSpPr>
        <p:spPr>
          <a:xfrm>
            <a:off x="731520" y="4480560"/>
            <a:ext cx="5212080" cy="1554480"/>
          </a:xfrm>
          <a:prstGeom prst="roundRect">
            <a:avLst>
              <a:gd name="adj" fmla="val 4706"/>
            </a:avLst>
          </a:prstGeom>
          <a:solidFill>
            <a:srgbClr val="F3F5F8"/>
          </a:solidFill>
          <a:ln w="12700">
            <a:solidFill>
              <a:srgbClr val="F3F5F8"/>
            </a:solidFill>
            <a:prstDash val="solid"/>
          </a:ln>
        </p:spPr>
      </p:sp>
      <p:sp>
        <p:nvSpPr>
          <p:cNvPr id="10" name="Text 6"/>
          <p:cNvSpPr txBox="1"/>
          <p:nvPr/>
        </p:nvSpPr>
        <p:spPr>
          <a:xfrm>
            <a:off x="914400" y="4617720"/>
            <a:ext cx="4846320" cy="411480"/>
          </a:xfrm>
          <a:prstGeom prst="rect">
            <a:avLst/>
          </a:prstGeom>
          <a:noFill/>
          <a:ln/>
        </p:spPr>
        <p:txBody>
          <a:bodyPr wrap="square" lIns="0" tIns="0" rIns="0" bIns="0" rtlCol="0" anchor="t"/>
          <a:lstStyle/>
          <a:p>
            <a:pPr indent="0" marL="0">
              <a:buNone/>
            </a:pPr>
            <a:r>
              <a:rPr lang="en-US" sz="1800" b="1" dirty="0">
                <a:solidFill>
                  <a:srgbClr val="16324F"/>
                </a:solidFill>
                <a:latin typeface="Cambria" pitchFamily="34" charset="0"/>
                <a:ea typeface="Cambria" pitchFamily="34" charset="-122"/>
                <a:cs typeface="Cambria" pitchFamily="34" charset="-120"/>
              </a:rPr>
              <a:t>Colour code</a:t>
            </a:r>
            <a:endParaRPr lang="en-US" sz="1800" dirty="0"/>
          </a:p>
        </p:txBody>
      </p:sp>
      <p:sp>
        <p:nvSpPr>
          <p:cNvPr id="11" name="Text 7"/>
          <p:cNvSpPr txBox="1"/>
          <p:nvPr/>
        </p:nvSpPr>
        <p:spPr>
          <a:xfrm>
            <a:off x="914400" y="5074920"/>
            <a:ext cx="4846320" cy="86868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Blue: relational axis (L1)  |  Green: structural axis (L2)</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Purple: ordinal axis (L3)  |  Orange: shared fusion</a:t>
            </a:r>
            <a:endParaRPr lang="en-US" sz="1400" dirty="0"/>
          </a:p>
        </p:txBody>
      </p:sp>
      <p:sp>
        <p:nvSpPr>
          <p:cNvPr id="12" name="Shape 8"/>
          <p:cNvSpPr/>
          <p:nvPr/>
        </p:nvSpPr>
        <p:spPr>
          <a:xfrm>
            <a:off x="6263640" y="4480560"/>
            <a:ext cx="5212080" cy="1554480"/>
          </a:xfrm>
          <a:prstGeom prst="roundRect">
            <a:avLst>
              <a:gd name="adj" fmla="val 4706"/>
            </a:avLst>
          </a:prstGeom>
          <a:solidFill>
            <a:srgbClr val="F3F5F8"/>
          </a:solidFill>
          <a:ln w="12700">
            <a:solidFill>
              <a:srgbClr val="F3F5F8"/>
            </a:solidFill>
            <a:prstDash val="solid"/>
          </a:ln>
        </p:spPr>
      </p:sp>
      <p:sp>
        <p:nvSpPr>
          <p:cNvPr id="13" name="Text 9"/>
          <p:cNvSpPr txBox="1"/>
          <p:nvPr/>
        </p:nvSpPr>
        <p:spPr>
          <a:xfrm>
            <a:off x="6446520" y="4617720"/>
            <a:ext cx="4846320" cy="411480"/>
          </a:xfrm>
          <a:prstGeom prst="rect">
            <a:avLst/>
          </a:prstGeom>
          <a:noFill/>
          <a:ln/>
        </p:spPr>
        <p:txBody>
          <a:bodyPr wrap="square" lIns="0" tIns="0" rIns="0" bIns="0" rtlCol="0" anchor="t"/>
          <a:lstStyle/>
          <a:p>
            <a:pPr indent="0" marL="0">
              <a:buNone/>
            </a:pPr>
            <a:r>
              <a:rPr lang="en-US" sz="1800" b="1" dirty="0">
                <a:solidFill>
                  <a:srgbClr val="16324F"/>
                </a:solidFill>
                <a:latin typeface="Cambria" pitchFamily="34" charset="0"/>
                <a:ea typeface="Cambria" pitchFamily="34" charset="-122"/>
                <a:cs typeface="Cambria" pitchFamily="34" charset="-120"/>
              </a:rPr>
              <a:t>Why typed stages</a:t>
            </a:r>
            <a:endParaRPr lang="en-US" sz="1800" dirty="0"/>
          </a:p>
        </p:txBody>
      </p:sp>
      <p:sp>
        <p:nvSpPr>
          <p:cNvPr id="14" name="Text 10"/>
          <p:cNvSpPr txBox="1"/>
          <p:nvPr/>
        </p:nvSpPr>
        <p:spPr>
          <a:xfrm>
            <a:off x="6446520" y="5074920"/>
            <a:ext cx="4846320" cy="86868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Each stage can be tested on its own (Chapter 6)</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The same stages are reused by TOPORET, DGTS and DOTS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5A6470"/>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3</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Tools and First Evidence</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Graph neural networks, persistent homology, ordinal regression (Chapters 2-3)</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5A6470"/>
          </a:solidFill>
          <a:ln w="12700">
            <a:solidFill>
              <a:srgbClr val="5A6470"/>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Three tools, explained simply</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13</a:t>
            </a:r>
            <a:endParaRPr lang="en-US" sz="1000" dirty="0"/>
          </a:p>
        </p:txBody>
      </p:sp>
      <p:sp>
        <p:nvSpPr>
          <p:cNvPr id="8" name="Shape 5"/>
          <p:cNvSpPr/>
          <p:nvPr/>
        </p:nvSpPr>
        <p:spPr>
          <a:xfrm>
            <a:off x="731520" y="1325880"/>
            <a:ext cx="3429000" cy="4754880"/>
          </a:xfrm>
          <a:prstGeom prst="roundRect">
            <a:avLst>
              <a:gd name="adj" fmla="val 2133"/>
            </a:avLst>
          </a:prstGeom>
          <a:solidFill>
            <a:srgbClr val="F3F5F8"/>
          </a:solidFill>
          <a:ln w="12700">
            <a:solidFill>
              <a:srgbClr val="F3F5F8"/>
            </a:solidFill>
            <a:prstDash val="solid"/>
          </a:ln>
        </p:spPr>
      </p:sp>
      <p:sp>
        <p:nvSpPr>
          <p:cNvPr id="9" name="Text 6"/>
          <p:cNvSpPr txBox="1"/>
          <p:nvPr/>
        </p:nvSpPr>
        <p:spPr>
          <a:xfrm>
            <a:off x="914400" y="1463040"/>
            <a:ext cx="3063240" cy="64008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Population graph + GraphSAGE</a:t>
            </a:r>
            <a:endParaRPr lang="en-US" sz="1800" dirty="0"/>
          </a:p>
        </p:txBody>
      </p:sp>
      <p:pic>
        <p:nvPicPr>
          <p:cNvPr id="10" name="Image 0" descr="/tmp/claude-0/-home-user-SRT26/618f6450-ab76-51da-ba52-60090a9566a0/scratchpad/deckfig/fig_messagepassing.png">    </p:cNvPr>
          <p:cNvPicPr>
            <a:picLocks noChangeAspect="1"/>
          </p:cNvPicPr>
          <p:nvPr/>
        </p:nvPicPr>
        <p:blipFill>
          <a:blip r:embed="rId1"/>
          <a:stretch>
            <a:fillRect/>
          </a:stretch>
        </p:blipFill>
        <p:spPr>
          <a:xfrm>
            <a:off x="914400" y="2565941"/>
            <a:ext cx="3063240" cy="1177478"/>
          </a:xfrm>
          <a:prstGeom prst="rect">
            <a:avLst/>
          </a:prstGeom>
        </p:spPr>
      </p:pic>
      <p:sp>
        <p:nvSpPr>
          <p:cNvPr id="11" name="Text 7"/>
          <p:cNvSpPr txBox="1"/>
          <p:nvPr/>
        </p:nvSpPr>
        <p:spPr>
          <a:xfrm>
            <a:off x="914400" y="4297680"/>
            <a:ext cx="3063240" cy="16459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Each image is a node; similar images are linked; each node aggregates its neighbours.</a:t>
            </a:r>
            <a:endParaRPr lang="en-US" sz="1500" dirty="0"/>
          </a:p>
        </p:txBody>
      </p:sp>
      <p:sp>
        <p:nvSpPr>
          <p:cNvPr id="12" name="Shape 8"/>
          <p:cNvSpPr/>
          <p:nvPr/>
        </p:nvSpPr>
        <p:spPr>
          <a:xfrm>
            <a:off x="4361688" y="1325880"/>
            <a:ext cx="3429000" cy="4754880"/>
          </a:xfrm>
          <a:prstGeom prst="roundRect">
            <a:avLst>
              <a:gd name="adj" fmla="val 2133"/>
            </a:avLst>
          </a:prstGeom>
          <a:solidFill>
            <a:srgbClr val="F3F5F8"/>
          </a:solidFill>
          <a:ln w="12700">
            <a:solidFill>
              <a:srgbClr val="F3F5F8"/>
            </a:solidFill>
            <a:prstDash val="solid"/>
          </a:ln>
        </p:spPr>
      </p:sp>
      <p:sp>
        <p:nvSpPr>
          <p:cNvPr id="13" name="Text 9"/>
          <p:cNvSpPr txBox="1"/>
          <p:nvPr/>
        </p:nvSpPr>
        <p:spPr>
          <a:xfrm>
            <a:off x="4544568" y="1463040"/>
            <a:ext cx="3063240" cy="640080"/>
          </a:xfrm>
          <a:prstGeom prst="rect">
            <a:avLst/>
          </a:prstGeom>
          <a:noFill/>
          <a:ln/>
        </p:spPr>
        <p:txBody>
          <a:bodyPr wrap="square" lIns="0" tIns="0" rIns="0" bIns="0" rtlCol="0" anchor="ctr"/>
          <a:lstStyle/>
          <a:p>
            <a:pPr indent="0" marL="0">
              <a:buNone/>
            </a:pPr>
            <a:r>
              <a:rPr lang="en-US" sz="1800" b="1" dirty="0">
                <a:solidFill>
                  <a:srgbClr val="1B7A4E"/>
                </a:solidFill>
                <a:latin typeface="Cambria" pitchFamily="34" charset="0"/>
                <a:ea typeface="Cambria" pitchFamily="34" charset="-122"/>
                <a:cs typeface="Cambria" pitchFamily="34" charset="-120"/>
              </a:rPr>
              <a:t>Persistent homology</a:t>
            </a:r>
            <a:endParaRPr lang="en-US" sz="1800" dirty="0"/>
          </a:p>
        </p:txBody>
      </p:sp>
      <p:pic>
        <p:nvPicPr>
          <p:cNvPr id="14" name="Image 1" descr="/tmp/claude-0/-home-user-SRT26/618f6450-ab76-51da-ba52-60090a9566a0/scratchpad/deckfig/fig_filtration.png">    </p:cNvPr>
          <p:cNvPicPr>
            <a:picLocks noChangeAspect="1"/>
          </p:cNvPicPr>
          <p:nvPr/>
        </p:nvPicPr>
        <p:blipFill>
          <a:blip r:embed="rId2"/>
          <a:stretch>
            <a:fillRect/>
          </a:stretch>
        </p:blipFill>
        <p:spPr>
          <a:xfrm>
            <a:off x="4544568" y="2478672"/>
            <a:ext cx="3063240" cy="1352016"/>
          </a:xfrm>
          <a:prstGeom prst="rect">
            <a:avLst/>
          </a:prstGeom>
        </p:spPr>
      </p:pic>
      <p:sp>
        <p:nvSpPr>
          <p:cNvPr id="15" name="Text 10"/>
          <p:cNvSpPr txBox="1"/>
          <p:nvPr/>
        </p:nvSpPr>
        <p:spPr>
          <a:xfrm>
            <a:off x="4544568" y="4297680"/>
            <a:ext cx="3063240" cy="16459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Grow balls around skeleton points; count components (H0) and loops (H1) that persist across scales.</a:t>
            </a:r>
            <a:endParaRPr lang="en-US" sz="1500" dirty="0"/>
          </a:p>
        </p:txBody>
      </p:sp>
      <p:sp>
        <p:nvSpPr>
          <p:cNvPr id="16" name="Shape 11"/>
          <p:cNvSpPr/>
          <p:nvPr/>
        </p:nvSpPr>
        <p:spPr>
          <a:xfrm>
            <a:off x="7991856" y="1325880"/>
            <a:ext cx="3429000" cy="4754880"/>
          </a:xfrm>
          <a:prstGeom prst="roundRect">
            <a:avLst>
              <a:gd name="adj" fmla="val 2133"/>
            </a:avLst>
          </a:prstGeom>
          <a:solidFill>
            <a:srgbClr val="F3F5F8"/>
          </a:solidFill>
          <a:ln w="12700">
            <a:solidFill>
              <a:srgbClr val="F3F5F8"/>
            </a:solidFill>
            <a:prstDash val="solid"/>
          </a:ln>
        </p:spPr>
      </p:sp>
      <p:sp>
        <p:nvSpPr>
          <p:cNvPr id="17" name="Text 12"/>
          <p:cNvSpPr txBox="1"/>
          <p:nvPr/>
        </p:nvSpPr>
        <p:spPr>
          <a:xfrm>
            <a:off x="8174736" y="1463040"/>
            <a:ext cx="3063240" cy="640080"/>
          </a:xfrm>
          <a:prstGeom prst="rect">
            <a:avLst/>
          </a:prstGeom>
          <a:noFill/>
          <a:ln/>
        </p:spPr>
        <p:txBody>
          <a:bodyPr wrap="square" lIns="0" tIns="0" rIns="0" bIns="0" rtlCol="0" anchor="ctr"/>
          <a:lstStyle/>
          <a:p>
            <a:pPr indent="0" marL="0">
              <a:buNone/>
            </a:pPr>
            <a:r>
              <a:rPr lang="en-US" sz="1800" b="1" dirty="0">
                <a:solidFill>
                  <a:srgbClr val="6B3D8C"/>
                </a:solidFill>
                <a:latin typeface="Cambria" pitchFamily="34" charset="0"/>
                <a:ea typeface="Cambria" pitchFamily="34" charset="-122"/>
                <a:cs typeface="Cambria" pitchFamily="34" charset="-120"/>
              </a:rPr>
              <a:t>CORAL ordinal regression</a:t>
            </a:r>
            <a:endParaRPr lang="en-US" sz="1800" dirty="0"/>
          </a:p>
        </p:txBody>
      </p:sp>
      <p:pic>
        <p:nvPicPr>
          <p:cNvPr id="18" name="Image 2" descr="/tmp/claude-0/-home-user-SRT26/618f6450-ab76-51da-ba52-60090a9566a0/scratchpad/deckfig/fig_coral.png">    </p:cNvPr>
          <p:cNvPicPr>
            <a:picLocks noChangeAspect="1"/>
          </p:cNvPicPr>
          <p:nvPr/>
        </p:nvPicPr>
        <p:blipFill>
          <a:blip r:embed="rId3"/>
          <a:stretch>
            <a:fillRect/>
          </a:stretch>
        </p:blipFill>
        <p:spPr>
          <a:xfrm>
            <a:off x="8174736" y="2645573"/>
            <a:ext cx="3063240" cy="1018213"/>
          </a:xfrm>
          <a:prstGeom prst="rect">
            <a:avLst/>
          </a:prstGeom>
        </p:spPr>
      </p:pic>
      <p:sp>
        <p:nvSpPr>
          <p:cNvPr id="19" name="Text 13"/>
          <p:cNvSpPr txBox="1"/>
          <p:nvPr/>
        </p:nvSpPr>
        <p:spPr>
          <a:xfrm>
            <a:off x="8174736" y="4297680"/>
            <a:ext cx="3063240" cy="16459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Four nested binary questions: is the grade ≥ 1, ≥ 2, ≥ 3, ≥ 4? The order of grades is built in.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5A6470"/>
          </a:solidFill>
          <a:ln w="12700">
            <a:solidFill>
              <a:srgbClr val="5A6470"/>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First evidence: structure carries information</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14</a:t>
            </a:r>
            <a:endParaRPr lang="en-US" sz="1000" dirty="0"/>
          </a:p>
        </p:txBody>
      </p:sp>
      <p:sp>
        <p:nvSpPr>
          <p:cNvPr id="8" name="Shape 5"/>
          <p:cNvSpPr/>
          <p:nvPr/>
        </p:nvSpPr>
        <p:spPr>
          <a:xfrm>
            <a:off x="731520" y="1463040"/>
            <a:ext cx="685800" cy="685800"/>
          </a:xfrm>
          <a:prstGeom prst="ellipse">
            <a:avLst/>
          </a:prstGeom>
          <a:solidFill>
            <a:srgbClr val="5A6470"/>
          </a:solidFill>
          <a:ln w="12700">
            <a:solidFill>
              <a:srgbClr val="5A6470"/>
            </a:solidFill>
            <a:prstDash val="solid"/>
          </a:ln>
        </p:spPr>
      </p:sp>
      <p:sp>
        <p:nvSpPr>
          <p:cNvPr id="9" name="Text 6"/>
          <p:cNvSpPr txBox="1"/>
          <p:nvPr/>
        </p:nvSpPr>
        <p:spPr>
          <a:xfrm>
            <a:off x="731520" y="146304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F1</a:t>
            </a:r>
            <a:endParaRPr lang="en-US" sz="1800" dirty="0"/>
          </a:p>
        </p:txBody>
      </p:sp>
      <p:sp>
        <p:nvSpPr>
          <p:cNvPr id="10" name="Text 7"/>
          <p:cNvSpPr txBox="1"/>
          <p:nvPr/>
        </p:nvSpPr>
        <p:spPr>
          <a:xfrm>
            <a:off x="1600200" y="1371600"/>
            <a:ext cx="4937760" cy="411480"/>
          </a:xfrm>
          <a:prstGeom prst="rect">
            <a:avLst/>
          </a:prstGeom>
          <a:noFill/>
          <a:ln/>
        </p:spPr>
        <p:txBody>
          <a:bodyPr wrap="square" lIns="0" tIns="0" rIns="0" bIns="0" rtlCol="0" anchor="ctr"/>
          <a:lstStyle/>
          <a:p>
            <a:pPr indent="0" marL="0">
              <a:buNone/>
            </a:pPr>
            <a:r>
              <a:rPr lang="en-US" sz="1500" b="1" dirty="0">
                <a:solidFill>
                  <a:srgbClr val="16324F"/>
                </a:solidFill>
                <a:latin typeface="Cambria" pitchFamily="34" charset="0"/>
                <a:ea typeface="Cambria" pitchFamily="34" charset="-122"/>
                <a:cs typeface="Cambria" pitchFamily="34" charset="-120"/>
              </a:rPr>
              <a:t>Graph template outside medicine</a:t>
            </a:r>
            <a:endParaRPr lang="en-US" sz="1500" dirty="0"/>
          </a:p>
        </p:txBody>
      </p:sp>
      <p:sp>
        <p:nvSpPr>
          <p:cNvPr id="11" name="Text 8"/>
          <p:cNvSpPr txBox="1"/>
          <p:nvPr/>
        </p:nvSpPr>
        <p:spPr>
          <a:xfrm>
            <a:off x="1600200" y="1783080"/>
            <a:ext cx="475488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F1 94.4-97.0% (single run); ten runs: interpretability and robustness to drift, no significant accuracy gain.</a:t>
            </a:r>
            <a:endParaRPr lang="en-US" sz="1400" dirty="0"/>
          </a:p>
        </p:txBody>
      </p:sp>
      <p:sp>
        <p:nvSpPr>
          <p:cNvPr id="12" name="Shape 9"/>
          <p:cNvSpPr/>
          <p:nvPr/>
        </p:nvSpPr>
        <p:spPr>
          <a:xfrm>
            <a:off x="731520" y="2651760"/>
            <a:ext cx="685800" cy="685800"/>
          </a:xfrm>
          <a:prstGeom prst="ellipse">
            <a:avLst/>
          </a:prstGeom>
          <a:solidFill>
            <a:srgbClr val="5A6470"/>
          </a:solidFill>
          <a:ln w="12700">
            <a:solidFill>
              <a:srgbClr val="5A6470"/>
            </a:solidFill>
            <a:prstDash val="solid"/>
          </a:ln>
        </p:spPr>
      </p:sp>
      <p:sp>
        <p:nvSpPr>
          <p:cNvPr id="13" name="Text 10"/>
          <p:cNvSpPr txBox="1"/>
          <p:nvPr/>
        </p:nvSpPr>
        <p:spPr>
          <a:xfrm>
            <a:off x="731520" y="265176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F2</a:t>
            </a:r>
            <a:endParaRPr lang="en-US" sz="1800" dirty="0"/>
          </a:p>
        </p:txBody>
      </p:sp>
      <p:sp>
        <p:nvSpPr>
          <p:cNvPr id="14" name="Text 11"/>
          <p:cNvSpPr txBox="1"/>
          <p:nvPr/>
        </p:nvSpPr>
        <p:spPr>
          <a:xfrm>
            <a:off x="1600200" y="2560320"/>
            <a:ext cx="4937760" cy="411480"/>
          </a:xfrm>
          <a:prstGeom prst="rect">
            <a:avLst/>
          </a:prstGeom>
          <a:noFill/>
          <a:ln/>
        </p:spPr>
        <p:txBody>
          <a:bodyPr wrap="square" lIns="0" tIns="0" rIns="0" bIns="0" rtlCol="0" anchor="ctr"/>
          <a:lstStyle/>
          <a:p>
            <a:pPr indent="0" marL="0">
              <a:buNone/>
            </a:pPr>
            <a:r>
              <a:rPr lang="en-US" sz="1500" b="1" dirty="0">
                <a:solidFill>
                  <a:srgbClr val="16324F"/>
                </a:solidFill>
                <a:latin typeface="Cambria" pitchFamily="34" charset="0"/>
                <a:ea typeface="Cambria" pitchFamily="34" charset="-122"/>
                <a:cs typeface="Cambria" pitchFamily="34" charset="-120"/>
              </a:rPr>
              <a:t>Relations and topology: complementary</a:t>
            </a:r>
            <a:endParaRPr lang="en-US" sz="1500" dirty="0"/>
          </a:p>
        </p:txBody>
      </p:sp>
      <p:sp>
        <p:nvSpPr>
          <p:cNvPr id="15" name="Text 12"/>
          <p:cNvSpPr txBox="1"/>
          <p:nvPr/>
        </p:nvSpPr>
        <p:spPr>
          <a:xfrm>
            <a:off x="1600200" y="2971800"/>
            <a:ext cx="475488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Hybrid CNN-GNN on APTOS 2019 (binary): 95.1% accuracy, +7.0 pp over the CNN, single split.</a:t>
            </a:r>
            <a:endParaRPr lang="en-US" sz="1400" dirty="0"/>
          </a:p>
        </p:txBody>
      </p:sp>
      <p:sp>
        <p:nvSpPr>
          <p:cNvPr id="16" name="Shape 13"/>
          <p:cNvSpPr/>
          <p:nvPr/>
        </p:nvSpPr>
        <p:spPr>
          <a:xfrm>
            <a:off x="731520" y="3840480"/>
            <a:ext cx="685800" cy="685800"/>
          </a:xfrm>
          <a:prstGeom prst="ellipse">
            <a:avLst/>
          </a:prstGeom>
          <a:solidFill>
            <a:srgbClr val="5A6470"/>
          </a:solidFill>
          <a:ln w="12700">
            <a:solidFill>
              <a:srgbClr val="5A6470"/>
            </a:solidFill>
            <a:prstDash val="solid"/>
          </a:ln>
        </p:spPr>
      </p:sp>
      <p:sp>
        <p:nvSpPr>
          <p:cNvPr id="17" name="Text 14"/>
          <p:cNvSpPr txBox="1"/>
          <p:nvPr/>
        </p:nvSpPr>
        <p:spPr>
          <a:xfrm>
            <a:off x="731520" y="3840480"/>
            <a:ext cx="68580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F3</a:t>
            </a:r>
            <a:endParaRPr lang="en-US" sz="1800" dirty="0"/>
          </a:p>
        </p:txBody>
      </p:sp>
      <p:sp>
        <p:nvSpPr>
          <p:cNvPr id="18" name="Text 15"/>
          <p:cNvSpPr txBox="1"/>
          <p:nvPr/>
        </p:nvSpPr>
        <p:spPr>
          <a:xfrm>
            <a:off x="1600200" y="3749040"/>
            <a:ext cx="4937760" cy="411480"/>
          </a:xfrm>
          <a:prstGeom prst="rect">
            <a:avLst/>
          </a:prstGeom>
          <a:noFill/>
          <a:ln/>
        </p:spPr>
        <p:txBody>
          <a:bodyPr wrap="square" lIns="0" tIns="0" rIns="0" bIns="0" rtlCol="0" anchor="ctr"/>
          <a:lstStyle/>
          <a:p>
            <a:pPr indent="0" marL="0">
              <a:buNone/>
            </a:pPr>
            <a:r>
              <a:rPr lang="en-US" sz="1500" b="1" dirty="0">
                <a:solidFill>
                  <a:srgbClr val="16324F"/>
                </a:solidFill>
                <a:latin typeface="Cambria" pitchFamily="34" charset="0"/>
                <a:ea typeface="Cambria" pitchFamily="34" charset="-122"/>
                <a:cs typeface="Cambria" pitchFamily="34" charset="-120"/>
              </a:rPr>
              <a:t>Vessel structure is discriminative</a:t>
            </a:r>
            <a:endParaRPr lang="en-US" sz="1500" dirty="0"/>
          </a:p>
        </p:txBody>
      </p:sp>
      <p:sp>
        <p:nvSpPr>
          <p:cNvPr id="19" name="Text 16"/>
          <p:cNvSpPr txBox="1"/>
          <p:nvPr/>
        </p:nvSpPr>
        <p:spPr>
          <a:xfrm>
            <a:off x="1600200" y="4160520"/>
            <a:ext cx="475488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Three methods agree; SAMF-GB: +0.042 QWK over EfficientNet-B3, CPU classifier about 13x cheaper.</a:t>
            </a:r>
            <a:endParaRPr lang="en-US" sz="1400" dirty="0"/>
          </a:p>
        </p:txBody>
      </p:sp>
      <p:pic>
        <p:nvPicPr>
          <p:cNvPr id="20" name="Image 0" descr="/home/user/SRT26/img/hybrid_confusion_5class.png">    </p:cNvPr>
          <p:cNvPicPr>
            <a:picLocks noChangeAspect="1"/>
          </p:cNvPicPr>
          <p:nvPr/>
        </p:nvPicPr>
        <p:blipFill>
          <a:blip r:embed="rId1"/>
          <a:stretch>
            <a:fillRect/>
          </a:stretch>
        </p:blipFill>
        <p:spPr>
          <a:xfrm>
            <a:off x="6675120" y="1505709"/>
            <a:ext cx="4800600" cy="3297941"/>
          </a:xfrm>
          <a:prstGeom prst="rect">
            <a:avLst/>
          </a:prstGeom>
        </p:spPr>
      </p:pic>
      <p:sp>
        <p:nvSpPr>
          <p:cNvPr id="21" name="Text 17"/>
          <p:cNvSpPr txBox="1"/>
          <p:nvPr/>
        </p:nvSpPr>
        <p:spPr>
          <a:xfrm>
            <a:off x="6675120" y="5029200"/>
            <a:ext cx="4800600" cy="320040"/>
          </a:xfrm>
          <a:prstGeom prst="rect">
            <a:avLst/>
          </a:prstGeom>
          <a:noFill/>
          <a:ln/>
        </p:spPr>
        <p:txBody>
          <a:bodyPr wrap="square" lIns="0" tIns="0" rIns="0" bIns="0" rtlCol="0" anchor="ctr"/>
          <a:lstStyle/>
          <a:p>
            <a:pPr algn="ctr" indent="0" marL="0">
              <a:buNone/>
            </a:pPr>
            <a:r>
              <a:rPr lang="en-US" sz="1100" i="1" dirty="0">
                <a:solidFill>
                  <a:srgbClr val="5A6470"/>
                </a:solidFill>
                <a:latin typeface="Calibri" pitchFamily="34" charset="0"/>
                <a:ea typeface="Calibri" pitchFamily="34" charset="-122"/>
                <a:cs typeface="Calibri" pitchFamily="34" charset="-120"/>
              </a:rPr>
              <a:t>Hybrid CNN-GNN, five-class confusion matrix (APTOS 2019)</a:t>
            </a:r>
            <a:endParaRPr lang="en-US" sz="1100" dirty="0"/>
          </a:p>
        </p:txBody>
      </p:sp>
      <p:sp>
        <p:nvSpPr>
          <p:cNvPr id="22" name="Text 18"/>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700" i="1" dirty="0">
                <a:solidFill>
                  <a:srgbClr val="16324F"/>
                </a:solidFill>
                <a:latin typeface="Cambria" pitchFamily="34" charset="0"/>
                <a:ea typeface="Cambria" pitchFamily="34" charset="-122"/>
                <a:cs typeface="Cambria" pitchFamily="34" charset="-120"/>
              </a:rPr>
              <a:t>Take-away: worth testing a population graph with topology inside the similarity (Chapter 4).</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1F4E79"/>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4</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TOPORET</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A dual-similarity population graph: relations + vessel topology (Chapter 4)</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F4E79"/>
          </a:solidFill>
          <a:ln w="12700">
            <a:solidFill>
              <a:srgbClr val="1F4E79"/>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TOPORET: a dual-similarity population graph</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16</a:t>
            </a:r>
            <a:endParaRPr lang="en-US" sz="1000" dirty="0"/>
          </a:p>
        </p:txBody>
      </p:sp>
      <p:pic>
        <p:nvPicPr>
          <p:cNvPr id="8" name="Image 0" descr="/tmp/claude-0/-home-user-SRT26/618f6450-ab76-51da-ba52-60090a9566a0/scratchpad/deckfig/fig_toporet.png">    </p:cNvPr>
          <p:cNvPicPr>
            <a:picLocks noChangeAspect="1"/>
          </p:cNvPicPr>
          <p:nvPr/>
        </p:nvPicPr>
        <p:blipFill>
          <a:blip r:embed="rId1"/>
          <a:stretch>
            <a:fillRect/>
          </a:stretch>
        </p:blipFill>
        <p:spPr>
          <a:xfrm>
            <a:off x="731520" y="1312677"/>
            <a:ext cx="10744200" cy="2403847"/>
          </a:xfrm>
          <a:prstGeom prst="rect">
            <a:avLst/>
          </a:prstGeom>
        </p:spPr>
      </p:pic>
      <p:sp>
        <p:nvSpPr>
          <p:cNvPr id="9" name="Shape 5"/>
          <p:cNvSpPr/>
          <p:nvPr/>
        </p:nvSpPr>
        <p:spPr>
          <a:xfrm>
            <a:off x="731520" y="3931920"/>
            <a:ext cx="6035040" cy="2148840"/>
          </a:xfrm>
          <a:prstGeom prst="roundRect">
            <a:avLst>
              <a:gd name="adj" fmla="val 3404"/>
            </a:avLst>
          </a:prstGeom>
          <a:solidFill>
            <a:srgbClr val="D6E6F5"/>
          </a:solidFill>
          <a:ln w="12700">
            <a:solidFill>
              <a:srgbClr val="D6E6F5"/>
            </a:solidFill>
            <a:prstDash val="solid"/>
          </a:ln>
        </p:spPr>
      </p:sp>
      <p:sp>
        <p:nvSpPr>
          <p:cNvPr id="10" name="Text 6"/>
          <p:cNvSpPr txBox="1"/>
          <p:nvPr/>
        </p:nvSpPr>
        <p:spPr>
          <a:xfrm>
            <a:off x="960120" y="4069080"/>
            <a:ext cx="5669280" cy="192024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Dual similarity</a:t>
            </a:r>
            <a:endParaRPr lang="en-US" sz="1800" dirty="0"/>
          </a:p>
          <a:p>
            <a:pPr indent="0" marL="0">
              <a:buNone/>
            </a:pPr>
            <a:r>
              <a:rPr lang="en-US" sz="1500" dirty="0">
                <a:solidFill>
                  <a:srgbClr val="1F2933"/>
                </a:solidFill>
                <a:latin typeface="Cambria Math" pitchFamily="34" charset="0"/>
                <a:ea typeface="Cambria Math" pitchFamily="34" charset="-122"/>
                <a:cs typeface="Cambria Math" pitchFamily="34" charset="-120"/>
              </a:rPr>
              <a:t>S(i,j) = α · cos(CNN_i, CNN_j) + (1 − α) · exp(−d_ij / d_max)</a:t>
            </a:r>
            <a:endParaRPr lang="en-US" sz="1800" dirty="0"/>
          </a:p>
          <a:p>
            <a:pPr indent="0" marL="0">
              <a:buNone/>
            </a:pPr>
            <a:r>
              <a:rPr lang="en-US" sz="1400" dirty="0">
                <a:solidFill>
                  <a:srgbClr val="5A6470"/>
                </a:solidFill>
                <a:latin typeface="Calibri" pitchFamily="34" charset="0"/>
                <a:ea typeface="Calibri" pitchFamily="34" charset="-122"/>
                <a:cs typeface="Calibri" pitchFamily="34" charset="-120"/>
              </a:rPr>
              <a:t>d_ij: distance of the 6-D topological vectors; edge if S &gt; τ</a:t>
            </a:r>
            <a:endParaRPr lang="en-US" sz="1800" dirty="0"/>
          </a:p>
          <a:p>
            <a:pPr indent="0" marL="0">
              <a:buNone/>
            </a:pPr>
            <a:r>
              <a:rPr lang="en-US" sz="1400" dirty="0">
                <a:solidFill>
                  <a:srgbClr val="5A6470"/>
                </a:solidFill>
                <a:latin typeface="Calibri" pitchFamily="34" charset="0"/>
                <a:ea typeface="Calibri" pitchFamily="34" charset="-122"/>
                <a:cs typeface="Calibri" pitchFamily="34" charset="-120"/>
              </a:rPr>
              <a:t>α = 0.6, τ = 0.65 (validation grid search)</a:t>
            </a:r>
            <a:endParaRPr lang="en-US" sz="1800" dirty="0"/>
          </a:p>
        </p:txBody>
      </p:sp>
      <p:sp>
        <p:nvSpPr>
          <p:cNvPr id="11" name="Shape 7"/>
          <p:cNvSpPr/>
          <p:nvPr/>
        </p:nvSpPr>
        <p:spPr>
          <a:xfrm>
            <a:off x="7040880" y="3931920"/>
            <a:ext cx="4434840" cy="2148840"/>
          </a:xfrm>
          <a:prstGeom prst="roundRect">
            <a:avLst>
              <a:gd name="adj" fmla="val 3404"/>
            </a:avLst>
          </a:prstGeom>
          <a:solidFill>
            <a:srgbClr val="F3F5F8"/>
          </a:solidFill>
          <a:ln w="12700">
            <a:solidFill>
              <a:srgbClr val="F3F5F8"/>
            </a:solidFill>
            <a:prstDash val="solid"/>
          </a:ln>
        </p:spPr>
      </p:sp>
      <p:sp>
        <p:nvSpPr>
          <p:cNvPr id="12" name="Text 8"/>
          <p:cNvSpPr txBox="1"/>
          <p:nvPr/>
        </p:nvSpPr>
        <p:spPr>
          <a:xfrm>
            <a:off x="7223760" y="4069080"/>
            <a:ext cx="4069080" cy="41148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Protocol (stated plainly)</a:t>
            </a:r>
            <a:endParaRPr lang="en-US" sz="1800" dirty="0"/>
          </a:p>
        </p:txBody>
      </p:sp>
      <p:sp>
        <p:nvSpPr>
          <p:cNvPr id="13" name="Text 9"/>
          <p:cNvSpPr txBox="1"/>
          <p:nvPr/>
        </p:nvSpPr>
        <p:spPr>
          <a:xfrm>
            <a:off x="7223760" y="4526280"/>
            <a:ext cx="4069080" cy="146304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Five-fold CV, seed 42, image level</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Transductive: test images are unlabelled nodes</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Three benchmarks, each evaluated within itself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B7A4E"/>
          </a:solidFill>
          <a:ln w="12700">
            <a:solidFill>
              <a:srgbClr val="1B7A4E"/>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Vessel topology with persistent homology</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17</a:t>
            </a:r>
            <a:endParaRPr lang="en-US" sz="1000" dirty="0"/>
          </a:p>
        </p:txBody>
      </p:sp>
      <p:pic>
        <p:nvPicPr>
          <p:cNvPr id="8" name="Image 0" descr="/home/user/SRT26/img/vessel_skeleton_persistence.png">    </p:cNvPr>
          <p:cNvPicPr>
            <a:picLocks noChangeAspect="1"/>
          </p:cNvPicPr>
          <p:nvPr/>
        </p:nvPicPr>
        <p:blipFill>
          <a:blip r:embed="rId1"/>
          <a:stretch>
            <a:fillRect/>
          </a:stretch>
        </p:blipFill>
        <p:spPr>
          <a:xfrm>
            <a:off x="731520" y="1998513"/>
            <a:ext cx="5852160" cy="3318175"/>
          </a:xfrm>
          <a:prstGeom prst="rect">
            <a:avLst/>
          </a:prstGeom>
        </p:spPr>
      </p:pic>
      <p:sp>
        <p:nvSpPr>
          <p:cNvPr id="9" name="Shape 5"/>
          <p:cNvSpPr/>
          <p:nvPr/>
        </p:nvSpPr>
        <p:spPr>
          <a:xfrm>
            <a:off x="6858000" y="1325880"/>
            <a:ext cx="4617720" cy="2331720"/>
          </a:xfrm>
          <a:prstGeom prst="roundRect">
            <a:avLst>
              <a:gd name="adj" fmla="val 3137"/>
            </a:avLst>
          </a:prstGeom>
          <a:solidFill>
            <a:srgbClr val="D9F0E3"/>
          </a:solidFill>
          <a:ln w="12700">
            <a:solidFill>
              <a:srgbClr val="D9F0E3"/>
            </a:solidFill>
            <a:prstDash val="solid"/>
          </a:ln>
        </p:spPr>
      </p:sp>
      <p:sp>
        <p:nvSpPr>
          <p:cNvPr id="10" name="Text 6"/>
          <p:cNvSpPr txBox="1"/>
          <p:nvPr/>
        </p:nvSpPr>
        <p:spPr>
          <a:xfrm>
            <a:off x="7040880" y="1463040"/>
            <a:ext cx="4251960" cy="411480"/>
          </a:xfrm>
          <a:prstGeom prst="rect">
            <a:avLst/>
          </a:prstGeom>
          <a:noFill/>
          <a:ln/>
        </p:spPr>
        <p:txBody>
          <a:bodyPr wrap="square" lIns="0" tIns="0" rIns="0" bIns="0" rtlCol="0" anchor="t"/>
          <a:lstStyle/>
          <a:p>
            <a:pPr indent="0" marL="0">
              <a:buNone/>
            </a:pPr>
            <a:r>
              <a:rPr lang="en-US" sz="1800" b="1" dirty="0">
                <a:solidFill>
                  <a:srgbClr val="1B7A4E"/>
                </a:solidFill>
                <a:latin typeface="Cambria" pitchFamily="34" charset="0"/>
                <a:ea typeface="Cambria" pitchFamily="34" charset="-122"/>
                <a:cs typeface="Cambria" pitchFamily="34" charset="-120"/>
              </a:rPr>
              <a:t>Six descriptors per image</a:t>
            </a:r>
            <a:endParaRPr lang="en-US" sz="1800" dirty="0"/>
          </a:p>
        </p:txBody>
      </p:sp>
      <p:sp>
        <p:nvSpPr>
          <p:cNvPr id="11" name="Text 7"/>
          <p:cNvSpPr txBox="1"/>
          <p:nvPr/>
        </p:nvSpPr>
        <p:spPr>
          <a:xfrm>
            <a:off x="7040880" y="1920240"/>
            <a:ext cx="4251960" cy="164592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H0 (components): total persistence, entropy, number of long-lived bars</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H1 (loops): total persistence, entropy, number of long-lived bars</a:t>
            </a:r>
            <a:endParaRPr lang="en-US" sz="1500" dirty="0"/>
          </a:p>
        </p:txBody>
      </p:sp>
      <p:sp>
        <p:nvSpPr>
          <p:cNvPr id="12" name="Shape 8"/>
          <p:cNvSpPr/>
          <p:nvPr/>
        </p:nvSpPr>
        <p:spPr>
          <a:xfrm>
            <a:off x="6858000" y="3840480"/>
            <a:ext cx="4617720" cy="2194560"/>
          </a:xfrm>
          <a:prstGeom prst="roundRect">
            <a:avLst>
              <a:gd name="adj" fmla="val 3333"/>
            </a:avLst>
          </a:prstGeom>
          <a:solidFill>
            <a:srgbClr val="F3F5F8"/>
          </a:solidFill>
          <a:ln w="12700">
            <a:solidFill>
              <a:srgbClr val="F3F5F8"/>
            </a:solidFill>
            <a:prstDash val="solid"/>
          </a:ln>
        </p:spPr>
      </p:sp>
      <p:sp>
        <p:nvSpPr>
          <p:cNvPr id="13" name="Text 9"/>
          <p:cNvSpPr txBox="1"/>
          <p:nvPr/>
        </p:nvSpPr>
        <p:spPr>
          <a:xfrm>
            <a:off x="7040880" y="3977640"/>
            <a:ext cx="4251960" cy="411480"/>
          </a:xfrm>
          <a:prstGeom prst="rect">
            <a:avLst/>
          </a:prstGeom>
          <a:noFill/>
          <a:ln/>
        </p:spPr>
        <p:txBody>
          <a:bodyPr wrap="square" lIns="0" tIns="0" rIns="0" bIns="0" rtlCol="0" anchor="t"/>
          <a:lstStyle/>
          <a:p>
            <a:pPr indent="0" marL="0">
              <a:buNone/>
            </a:pPr>
            <a:r>
              <a:rPr lang="en-US" sz="1800" b="1" dirty="0">
                <a:solidFill>
                  <a:srgbClr val="1B7A4E"/>
                </a:solidFill>
                <a:latin typeface="Cambria" pitchFamily="34" charset="0"/>
                <a:ea typeface="Cambria" pitchFamily="34" charset="-122"/>
                <a:cs typeface="Cambria" pitchFamily="34" charset="-120"/>
              </a:rPr>
              <a:t>Pipeline</a:t>
            </a:r>
            <a:endParaRPr lang="en-US" sz="1800" dirty="0"/>
          </a:p>
        </p:txBody>
      </p:sp>
      <p:sp>
        <p:nvSpPr>
          <p:cNvPr id="14" name="Text 10"/>
          <p:cNvSpPr txBox="1"/>
          <p:nvPr/>
        </p:nvSpPr>
        <p:spPr>
          <a:xfrm>
            <a:off x="7040880" y="4434840"/>
            <a:ext cx="4251960" cy="150876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CLAHE, skeleton, branch points</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Vietoris-Rips filtration (GUDHI), edge ≤ 100 px</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Long-lived bar: &gt; 5% of the longest bar</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F4E79"/>
          </a:solidFill>
          <a:ln w="12700">
            <a:solidFill>
              <a:srgbClr val="1F4E79"/>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Results on three benchmarks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18</a:t>
            </a:r>
            <a:endParaRPr lang="en-US" sz="1000" dirty="0"/>
          </a:p>
        </p:txBody>
      </p:sp>
      <p:graphicFrame>
        <p:nvGraphicFramePr>
          <p:cNvPr id="8" name="Chart 0" descr=""/>
          <p:cNvGraphicFramePr/>
          <p:nvPr/>
        </p:nvGraphicFramePr>
        <p:xfrm>
          <a:off x="731520" y="1280160"/>
          <a:ext cx="65836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680960" y="1463040"/>
          <a:ext cx="3794760" cy="914400"/>
        </p:xfrm>
        <a:graphic>
          <a:graphicData uri="http://schemas.openxmlformats.org/drawingml/2006/table">
            <a:tbl>
              <a:tblPr/>
              <a:tblGrid>
                <a:gridCol w="1417320"/>
                <a:gridCol w="1463040"/>
                <a:gridCol w="91440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Accuracy (%)</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ΔQWK</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Kaggle DR</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94.0 → 95.5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Messidor-2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93.8 → 96.1</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APTOS 2019</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92.9 → 94.6</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5"/>
          <p:cNvSpPr/>
          <p:nvPr/>
        </p:nvSpPr>
        <p:spPr>
          <a:xfrm>
            <a:off x="7680960" y="3383280"/>
            <a:ext cx="3794760" cy="2651760"/>
          </a:xfrm>
          <a:prstGeom prst="roundRect">
            <a:avLst>
              <a:gd name="adj" fmla="val 2759"/>
            </a:avLst>
          </a:prstGeom>
          <a:solidFill>
            <a:srgbClr val="F8D6D6"/>
          </a:solidFill>
          <a:ln w="12700">
            <a:solidFill>
              <a:srgbClr val="F8D6D6"/>
            </a:solidFill>
            <a:prstDash val="solid"/>
          </a:ln>
        </p:spPr>
      </p:sp>
      <p:sp>
        <p:nvSpPr>
          <p:cNvPr id="11" name="Text 6"/>
          <p:cNvSpPr txBox="1"/>
          <p:nvPr/>
        </p:nvSpPr>
        <p:spPr>
          <a:xfrm>
            <a:off x="7863840" y="3520440"/>
            <a:ext cx="342900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Read with care</a:t>
            </a:r>
            <a:endParaRPr lang="en-US" sz="1800" dirty="0"/>
          </a:p>
        </p:txBody>
      </p:sp>
      <p:sp>
        <p:nvSpPr>
          <p:cNvPr id="12" name="Text 7"/>
          <p:cNvSpPr txBox="1"/>
          <p:nvPr/>
        </p:nvSpPr>
        <p:spPr>
          <a:xfrm>
            <a:off x="7863840" y="3977640"/>
            <a:ext cx="3429000" cy="196596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Transductive, image-level folds</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Not comparable with published absolute figures</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Valid: paired comparison, same features and folds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F4E79"/>
          </a:solidFill>
          <a:ln w="12700">
            <a:solidFill>
              <a:srgbClr val="1F4E79"/>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H1</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H1: converging but limited evidence</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914400"/>
        </p:xfrm>
        <a:graphic>
          <a:graphicData uri="http://schemas.openxmlformats.org/drawingml/2006/table">
            <a:tbl>
              <a:tblPr/>
              <a:tblGrid>
                <a:gridCol w="2926080"/>
                <a:gridCol w="1097280"/>
                <a:gridCol w="1005840"/>
                <a:gridCol w="1828800"/>
                <a:gridCol w="2423160"/>
                <a:gridCol w="14630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ΔQWK</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 (pre-specified)</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Corrected t (Nadeau-Bengio)</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Corrected p</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F4E79"/>
                    </a:solidFill>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Kaggle DR (primary)</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3.82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0.019</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2.45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0.070</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Messidor-2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2.63</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APTOS 2019</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2.25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Three benchmarks combined (Fisher)</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b="1" dirty="0">
                          <a:solidFill>
                            <a:srgbClr val="1F4E79"/>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9" name="Shape 5"/>
          <p:cNvSpPr/>
          <p:nvPr/>
        </p:nvSpPr>
        <p:spPr>
          <a:xfrm>
            <a:off x="731520" y="3657600"/>
            <a:ext cx="2651760" cy="1463040"/>
          </a:xfrm>
          <a:prstGeom prst="roundRect">
            <a:avLst>
              <a:gd name="adj" fmla="val 5000"/>
            </a:avLst>
          </a:prstGeom>
          <a:solidFill>
            <a:srgbClr val="D6E6F5"/>
          </a:solidFill>
          <a:ln w="12700">
            <a:solidFill>
              <a:srgbClr val="D6E6F5"/>
            </a:solidFill>
            <a:prstDash val="solid"/>
          </a:ln>
        </p:spPr>
      </p:sp>
      <p:sp>
        <p:nvSpPr>
          <p:cNvPr id="10" name="Text 6"/>
          <p:cNvSpPr txBox="1"/>
          <p:nvPr/>
        </p:nvSpPr>
        <p:spPr>
          <a:xfrm>
            <a:off x="868680" y="3749040"/>
            <a:ext cx="2377440" cy="365760"/>
          </a:xfrm>
          <a:prstGeom prst="rect">
            <a:avLst/>
          </a:prstGeom>
          <a:noFill/>
          <a:ln/>
        </p:spPr>
        <p:txBody>
          <a:bodyPr wrap="square" lIns="0" tIns="0" rIns="0" bIns="0" rtlCol="0" anchor="ctr"/>
          <a:lstStyle/>
          <a:p>
            <a:pPr indent="0" marL="0">
              <a:buNone/>
            </a:pPr>
            <a:r>
              <a:rPr lang="en-US" sz="1300" dirty="0">
                <a:solidFill>
                  <a:srgbClr val="5A6470"/>
                </a:solidFill>
                <a:latin typeface="Calibri" pitchFamily="34" charset="0"/>
                <a:ea typeface="Calibri" pitchFamily="34" charset="-122"/>
                <a:cs typeface="Calibri" pitchFamily="34" charset="-120"/>
              </a:rPr>
              <a:t>Bootstrap CI</a:t>
            </a:r>
            <a:endParaRPr lang="en-US" sz="1300" dirty="0"/>
          </a:p>
        </p:txBody>
      </p:sp>
      <p:sp>
        <p:nvSpPr>
          <p:cNvPr id="11" name="Text 7"/>
          <p:cNvSpPr txBox="1"/>
          <p:nvPr/>
        </p:nvSpPr>
        <p:spPr>
          <a:xfrm>
            <a:off x="868680" y="4114800"/>
            <a:ext cx="2377440" cy="54864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[+0.021, +0.059]</a:t>
            </a:r>
            <a:endParaRPr lang="en-US" sz="1800" dirty="0"/>
          </a:p>
        </p:txBody>
      </p:sp>
      <p:sp>
        <p:nvSpPr>
          <p:cNvPr id="12" name="Text 8"/>
          <p:cNvSpPr txBox="1"/>
          <p:nvPr/>
        </p:nvSpPr>
        <p:spPr>
          <a:xfrm>
            <a:off x="868680" y="4663440"/>
            <a:ext cx="2377440" cy="365760"/>
          </a:xfrm>
          <a:prstGeom prst="rect">
            <a:avLst/>
          </a:prstGeom>
          <a:noFill/>
          <a:ln/>
        </p:spPr>
        <p:txBody>
          <a:bodyPr wrap="square" lIns="0" tIns="0" rIns="0" bIns="0" rtlCol="0" anchor="ctr"/>
          <a:lstStyle/>
          <a:p>
            <a:pPr indent="0" marL="0">
              <a:buNone/>
            </a:pPr>
            <a:r>
              <a:rPr lang="en-US" sz="1300" i="1" dirty="0">
                <a:solidFill>
                  <a:srgbClr val="1F2933"/>
                </a:solidFill>
                <a:latin typeface="Calibri" pitchFamily="34" charset="0"/>
                <a:ea typeface="Calibri" pitchFamily="34" charset="-122"/>
                <a:cs typeface="Calibri" pitchFamily="34" charset="-120"/>
              </a:rPr>
              <a:t>excludes zero</a:t>
            </a:r>
            <a:endParaRPr lang="en-US" sz="1300" dirty="0"/>
          </a:p>
        </p:txBody>
      </p:sp>
      <p:sp>
        <p:nvSpPr>
          <p:cNvPr id="13" name="Shape 9"/>
          <p:cNvSpPr/>
          <p:nvPr/>
        </p:nvSpPr>
        <p:spPr>
          <a:xfrm>
            <a:off x="3566160" y="3657600"/>
            <a:ext cx="2651760" cy="1463040"/>
          </a:xfrm>
          <a:prstGeom prst="roundRect">
            <a:avLst>
              <a:gd name="adj" fmla="val 5000"/>
            </a:avLst>
          </a:prstGeom>
          <a:solidFill>
            <a:srgbClr val="D6E6F5"/>
          </a:solidFill>
          <a:ln w="12700">
            <a:solidFill>
              <a:srgbClr val="D6E6F5"/>
            </a:solidFill>
            <a:prstDash val="solid"/>
          </a:ln>
        </p:spPr>
      </p:sp>
      <p:sp>
        <p:nvSpPr>
          <p:cNvPr id="14" name="Text 10"/>
          <p:cNvSpPr txBox="1"/>
          <p:nvPr/>
        </p:nvSpPr>
        <p:spPr>
          <a:xfrm>
            <a:off x="3703320" y="3749040"/>
            <a:ext cx="2377440" cy="365760"/>
          </a:xfrm>
          <a:prstGeom prst="rect">
            <a:avLst/>
          </a:prstGeom>
          <a:noFill/>
          <a:ln/>
        </p:spPr>
        <p:txBody>
          <a:bodyPr wrap="square" lIns="0" tIns="0" rIns="0" bIns="0" rtlCol="0" anchor="ctr"/>
          <a:lstStyle/>
          <a:p>
            <a:pPr indent="0" marL="0">
              <a:buNone/>
            </a:pPr>
            <a:r>
              <a:rPr lang="en-US" sz="1300" dirty="0">
                <a:solidFill>
                  <a:srgbClr val="5A6470"/>
                </a:solidFill>
                <a:latin typeface="Calibri" pitchFamily="34" charset="0"/>
                <a:ea typeface="Calibri" pitchFamily="34" charset="-122"/>
                <a:cs typeface="Calibri" pitchFamily="34" charset="-120"/>
              </a:rPr>
              <a:t>Sign-flip test</a:t>
            </a:r>
            <a:endParaRPr lang="en-US" sz="1300" dirty="0"/>
          </a:p>
        </p:txBody>
      </p:sp>
      <p:sp>
        <p:nvSpPr>
          <p:cNvPr id="15" name="Text 11"/>
          <p:cNvSpPr txBox="1"/>
          <p:nvPr/>
        </p:nvSpPr>
        <p:spPr>
          <a:xfrm>
            <a:off x="3703320" y="4114800"/>
            <a:ext cx="2377440" cy="54864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p = 1/32</a:t>
            </a:r>
            <a:endParaRPr lang="en-US" sz="1800" dirty="0"/>
          </a:p>
        </p:txBody>
      </p:sp>
      <p:sp>
        <p:nvSpPr>
          <p:cNvPr id="16" name="Text 12"/>
          <p:cNvSpPr txBox="1"/>
          <p:nvPr/>
        </p:nvSpPr>
        <p:spPr>
          <a:xfrm>
            <a:off x="3703320" y="4663440"/>
            <a:ext cx="2377440" cy="365760"/>
          </a:xfrm>
          <a:prstGeom prst="rect">
            <a:avLst/>
          </a:prstGeom>
          <a:noFill/>
          <a:ln/>
        </p:spPr>
        <p:txBody>
          <a:bodyPr wrap="square" lIns="0" tIns="0" rIns="0" bIns="0" rtlCol="0" anchor="ctr"/>
          <a:lstStyle/>
          <a:p>
            <a:pPr indent="0" marL="0">
              <a:buNone/>
            </a:pPr>
            <a:r>
              <a:rPr lang="en-US" sz="1300" i="1" dirty="0">
                <a:solidFill>
                  <a:srgbClr val="1F2933"/>
                </a:solidFill>
                <a:latin typeface="Calibri" pitchFamily="34" charset="0"/>
                <a:ea typeface="Calibri" pitchFamily="34" charset="-122"/>
                <a:cs typeface="Calibri" pitchFamily="34" charset="-120"/>
              </a:rPr>
              <a:t>gain &gt; 0 in every fold</a:t>
            </a:r>
            <a:endParaRPr lang="en-US" sz="1300" dirty="0"/>
          </a:p>
        </p:txBody>
      </p:sp>
      <p:sp>
        <p:nvSpPr>
          <p:cNvPr id="17" name="Shape 13"/>
          <p:cNvSpPr/>
          <p:nvPr/>
        </p:nvSpPr>
        <p:spPr>
          <a:xfrm>
            <a:off x="6400800" y="3657600"/>
            <a:ext cx="2651760" cy="1463040"/>
          </a:xfrm>
          <a:prstGeom prst="roundRect">
            <a:avLst>
              <a:gd name="adj" fmla="val 5000"/>
            </a:avLst>
          </a:prstGeom>
          <a:solidFill>
            <a:srgbClr val="D6E6F5"/>
          </a:solidFill>
          <a:ln w="12700">
            <a:solidFill>
              <a:srgbClr val="D6E6F5"/>
            </a:solidFill>
            <a:prstDash val="solid"/>
          </a:ln>
        </p:spPr>
      </p:sp>
      <p:sp>
        <p:nvSpPr>
          <p:cNvPr id="18" name="Text 14"/>
          <p:cNvSpPr txBox="1"/>
          <p:nvPr/>
        </p:nvSpPr>
        <p:spPr>
          <a:xfrm>
            <a:off x="6537960" y="3749040"/>
            <a:ext cx="2377440" cy="365760"/>
          </a:xfrm>
          <a:prstGeom prst="rect">
            <a:avLst/>
          </a:prstGeom>
          <a:noFill/>
          <a:ln/>
        </p:spPr>
        <p:txBody>
          <a:bodyPr wrap="square" lIns="0" tIns="0" rIns="0" bIns="0" rtlCol="0" anchor="ctr"/>
          <a:lstStyle/>
          <a:p>
            <a:pPr indent="0" marL="0">
              <a:buNone/>
            </a:pPr>
            <a:r>
              <a:rPr lang="en-US" sz="1300" dirty="0">
                <a:solidFill>
                  <a:srgbClr val="5A6470"/>
                </a:solidFill>
                <a:latin typeface="Calibri" pitchFamily="34" charset="0"/>
                <a:ea typeface="Calibri" pitchFamily="34" charset="-122"/>
                <a:cs typeface="Calibri" pitchFamily="34" charset="-120"/>
              </a:rPr>
              <a:t>Effect size</a:t>
            </a:r>
            <a:endParaRPr lang="en-US" sz="1300" dirty="0"/>
          </a:p>
        </p:txBody>
      </p:sp>
      <p:sp>
        <p:nvSpPr>
          <p:cNvPr id="19" name="Text 15"/>
          <p:cNvSpPr txBox="1"/>
          <p:nvPr/>
        </p:nvSpPr>
        <p:spPr>
          <a:xfrm>
            <a:off x="6537960" y="4114800"/>
            <a:ext cx="2377440" cy="548640"/>
          </a:xfrm>
          <a:prstGeom prst="rect">
            <a:avLst/>
          </a:prstGeom>
          <a:noFill/>
          <a:ln/>
        </p:spPr>
        <p:txBody>
          <a:bodyPr wrap="square" lIns="0" tIns="0" rIns="0" bIns="0" rtlCol="0" anchor="ctr"/>
          <a:lstStyle/>
          <a:p>
            <a:pPr indent="0" marL="0">
              <a:buNone/>
            </a:pPr>
            <a:r>
              <a:rPr lang="en-US" sz="1800" b="1" dirty="0">
                <a:solidFill>
                  <a:srgbClr val="1F4E79"/>
                </a:solidFill>
                <a:latin typeface="Cambria" pitchFamily="34" charset="0"/>
                <a:ea typeface="Cambria" pitchFamily="34" charset="-122"/>
                <a:cs typeface="Cambria" pitchFamily="34" charset="-120"/>
              </a:rPr>
              <a:t>d_z = 1.71</a:t>
            </a:r>
            <a:endParaRPr lang="en-US" sz="1800" dirty="0"/>
          </a:p>
        </p:txBody>
      </p:sp>
      <p:sp>
        <p:nvSpPr>
          <p:cNvPr id="20" name="Text 16"/>
          <p:cNvSpPr txBox="1"/>
          <p:nvPr/>
        </p:nvSpPr>
        <p:spPr>
          <a:xfrm>
            <a:off x="6537960" y="4663440"/>
            <a:ext cx="2377440" cy="365760"/>
          </a:xfrm>
          <a:prstGeom prst="rect">
            <a:avLst/>
          </a:prstGeom>
          <a:noFill/>
          <a:ln/>
        </p:spPr>
        <p:txBody>
          <a:bodyPr wrap="square" lIns="0" tIns="0" rIns="0" bIns="0" rtlCol="0" anchor="ctr"/>
          <a:lstStyle/>
          <a:p>
            <a:pPr indent="0" marL="0">
              <a:buNone/>
            </a:pPr>
            <a:r>
              <a:rPr lang="en-US" sz="1300" i="1" dirty="0">
                <a:solidFill>
                  <a:srgbClr val="1F2933"/>
                </a:solidFill>
                <a:latin typeface="Calibri" pitchFamily="34" charset="0"/>
                <a:ea typeface="Calibri" pitchFamily="34" charset="-122"/>
                <a:cs typeface="Calibri" pitchFamily="34" charset="-120"/>
              </a:rPr>
              <a:t>consistency, not size</a:t>
            </a:r>
            <a:endParaRPr lang="en-US" sz="1300" dirty="0"/>
          </a:p>
        </p:txBody>
      </p:sp>
      <p:sp>
        <p:nvSpPr>
          <p:cNvPr id="21" name="Shape 17"/>
          <p:cNvSpPr/>
          <p:nvPr/>
        </p:nvSpPr>
        <p:spPr>
          <a:xfrm>
            <a:off x="9326880" y="3657600"/>
            <a:ext cx="2148840" cy="1463040"/>
          </a:xfrm>
          <a:prstGeom prst="roundRect">
            <a:avLst>
              <a:gd name="adj" fmla="val 5000"/>
            </a:avLst>
          </a:prstGeom>
          <a:solidFill>
            <a:srgbClr val="1F4E79"/>
          </a:solidFill>
          <a:ln w="12700">
            <a:solidFill>
              <a:srgbClr val="1F4E79"/>
            </a:solidFill>
            <a:prstDash val="solid"/>
          </a:ln>
        </p:spPr>
      </p:sp>
      <p:sp>
        <p:nvSpPr>
          <p:cNvPr id="22" name="Text 18"/>
          <p:cNvSpPr txBox="1"/>
          <p:nvPr/>
        </p:nvSpPr>
        <p:spPr>
          <a:xfrm>
            <a:off x="9418320" y="3703320"/>
            <a:ext cx="1965960" cy="13716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Converging but limited evidence</a:t>
            </a:r>
            <a:endParaRPr lang="en-US" sz="1700" dirty="0"/>
          </a:p>
        </p:txBody>
      </p:sp>
      <p:sp>
        <p:nvSpPr>
          <p:cNvPr id="23" name="Text 19"/>
          <p:cNvSpPr txBox="1"/>
          <p:nvPr/>
        </p:nvSpPr>
        <p:spPr>
          <a:xfrm>
            <a:off x="731520" y="5349240"/>
            <a:ext cx="10744200" cy="685800"/>
          </a:xfrm>
          <a:prstGeom prst="rect">
            <a:avLst/>
          </a:prstGeom>
          <a:noFill/>
          <a:ln/>
        </p:spPr>
        <p:txBody>
          <a:bodyPr wrap="square" lIns="0" tIns="0" rIns="0" bIns="0" rtlCol="0" anchor="ctr"/>
          <a:lstStyle/>
          <a:p>
            <a:pPr indent="0" marL="0">
              <a:buNone/>
            </a:pPr>
            <a:r>
              <a:rPr lang="en-US" sz="1500" i="1" dirty="0">
                <a:solidFill>
                  <a:srgbClr val="5A6470"/>
                </a:solidFill>
                <a:latin typeface="Calibri" pitchFamily="34" charset="0"/>
                <a:ea typeface="Calibri" pitchFamily="34" charset="-122"/>
                <a:cs typeface="Calibri" pitchFamily="34" charset="-120"/>
              </a:rPr>
              <a:t>Five folds give four degrees of freedom; the evidence supports H1 under the evaluated, transductive conditions, not a general advantage of population graphs.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F4E79"/>
          </a:solidFill>
          <a:ln w="12700">
            <a:solidFill>
              <a:srgbClr val="1F4E79"/>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Where the gain comes from: ablation</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20</a:t>
            </a:r>
            <a:endParaRPr lang="en-US" sz="1000" dirty="0"/>
          </a:p>
        </p:txBody>
      </p:sp>
      <p:graphicFrame>
        <p:nvGraphicFramePr>
          <p:cNvPr id="8" name="Chart 0" descr=""/>
          <p:cNvGraphicFramePr/>
          <p:nvPr/>
        </p:nvGraphicFramePr>
        <p:xfrm>
          <a:off x="731520" y="1280160"/>
          <a:ext cx="6035040" cy="4754880"/>
        </p:xfrm>
        <a:graphic xmlns:a="http://schemas.openxmlformats.org/drawingml/2006/main">
          <a:graphicData uri="http://schemas.openxmlformats.org/drawingml/2006/chart">
            <c:chart xmlns:c="http://schemas.openxmlformats.org/drawingml/2006/chart" r:id="rId1"/>
          </a:graphicData>
        </a:graphic>
      </p:graphicFrame>
      <p:pic>
        <p:nvPicPr>
          <p:cNvPr id="9" name="Image 0" descr="/home/user/SRT26/img/toporet_confusion.png">    </p:cNvPr>
          <p:cNvPicPr>
            <a:picLocks noChangeAspect="1"/>
          </p:cNvPicPr>
          <p:nvPr/>
        </p:nvPicPr>
        <p:blipFill>
          <a:blip r:embed="rId2"/>
          <a:stretch>
            <a:fillRect/>
          </a:stretch>
        </p:blipFill>
        <p:spPr>
          <a:xfrm>
            <a:off x="7040880" y="2089617"/>
            <a:ext cx="4434840" cy="1947247"/>
          </a:xfrm>
          <a:prstGeom prst="rect">
            <a:avLst/>
          </a:prstGeom>
        </p:spPr>
      </p:pic>
      <p:sp>
        <p:nvSpPr>
          <p:cNvPr id="10" name="Text 5"/>
          <p:cNvSpPr txBox="1"/>
          <p:nvPr/>
        </p:nvSpPr>
        <p:spPr>
          <a:xfrm>
            <a:off x="7040880" y="4892040"/>
            <a:ext cx="4434840" cy="320040"/>
          </a:xfrm>
          <a:prstGeom prst="rect">
            <a:avLst/>
          </a:prstGeom>
          <a:noFill/>
          <a:ln/>
        </p:spPr>
        <p:txBody>
          <a:bodyPr wrap="square" lIns="0" tIns="0" rIns="0" bIns="0" rtlCol="0" anchor="ctr"/>
          <a:lstStyle/>
          <a:p>
            <a:pPr algn="ctr" indent="0" marL="0">
              <a:buNone/>
            </a:pPr>
            <a:r>
              <a:rPr lang="en-US" sz="1200" i="1" dirty="0">
                <a:solidFill>
                  <a:srgbClr val="5A6470"/>
                </a:solidFill>
                <a:latin typeface="Calibri" pitchFamily="34" charset="0"/>
                <a:ea typeface="Calibri" pitchFamily="34" charset="-122"/>
                <a:cs typeface="Calibri" pitchFamily="34" charset="-120"/>
              </a:rPr>
              <a:t>Largest gain at the Mild-Moderate boundary</a:t>
            </a:r>
            <a:endParaRPr lang="en-US" sz="1200" dirty="0"/>
          </a:p>
        </p:txBody>
      </p:sp>
      <p:sp>
        <p:nvSpPr>
          <p:cNvPr id="11" name="Text 6"/>
          <p:cNvSpPr txBox="1"/>
          <p:nvPr/>
        </p:nvSpPr>
        <p:spPr>
          <a:xfrm>
            <a:off x="7040880" y="5303520"/>
            <a:ext cx="4434840" cy="731520"/>
          </a:xfrm>
          <a:prstGeom prst="rect">
            <a:avLst/>
          </a:prstGeom>
          <a:noFill/>
          <a:ln/>
        </p:spPr>
        <p:txBody>
          <a:bodyPr wrap="square" lIns="0" tIns="0" rIns="0" bIns="0" rtlCol="0" anchor="ctr"/>
          <a:lstStyle/>
          <a:p>
            <a:pPr indent="0" marL="0">
              <a:buNone/>
            </a:pPr>
            <a:r>
              <a:rPr lang="en-US" sz="1600" b="1" dirty="0">
                <a:solidFill>
                  <a:srgbClr val="1F4E79"/>
                </a:solidFill>
                <a:latin typeface="Cambria" pitchFamily="34" charset="0"/>
                <a:ea typeface="Cambria" pitchFamily="34" charset="-122"/>
                <a:cs typeface="Cambria" pitchFamily="34" charset="-120"/>
              </a:rPr>
              <a:t>The graph is the larger contributor; topology is complementary.</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B7A4E"/>
          </a:solidFill>
          <a:ln w="12700">
            <a:solidFill>
              <a:srgbClr val="1B7A4E"/>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H2</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H2: a small but robust statistical association</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21</a:t>
            </a:r>
            <a:endParaRPr lang="en-US" sz="1000" dirty="0"/>
          </a:p>
        </p:txBody>
      </p:sp>
      <p:sp>
        <p:nvSpPr>
          <p:cNvPr id="8" name="Text 5"/>
          <p:cNvSpPr txBox="1"/>
          <p:nvPr/>
        </p:nvSpPr>
        <p:spPr>
          <a:xfrm>
            <a:off x="731520" y="1371600"/>
            <a:ext cx="3291840" cy="914400"/>
          </a:xfrm>
          <a:prstGeom prst="rect">
            <a:avLst/>
          </a:prstGeom>
          <a:noFill/>
          <a:ln/>
        </p:spPr>
        <p:txBody>
          <a:bodyPr wrap="square" lIns="0" tIns="0" rIns="0" bIns="0" rtlCol="0" anchor="ctr"/>
          <a:lstStyle/>
          <a:p>
            <a:pPr algn="l" indent="0" marL="0">
              <a:buNone/>
            </a:pPr>
            <a:r>
              <a:rPr lang="en-US" sz="4200" b="1" dirty="0">
                <a:solidFill>
                  <a:srgbClr val="1B7A4E"/>
                </a:solidFill>
                <a:latin typeface="Cambria" pitchFamily="34" charset="0"/>
                <a:ea typeface="Cambria" pitchFamily="34" charset="-122"/>
                <a:cs typeface="Cambria" pitchFamily="34" charset="-120"/>
              </a:rPr>
              <a:t>F = 84.3</a:t>
            </a:r>
            <a:endParaRPr lang="en-US" sz="4200" dirty="0"/>
          </a:p>
        </p:txBody>
      </p:sp>
      <p:sp>
        <p:nvSpPr>
          <p:cNvPr id="9" name="Text 6"/>
          <p:cNvSpPr txBox="1"/>
          <p:nvPr/>
        </p:nvSpPr>
        <p:spPr>
          <a:xfrm>
            <a:off x="731520" y="228600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one-way ANOVA of total H1 persistence across 5 grades; p &lt; 0.001</a:t>
            </a:r>
            <a:endParaRPr lang="en-US" sz="1500" dirty="0"/>
          </a:p>
        </p:txBody>
      </p:sp>
      <p:sp>
        <p:nvSpPr>
          <p:cNvPr id="10" name="Text 7"/>
          <p:cNvSpPr txBox="1"/>
          <p:nvPr/>
        </p:nvSpPr>
        <p:spPr>
          <a:xfrm>
            <a:off x="4343400" y="1371600"/>
            <a:ext cx="3291840" cy="914400"/>
          </a:xfrm>
          <a:prstGeom prst="rect">
            <a:avLst/>
          </a:prstGeom>
          <a:noFill/>
          <a:ln/>
        </p:spPr>
        <p:txBody>
          <a:bodyPr wrap="square" lIns="0" tIns="0" rIns="0" bIns="0" rtlCol="0" anchor="ctr"/>
          <a:lstStyle/>
          <a:p>
            <a:pPr algn="l" indent="0" marL="0">
              <a:buNone/>
            </a:pPr>
            <a:r>
              <a:rPr lang="en-US" sz="4200" b="1" dirty="0">
                <a:solidFill>
                  <a:srgbClr val="A32020"/>
                </a:solidFill>
                <a:latin typeface="Cambria" pitchFamily="34" charset="0"/>
                <a:ea typeface="Cambria" pitchFamily="34" charset="-122"/>
                <a:cs typeface="Cambria" pitchFamily="34" charset="-120"/>
              </a:rPr>
              <a:t>η² ≈ 0.01</a:t>
            </a:r>
            <a:endParaRPr lang="en-US" sz="4200" dirty="0"/>
          </a:p>
        </p:txBody>
      </p:sp>
      <p:sp>
        <p:nvSpPr>
          <p:cNvPr id="11" name="Text 8"/>
          <p:cNvSpPr txBox="1"/>
          <p:nvPr/>
        </p:nvSpPr>
        <p:spPr>
          <a:xfrm>
            <a:off x="4343400" y="228600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grade explains about 1% of the variance: a small effect</a:t>
            </a:r>
            <a:endParaRPr lang="en-US" sz="1500" dirty="0"/>
          </a:p>
        </p:txBody>
      </p:sp>
      <p:sp>
        <p:nvSpPr>
          <p:cNvPr id="12" name="Text 9"/>
          <p:cNvSpPr txBox="1"/>
          <p:nvPr/>
        </p:nvSpPr>
        <p:spPr>
          <a:xfrm>
            <a:off x="7955280" y="1371600"/>
            <a:ext cx="3520440" cy="914400"/>
          </a:xfrm>
          <a:prstGeom prst="rect">
            <a:avLst/>
          </a:prstGeom>
          <a:noFill/>
          <a:ln/>
        </p:spPr>
        <p:txBody>
          <a:bodyPr wrap="square" lIns="0" tIns="0" rIns="0" bIns="0" rtlCol="0" anchor="ctr"/>
          <a:lstStyle/>
          <a:p>
            <a:pPr algn="l" indent="0" marL="0">
              <a:buNone/>
            </a:pPr>
            <a:r>
              <a:rPr lang="en-US" sz="4200" b="1" dirty="0">
                <a:solidFill>
                  <a:srgbClr val="16324F"/>
                </a:solidFill>
                <a:latin typeface="Cambria" pitchFamily="34" charset="0"/>
                <a:ea typeface="Cambria" pitchFamily="34" charset="-122"/>
                <a:cs typeface="Cambria" pitchFamily="34" charset="-120"/>
              </a:rPr>
              <a:t>F ≈ 42</a:t>
            </a:r>
            <a:endParaRPr lang="en-US" sz="4200" dirty="0"/>
          </a:p>
        </p:txBody>
      </p:sp>
      <p:sp>
        <p:nvSpPr>
          <p:cNvPr id="13" name="Text 10"/>
          <p:cNvSpPr txBox="1"/>
          <p:nvPr/>
        </p:nvSpPr>
        <p:spPr>
          <a:xfrm>
            <a:off x="7955280" y="2286000"/>
            <a:ext cx="35204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if the effective sample size were halved (both eyes per patient)</a:t>
            </a:r>
            <a:endParaRPr lang="en-US" sz="1500" dirty="0"/>
          </a:p>
        </p:txBody>
      </p:sp>
      <p:sp>
        <p:nvSpPr>
          <p:cNvPr id="14" name="Shape 11"/>
          <p:cNvSpPr/>
          <p:nvPr/>
        </p:nvSpPr>
        <p:spPr>
          <a:xfrm>
            <a:off x="731520" y="3246120"/>
            <a:ext cx="5257800" cy="2788920"/>
          </a:xfrm>
          <a:prstGeom prst="roundRect">
            <a:avLst>
              <a:gd name="adj" fmla="val 2623"/>
            </a:avLst>
          </a:prstGeom>
          <a:solidFill>
            <a:srgbClr val="D9F0E3"/>
          </a:solidFill>
          <a:ln w="12700">
            <a:solidFill>
              <a:srgbClr val="D9F0E3"/>
            </a:solidFill>
            <a:prstDash val="solid"/>
          </a:ln>
        </p:spPr>
      </p:sp>
      <p:sp>
        <p:nvSpPr>
          <p:cNvPr id="15" name="Text 12"/>
          <p:cNvSpPr txBox="1"/>
          <p:nvPr/>
        </p:nvSpPr>
        <p:spPr>
          <a:xfrm>
            <a:off x="914400" y="3383280"/>
            <a:ext cx="4892040" cy="411480"/>
          </a:xfrm>
          <a:prstGeom prst="rect">
            <a:avLst/>
          </a:prstGeom>
          <a:noFill/>
          <a:ln/>
        </p:spPr>
        <p:txBody>
          <a:bodyPr wrap="square" lIns="0" tIns="0" rIns="0" bIns="0" rtlCol="0" anchor="t"/>
          <a:lstStyle/>
          <a:p>
            <a:pPr indent="0" marL="0">
              <a:buNone/>
            </a:pPr>
            <a:r>
              <a:rPr lang="en-US" sz="1800" b="1" dirty="0">
                <a:solidFill>
                  <a:srgbClr val="1B7A4E"/>
                </a:solidFill>
                <a:latin typeface="Cambria" pitchFamily="34" charset="0"/>
                <a:ea typeface="Cambria" pitchFamily="34" charset="-122"/>
                <a:cs typeface="Cambria" pitchFamily="34" charset="-120"/>
              </a:rPr>
              <a:t>What H2 shows</a:t>
            </a:r>
            <a:endParaRPr lang="en-US" sz="1800" dirty="0"/>
          </a:p>
        </p:txBody>
      </p:sp>
      <p:sp>
        <p:nvSpPr>
          <p:cNvPr id="16" name="Text 13"/>
          <p:cNvSpPr txBox="1"/>
          <p:nvPr/>
        </p:nvSpPr>
        <p:spPr>
          <a:xfrm>
            <a:off x="914400" y="3840480"/>
            <a:ext cx="4892040" cy="210312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A statistical association on 35,126 images</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Monotone increase of H1 persistence with grade</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α = 0.005 &lt; Bonferroni level 0.05/6</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Complementary to visual features (+0.02 QWK)</a:t>
            </a:r>
            <a:endParaRPr lang="en-US" sz="1500" dirty="0"/>
          </a:p>
        </p:txBody>
      </p:sp>
      <p:sp>
        <p:nvSpPr>
          <p:cNvPr id="17" name="Shape 14"/>
          <p:cNvSpPr/>
          <p:nvPr/>
        </p:nvSpPr>
        <p:spPr>
          <a:xfrm>
            <a:off x="6217920" y="3246120"/>
            <a:ext cx="5257800" cy="2788920"/>
          </a:xfrm>
          <a:prstGeom prst="roundRect">
            <a:avLst>
              <a:gd name="adj" fmla="val 2623"/>
            </a:avLst>
          </a:prstGeom>
          <a:solidFill>
            <a:srgbClr val="F8D6D6"/>
          </a:solidFill>
          <a:ln w="12700">
            <a:solidFill>
              <a:srgbClr val="F8D6D6"/>
            </a:solidFill>
            <a:prstDash val="solid"/>
          </a:ln>
        </p:spPr>
      </p:sp>
      <p:sp>
        <p:nvSpPr>
          <p:cNvPr id="18" name="Text 15"/>
          <p:cNvSpPr txBox="1"/>
          <p:nvPr/>
        </p:nvSpPr>
        <p:spPr>
          <a:xfrm>
            <a:off x="6400800" y="3383280"/>
            <a:ext cx="489204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What H2 does not show</a:t>
            </a:r>
            <a:endParaRPr lang="en-US" sz="1800" dirty="0"/>
          </a:p>
        </p:txBody>
      </p:sp>
      <p:sp>
        <p:nvSpPr>
          <p:cNvPr id="19" name="Text 16"/>
          <p:cNvSpPr txBox="1"/>
          <p:nvPr/>
        </p:nvSpPr>
        <p:spPr>
          <a:xfrm>
            <a:off x="6400800" y="3840480"/>
            <a:ext cx="4892040" cy="210312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No causality, no demonstrated biological meaning</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Not a biomarker: "severity-associated topological feature"</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Link with neovascularisation plausible, not verified</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Tested on Kaggle DR only</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F4E79"/>
          </a:solidFill>
          <a:ln w="12700">
            <a:solidFill>
              <a:srgbClr val="1F4E79"/>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TOPORET: threats to validity, stated openly</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22</a:t>
            </a:r>
            <a:endParaRPr lang="en-US" sz="1000" dirty="0"/>
          </a:p>
        </p:txBody>
      </p:sp>
      <p:sp>
        <p:nvSpPr>
          <p:cNvPr id="8" name="Shape 5"/>
          <p:cNvSpPr/>
          <p:nvPr/>
        </p:nvSpPr>
        <p:spPr>
          <a:xfrm>
            <a:off x="731520" y="1325880"/>
            <a:ext cx="5257800" cy="1874520"/>
          </a:xfrm>
          <a:prstGeom prst="roundRect">
            <a:avLst>
              <a:gd name="adj" fmla="val 3902"/>
            </a:avLst>
          </a:prstGeom>
          <a:solidFill>
            <a:srgbClr val="F3F5F8"/>
          </a:solidFill>
          <a:ln w="12700">
            <a:solidFill>
              <a:srgbClr val="F3F5F8"/>
            </a:solidFill>
            <a:prstDash val="solid"/>
          </a:ln>
        </p:spPr>
      </p:sp>
      <p:sp>
        <p:nvSpPr>
          <p:cNvPr id="9" name="Text 6"/>
          <p:cNvSpPr txBox="1"/>
          <p:nvPr/>
        </p:nvSpPr>
        <p:spPr>
          <a:xfrm>
            <a:off x="914400" y="1463040"/>
            <a:ext cx="4892040" cy="41148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Internal validity</a:t>
            </a:r>
            <a:endParaRPr lang="en-US" sz="1800" dirty="0"/>
          </a:p>
        </p:txBody>
      </p:sp>
      <p:sp>
        <p:nvSpPr>
          <p:cNvPr id="10" name="Text 7"/>
          <p:cNvSpPr txBox="1"/>
          <p:nvPr/>
        </p:nvSpPr>
        <p:spPr>
          <a:xfrm>
            <a:off x="914400" y="1920240"/>
            <a:ext cx="4892040"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Transductive protocol: test images are unlabelled nodes; not a strictly inductive, patient-independent evaluation.</a:t>
            </a:r>
            <a:endParaRPr lang="en-US" sz="1500" dirty="0"/>
          </a:p>
        </p:txBody>
      </p:sp>
      <p:sp>
        <p:nvSpPr>
          <p:cNvPr id="11" name="Shape 8"/>
          <p:cNvSpPr/>
          <p:nvPr/>
        </p:nvSpPr>
        <p:spPr>
          <a:xfrm>
            <a:off x="6217920" y="1325880"/>
            <a:ext cx="5257800" cy="1874520"/>
          </a:xfrm>
          <a:prstGeom prst="roundRect">
            <a:avLst>
              <a:gd name="adj" fmla="val 3902"/>
            </a:avLst>
          </a:prstGeom>
          <a:solidFill>
            <a:srgbClr val="F3F5F8"/>
          </a:solidFill>
          <a:ln w="12700">
            <a:solidFill>
              <a:srgbClr val="F3F5F8"/>
            </a:solidFill>
            <a:prstDash val="solid"/>
          </a:ln>
        </p:spPr>
      </p:sp>
      <p:sp>
        <p:nvSpPr>
          <p:cNvPr id="12" name="Text 9"/>
          <p:cNvSpPr txBox="1"/>
          <p:nvPr/>
        </p:nvSpPr>
        <p:spPr>
          <a:xfrm>
            <a:off x="6400800" y="1463040"/>
            <a:ext cx="4892040" cy="41148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Statistical validity</a:t>
            </a:r>
            <a:endParaRPr lang="en-US" sz="1800" dirty="0"/>
          </a:p>
        </p:txBody>
      </p:sp>
      <p:sp>
        <p:nvSpPr>
          <p:cNvPr id="13" name="Text 10"/>
          <p:cNvSpPr txBox="1"/>
          <p:nvPr/>
        </p:nvSpPr>
        <p:spPr>
          <a:xfrm>
            <a:off x="6400800" y="1920240"/>
            <a:ext cx="4892040"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Five folds, one seed: four degrees of freedom; corrected significance only for the three benchmarks combined.</a:t>
            </a:r>
            <a:endParaRPr lang="en-US" sz="1500" dirty="0"/>
          </a:p>
        </p:txBody>
      </p:sp>
      <p:sp>
        <p:nvSpPr>
          <p:cNvPr id="14" name="Shape 11"/>
          <p:cNvSpPr/>
          <p:nvPr/>
        </p:nvSpPr>
        <p:spPr>
          <a:xfrm>
            <a:off x="731520" y="3383280"/>
            <a:ext cx="5257800" cy="1874520"/>
          </a:xfrm>
          <a:prstGeom prst="roundRect">
            <a:avLst>
              <a:gd name="adj" fmla="val 3902"/>
            </a:avLst>
          </a:prstGeom>
          <a:solidFill>
            <a:srgbClr val="F3F5F8"/>
          </a:solidFill>
          <a:ln w="12700">
            <a:solidFill>
              <a:srgbClr val="F3F5F8"/>
            </a:solidFill>
            <a:prstDash val="solid"/>
          </a:ln>
        </p:spPr>
      </p:sp>
      <p:sp>
        <p:nvSpPr>
          <p:cNvPr id="15" name="Text 12"/>
          <p:cNvSpPr txBox="1"/>
          <p:nvPr/>
        </p:nvSpPr>
        <p:spPr>
          <a:xfrm>
            <a:off x="914400" y="3520440"/>
            <a:ext cx="4892040" cy="41148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External validity</a:t>
            </a:r>
            <a:endParaRPr lang="en-US" sz="1800" dirty="0"/>
          </a:p>
        </p:txBody>
      </p:sp>
      <p:sp>
        <p:nvSpPr>
          <p:cNvPr id="16" name="Text 13"/>
          <p:cNvSpPr txBox="1"/>
          <p:nvPr/>
        </p:nvSpPr>
        <p:spPr>
          <a:xfrm>
            <a:off x="914400" y="3977640"/>
            <a:ext cx="4892040"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Both eyes in Kaggle DR and Messidor-2: possible fellow-eye information. Gain also on APTOS (one image per patient).</a:t>
            </a:r>
            <a:endParaRPr lang="en-US" sz="1500" dirty="0"/>
          </a:p>
        </p:txBody>
      </p:sp>
      <p:sp>
        <p:nvSpPr>
          <p:cNvPr id="17" name="Shape 14"/>
          <p:cNvSpPr/>
          <p:nvPr/>
        </p:nvSpPr>
        <p:spPr>
          <a:xfrm>
            <a:off x="6217920" y="3383280"/>
            <a:ext cx="5257800" cy="1874520"/>
          </a:xfrm>
          <a:prstGeom prst="roundRect">
            <a:avLst>
              <a:gd name="adj" fmla="val 3902"/>
            </a:avLst>
          </a:prstGeom>
          <a:solidFill>
            <a:srgbClr val="F3F5F8"/>
          </a:solidFill>
          <a:ln w="12700">
            <a:solidFill>
              <a:srgbClr val="F3F5F8"/>
            </a:solidFill>
            <a:prstDash val="solid"/>
          </a:ln>
        </p:spPr>
      </p:sp>
      <p:sp>
        <p:nvSpPr>
          <p:cNvPr id="18" name="Text 15"/>
          <p:cNvSpPr txBox="1"/>
          <p:nvPr/>
        </p:nvSpPr>
        <p:spPr>
          <a:xfrm>
            <a:off x="6400800" y="3520440"/>
            <a:ext cx="4892040" cy="411480"/>
          </a:xfrm>
          <a:prstGeom prst="rect">
            <a:avLst/>
          </a:prstGeom>
          <a:noFill/>
          <a:ln/>
        </p:spPr>
        <p:txBody>
          <a:bodyPr wrap="square" lIns="0" tIns="0" rIns="0" bIns="0" rtlCol="0" anchor="t"/>
          <a:lstStyle/>
          <a:p>
            <a:pPr indent="0" marL="0">
              <a:buNone/>
            </a:pPr>
            <a:r>
              <a:rPr lang="en-US" sz="1800" b="1" dirty="0">
                <a:solidFill>
                  <a:srgbClr val="1F4E79"/>
                </a:solidFill>
                <a:latin typeface="Cambria" pitchFamily="34" charset="0"/>
                <a:ea typeface="Cambria" pitchFamily="34" charset="-122"/>
                <a:cs typeface="Cambria" pitchFamily="34" charset="-120"/>
              </a:rPr>
              <a:t>Clinical validity</a:t>
            </a:r>
            <a:endParaRPr lang="en-US" sz="1800" dirty="0"/>
          </a:p>
        </p:txBody>
      </p:sp>
      <p:sp>
        <p:nvSpPr>
          <p:cNvPr id="19" name="Text 16"/>
          <p:cNvSpPr txBox="1"/>
          <p:nvPr/>
        </p:nvSpPr>
        <p:spPr>
          <a:xfrm>
            <a:off x="6400800" y="3977640"/>
            <a:ext cx="4892040"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Retrospective public data only; no reader study, no prospective evaluation.</a:t>
            </a:r>
            <a:endParaRPr lang="en-US" sz="1500" dirty="0"/>
          </a:p>
        </p:txBody>
      </p:sp>
      <p:sp>
        <p:nvSpPr>
          <p:cNvPr id="20" name="Text 17"/>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600" i="1" dirty="0">
                <a:solidFill>
                  <a:srgbClr val="16324F"/>
                </a:solidFill>
                <a:latin typeface="Cambria" pitchFamily="34" charset="0"/>
                <a:ea typeface="Cambria" pitchFamily="34" charset="-122"/>
                <a:cs typeface="Cambria" pitchFamily="34" charset="-120"/>
              </a:rPr>
              <a:t>Answer in the thesis: inductive evidence from DGTS; patient-level re-evaluation is the first perspective.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6B3D8C"/>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5</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DGTS and DOTS</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Inductive graph learning and ordinal, safety-oriented grading (Chapter 5)</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Two systems on one multi-source corpus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24</a:t>
            </a:r>
            <a:endParaRPr lang="en-US" sz="1000" dirty="0"/>
          </a:p>
        </p:txBody>
      </p:sp>
      <p:pic>
        <p:nvPicPr>
          <p:cNvPr id="8" name="Image 0" descr="/tmp/claude-0/-home-user-SRT26/618f6450-ab76-51da-ba52-60090a9566a0/scratchpad/deckfig/fig_dots.png">    </p:cNvPr>
          <p:cNvPicPr>
            <a:picLocks noChangeAspect="1"/>
          </p:cNvPicPr>
          <p:nvPr/>
        </p:nvPicPr>
        <p:blipFill>
          <a:blip r:embed="rId1"/>
          <a:stretch>
            <a:fillRect/>
          </a:stretch>
        </p:blipFill>
        <p:spPr>
          <a:xfrm>
            <a:off x="731520" y="1335845"/>
            <a:ext cx="6766560" cy="2906151"/>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0" y="1325880"/>
          <a:ext cx="3703320" cy="914400"/>
        </p:xfrm>
        <a:graphic>
          <a:graphicData uri="http://schemas.openxmlformats.org/drawingml/2006/table">
            <a:tbl>
              <a:tblPr/>
              <a:tblGrid>
                <a:gridCol w="1645920"/>
                <a:gridCol w="86868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Images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APTOS 2019 (India)</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3,662</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KaggleDR-F1</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2,197</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indent="0" marL="0">
                        <a:buNone/>
                      </a:pPr>
                      <a:r>
                        <a:rPr lang="en-US" sz="1300" b="1" dirty="0">
                          <a:solidFill>
                            <a:srgbClr val="1F2933"/>
                          </a:solidFill>
                          <a:latin typeface="Calibri" pitchFamily="34" charset="0"/>
                          <a:ea typeface="Calibri" pitchFamily="34" charset="-122"/>
                          <a:cs typeface="Calibri" pitchFamily="34" charset="-120"/>
                        </a:rPr>
                        <a:t>Fused corpus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b="1" dirty="0">
                          <a:solidFill>
                            <a:srgbClr val="1F2933"/>
                          </a:solidFill>
                          <a:latin typeface="Calibri" pitchFamily="34" charset="0"/>
                          <a:ea typeface="Calibri" pitchFamily="34" charset="-122"/>
                          <a:cs typeface="Calibri" pitchFamily="34" charset="-120"/>
                        </a:rPr>
                        <a:t>5,859</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5-fold CV, seed 42</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EyePACS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35,126</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External (DGTS)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Messidor-2 (France)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1,744</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External (DOTS)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5"/>
          <p:cNvSpPr/>
          <p:nvPr/>
        </p:nvSpPr>
        <p:spPr>
          <a:xfrm>
            <a:off x="731520" y="4526280"/>
            <a:ext cx="10744200" cy="1554480"/>
          </a:xfrm>
          <a:prstGeom prst="roundRect">
            <a:avLst>
              <a:gd name="adj" fmla="val 4706"/>
            </a:avLst>
          </a:prstGeom>
          <a:solidFill>
            <a:srgbClr val="F8D6D6"/>
          </a:solidFill>
          <a:ln w="12700">
            <a:solidFill>
              <a:srgbClr val="F8D6D6"/>
            </a:solidFill>
            <a:prstDash val="solid"/>
          </a:ln>
        </p:spPr>
      </p:sp>
      <p:sp>
        <p:nvSpPr>
          <p:cNvPr id="11" name="Text 6"/>
          <p:cNvSpPr txBox="1"/>
          <p:nvPr/>
        </p:nvSpPr>
        <p:spPr>
          <a:xfrm>
            <a:off x="914400" y="4663440"/>
            <a:ext cx="1037844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Dataset provenance and independence</a:t>
            </a:r>
            <a:endParaRPr lang="en-US" sz="1800" dirty="0"/>
          </a:p>
        </p:txBody>
      </p:sp>
      <p:sp>
        <p:nvSpPr>
          <p:cNvPr id="12" name="Text 7"/>
          <p:cNvSpPr txBox="1"/>
          <p:nvPr/>
        </p:nvSpPr>
        <p:spPr>
          <a:xfrm>
            <a:off x="914400" y="5120640"/>
            <a:ext cx="10378440" cy="86868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KaggleDR-F1 has exactly 60% of the APTOS count in every grade: overlap not excluded. Cross-validation = internal multi-source evidence; the external evaluations carry the greater weight.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B7A4E"/>
          </a:solidFill>
          <a:ln w="12700">
            <a:solidFill>
              <a:srgbClr val="1B7A4E"/>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DGTS: an inductive, topology-regularised graph</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25</a:t>
            </a:r>
            <a:endParaRPr lang="en-US" sz="1000" dirty="0"/>
          </a:p>
        </p:txBody>
      </p:sp>
      <p:graphicFrame>
        <p:nvGraphicFramePr>
          <p:cNvPr id="8" name="Chart 0" descr=""/>
          <p:cNvGraphicFramePr/>
          <p:nvPr/>
        </p:nvGraphicFramePr>
        <p:xfrm>
          <a:off x="731520" y="1280160"/>
          <a:ext cx="6675120" cy="48006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680960" y="1325880"/>
            <a:ext cx="3794760" cy="2514600"/>
          </a:xfrm>
          <a:prstGeom prst="roundRect">
            <a:avLst>
              <a:gd name="adj" fmla="val 2909"/>
            </a:avLst>
          </a:prstGeom>
          <a:solidFill>
            <a:srgbClr val="D9F0E3"/>
          </a:solidFill>
          <a:ln w="12700">
            <a:solidFill>
              <a:srgbClr val="D9F0E3"/>
            </a:solidFill>
            <a:prstDash val="solid"/>
          </a:ln>
        </p:spPr>
      </p:sp>
      <p:sp>
        <p:nvSpPr>
          <p:cNvPr id="10" name="Text 6"/>
          <p:cNvSpPr txBox="1"/>
          <p:nvPr/>
        </p:nvSpPr>
        <p:spPr>
          <a:xfrm>
            <a:off x="7863840" y="1463040"/>
            <a:ext cx="3429000" cy="411480"/>
          </a:xfrm>
          <a:prstGeom prst="rect">
            <a:avLst/>
          </a:prstGeom>
          <a:noFill/>
          <a:ln/>
        </p:spPr>
        <p:txBody>
          <a:bodyPr wrap="square" lIns="0" tIns="0" rIns="0" bIns="0" rtlCol="0" anchor="t"/>
          <a:lstStyle/>
          <a:p>
            <a:pPr indent="0" marL="0">
              <a:buNone/>
            </a:pPr>
            <a:r>
              <a:rPr lang="en-US" sz="1800" b="1" dirty="0">
                <a:solidFill>
                  <a:srgbClr val="1B7A4E"/>
                </a:solidFill>
                <a:latin typeface="Cambria" pitchFamily="34" charset="0"/>
                <a:ea typeface="Cambria" pitchFamily="34" charset="-122"/>
                <a:cs typeface="Cambria" pitchFamily="34" charset="-120"/>
              </a:rPr>
              <a:t>Architecture</a:t>
            </a:r>
            <a:endParaRPr lang="en-US" sz="1800" dirty="0"/>
          </a:p>
        </p:txBody>
      </p:sp>
      <p:sp>
        <p:nvSpPr>
          <p:cNvPr id="11" name="Text 7"/>
          <p:cNvSpPr txBox="1"/>
          <p:nvPr/>
        </p:nvSpPr>
        <p:spPr>
          <a:xfrm>
            <a:off x="7863840" y="1920240"/>
            <a:ext cx="3429000" cy="1828800"/>
          </a:xfrm>
          <a:prstGeom prst="rect">
            <a:avLst/>
          </a:prstGeom>
          <a:noFill/>
          <a:ln/>
        </p:spPr>
        <p:txBody>
          <a:bodyPr wrap="square" lIns="635" tIns="635" rIns="635" bIns="635" rtlCol="0" anchor="t"/>
          <a:lstStyle/>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EfficientNet-B4 (frozen)</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Cosine k-NN graph, k = 8, training fold only</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GraphSAGE 1792 → 512 → 256</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PH of neighbourhoods: training-time regulariser</a:t>
            </a:r>
            <a:endParaRPr lang="en-US" sz="1300" dirty="0"/>
          </a:p>
        </p:txBody>
      </p:sp>
      <p:sp>
        <p:nvSpPr>
          <p:cNvPr id="12" name="Shape 8"/>
          <p:cNvSpPr/>
          <p:nvPr/>
        </p:nvSpPr>
        <p:spPr>
          <a:xfrm>
            <a:off x="7680960" y="4023360"/>
            <a:ext cx="3794760" cy="2057400"/>
          </a:xfrm>
          <a:prstGeom prst="roundRect">
            <a:avLst>
              <a:gd name="adj" fmla="val 3556"/>
            </a:avLst>
          </a:prstGeom>
          <a:solidFill>
            <a:srgbClr val="F3F5F8"/>
          </a:solidFill>
          <a:ln w="12700">
            <a:solidFill>
              <a:srgbClr val="F3F5F8"/>
            </a:solidFill>
            <a:prstDash val="solid"/>
          </a:ln>
        </p:spPr>
      </p:sp>
      <p:sp>
        <p:nvSpPr>
          <p:cNvPr id="13" name="Text 9"/>
          <p:cNvSpPr txBox="1"/>
          <p:nvPr/>
        </p:nvSpPr>
        <p:spPr>
          <a:xfrm>
            <a:off x="7863840" y="4160520"/>
            <a:ext cx="3429000" cy="411480"/>
          </a:xfrm>
          <a:prstGeom prst="rect">
            <a:avLst/>
          </a:prstGeom>
          <a:noFill/>
          <a:ln/>
        </p:spPr>
        <p:txBody>
          <a:bodyPr wrap="square" lIns="0" tIns="0" rIns="0" bIns="0" rtlCol="0" anchor="t"/>
          <a:lstStyle/>
          <a:p>
            <a:pPr indent="0" marL="0">
              <a:buNone/>
            </a:pPr>
            <a:r>
              <a:rPr lang="en-US" sz="1800" b="1" dirty="0">
                <a:solidFill>
                  <a:srgbClr val="1B7A4E"/>
                </a:solidFill>
                <a:latin typeface="Cambria" pitchFamily="34" charset="0"/>
                <a:ea typeface="Cambria" pitchFamily="34" charset="-122"/>
                <a:cs typeface="Cambria" pitchFamily="34" charset="-120"/>
              </a:rPr>
              <a:t>Key facts</a:t>
            </a:r>
            <a:endParaRPr lang="en-US" sz="1800" dirty="0"/>
          </a:p>
        </p:txBody>
      </p:sp>
      <p:sp>
        <p:nvSpPr>
          <p:cNvPr id="14" name="Text 10"/>
          <p:cNvSpPr txBox="1"/>
          <p:nvPr/>
        </p:nvSpPr>
        <p:spPr>
          <a:xfrm>
            <a:off x="7863840" y="4617720"/>
            <a:ext cx="3429000" cy="1371600"/>
          </a:xfrm>
          <a:prstGeom prst="rect">
            <a:avLst/>
          </a:prstGeom>
          <a:noFill/>
          <a:ln/>
        </p:spPr>
        <p:txBody>
          <a:bodyPr wrap="square" lIns="635" tIns="635" rIns="635" bIns="635" rtlCol="0" anchor="t"/>
          <a:lstStyle/>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Graph +0.018, PH +0.030 QWK</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At inference the PH input is zero</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Feature-space, not vascular, topology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B7A4E"/>
          </a:solidFill>
          <a:ln w="12700">
            <a:solidFill>
              <a:srgbClr val="1B7A4E"/>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DGTS on external data: accuracy is not safety</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26</a:t>
            </a:r>
            <a:endParaRPr lang="en-US" sz="1000" dirty="0"/>
          </a:p>
        </p:txBody>
      </p:sp>
      <p:sp>
        <p:nvSpPr>
          <p:cNvPr id="8" name="Text 5"/>
          <p:cNvSpPr txBox="1"/>
          <p:nvPr/>
        </p:nvSpPr>
        <p:spPr>
          <a:xfrm>
            <a:off x="731520" y="1463040"/>
            <a:ext cx="3291840" cy="914400"/>
          </a:xfrm>
          <a:prstGeom prst="rect">
            <a:avLst/>
          </a:prstGeom>
          <a:noFill/>
          <a:ln/>
        </p:spPr>
        <p:txBody>
          <a:bodyPr wrap="square" lIns="0" tIns="0" rIns="0" bIns="0" rtlCol="0" anchor="ctr"/>
          <a:lstStyle/>
          <a:p>
            <a:pPr algn="l" indent="0" marL="0">
              <a:buNone/>
            </a:pPr>
            <a:r>
              <a:rPr lang="en-US" sz="5000" b="1" dirty="0">
                <a:solidFill>
                  <a:srgbClr val="1B7A4E"/>
                </a:solidFill>
                <a:latin typeface="Cambria" pitchFamily="34" charset="0"/>
                <a:ea typeface="Cambria" pitchFamily="34" charset="-122"/>
                <a:cs typeface="Cambria" pitchFamily="34" charset="-120"/>
              </a:rPr>
              <a:t>0.941</a:t>
            </a:r>
            <a:endParaRPr lang="en-US" sz="5000" dirty="0"/>
          </a:p>
        </p:txBody>
      </p:sp>
      <p:sp>
        <p:nvSpPr>
          <p:cNvPr id="9" name="Text 6"/>
          <p:cNvSpPr txBox="1"/>
          <p:nvPr/>
        </p:nvSpPr>
        <p:spPr>
          <a:xfrm>
            <a:off x="73152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QWK, five-fold cross-validation (±0.008)</a:t>
            </a:r>
            <a:endParaRPr lang="en-US" sz="1500" dirty="0"/>
          </a:p>
        </p:txBody>
      </p:sp>
      <p:sp>
        <p:nvSpPr>
          <p:cNvPr id="10" name="Text 7"/>
          <p:cNvSpPr txBox="1"/>
          <p:nvPr/>
        </p:nvSpPr>
        <p:spPr>
          <a:xfrm>
            <a:off x="4343400" y="1463040"/>
            <a:ext cx="3291840" cy="914400"/>
          </a:xfrm>
          <a:prstGeom prst="rect">
            <a:avLst/>
          </a:prstGeom>
          <a:noFill/>
          <a:ln/>
        </p:spPr>
        <p:txBody>
          <a:bodyPr wrap="square" lIns="0" tIns="0" rIns="0" bIns="0" rtlCol="0" anchor="ctr"/>
          <a:lstStyle/>
          <a:p>
            <a:pPr algn="l" indent="0" marL="0">
              <a:buNone/>
            </a:pPr>
            <a:r>
              <a:rPr lang="en-US" sz="5000" b="1" dirty="0">
                <a:solidFill>
                  <a:srgbClr val="1B7A4E"/>
                </a:solidFill>
                <a:latin typeface="Cambria" pitchFamily="34" charset="0"/>
                <a:ea typeface="Cambria" pitchFamily="34" charset="-122"/>
                <a:cs typeface="Cambria" pitchFamily="34" charset="-120"/>
              </a:rPr>
              <a:t>0.925</a:t>
            </a:r>
            <a:endParaRPr lang="en-US" sz="5000" dirty="0"/>
          </a:p>
        </p:txBody>
      </p:sp>
      <p:sp>
        <p:nvSpPr>
          <p:cNvPr id="11" name="Text 8"/>
          <p:cNvSpPr txBox="1"/>
          <p:nvPr/>
        </p:nvSpPr>
        <p:spPr>
          <a:xfrm>
            <a:off x="434340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QWK zero-shot on 35,126 EyePACS images (−0.016)</a:t>
            </a:r>
            <a:endParaRPr lang="en-US" sz="1500" dirty="0"/>
          </a:p>
        </p:txBody>
      </p:sp>
      <p:sp>
        <p:nvSpPr>
          <p:cNvPr id="12" name="Text 9"/>
          <p:cNvSpPr txBox="1"/>
          <p:nvPr/>
        </p:nvSpPr>
        <p:spPr>
          <a:xfrm>
            <a:off x="7955280" y="1463040"/>
            <a:ext cx="3520440" cy="914400"/>
          </a:xfrm>
          <a:prstGeom prst="rect">
            <a:avLst/>
          </a:prstGeom>
          <a:noFill/>
          <a:ln/>
        </p:spPr>
        <p:txBody>
          <a:bodyPr wrap="square" lIns="0" tIns="0" rIns="0" bIns="0" rtlCol="0" anchor="ctr"/>
          <a:lstStyle/>
          <a:p>
            <a:pPr algn="l" indent="0" marL="0">
              <a:buNone/>
            </a:pPr>
            <a:r>
              <a:rPr lang="en-US" sz="5000" b="1" dirty="0">
                <a:solidFill>
                  <a:srgbClr val="A32020"/>
                </a:solidFill>
                <a:latin typeface="Cambria" pitchFamily="34" charset="0"/>
                <a:ea typeface="Cambria" pitchFamily="34" charset="-122"/>
                <a:cs typeface="Cambria" pitchFamily="34" charset="-120"/>
              </a:rPr>
              <a:t>≈ 2.1%</a:t>
            </a:r>
            <a:endParaRPr lang="en-US" sz="5000" dirty="0"/>
          </a:p>
        </p:txBody>
      </p:sp>
      <p:sp>
        <p:nvSpPr>
          <p:cNvPr id="13" name="Text 10"/>
          <p:cNvSpPr txBox="1"/>
          <p:nvPr/>
        </p:nvSpPr>
        <p:spPr>
          <a:xfrm>
            <a:off x="7955280" y="2377440"/>
            <a:ext cx="35204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Sev-NR on EyePACS: slightly above the 2% target</a:t>
            </a:r>
            <a:endParaRPr lang="en-US" sz="1500" dirty="0"/>
          </a:p>
        </p:txBody>
      </p:sp>
      <p:sp>
        <p:nvSpPr>
          <p:cNvPr id="14" name="Shape 11"/>
          <p:cNvSpPr/>
          <p:nvPr/>
        </p:nvSpPr>
        <p:spPr>
          <a:xfrm>
            <a:off x="731520" y="3566160"/>
            <a:ext cx="10744200" cy="1463040"/>
          </a:xfrm>
          <a:prstGeom prst="roundRect">
            <a:avLst>
              <a:gd name="adj" fmla="val 5000"/>
            </a:avLst>
          </a:prstGeom>
          <a:solidFill>
            <a:srgbClr val="F8D6D6"/>
          </a:solidFill>
          <a:ln w="12700">
            <a:solidFill>
              <a:srgbClr val="F8D6D6"/>
            </a:solidFill>
            <a:prstDash val="solid"/>
          </a:ln>
        </p:spPr>
      </p:sp>
      <p:sp>
        <p:nvSpPr>
          <p:cNvPr id="15" name="Text 12"/>
          <p:cNvSpPr txBox="1"/>
          <p:nvPr/>
        </p:nvSpPr>
        <p:spPr>
          <a:xfrm>
            <a:off x="914400" y="3703320"/>
            <a:ext cx="1037844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Lesson</a:t>
            </a:r>
            <a:endParaRPr lang="en-US" sz="1800" dirty="0"/>
          </a:p>
        </p:txBody>
      </p:sp>
      <p:sp>
        <p:nvSpPr>
          <p:cNvPr id="16" name="Text 13"/>
          <p:cNvSpPr txBox="1"/>
          <p:nvPr/>
        </p:nvSpPr>
        <p:spPr>
          <a:xfrm>
            <a:off x="914400" y="4160520"/>
            <a:ext cx="10378440" cy="777240"/>
          </a:xfrm>
          <a:prstGeom prst="rect">
            <a:avLst/>
          </a:prstGeom>
          <a:noFill/>
          <a:ln/>
        </p:spPr>
        <p:txBody>
          <a:bodyPr wrap="square" lIns="0" tIns="0" rIns="0" bIns="0" rtlCol="0" anchor="t"/>
          <a:lstStyle/>
          <a:p>
            <a:pPr indent="0" marL="0">
              <a:buNone/>
            </a:pPr>
            <a:r>
              <a:rPr lang="en-US" sz="1700" dirty="0">
                <a:solidFill>
                  <a:srgbClr val="1F2933"/>
                </a:solidFill>
                <a:latin typeface="Calibri" pitchFamily="34" charset="0"/>
                <a:ea typeface="Calibri" pitchFamily="34" charset="-122"/>
                <a:cs typeface="Calibri" pitchFamily="34" charset="-120"/>
              </a:rPr>
              <a:t>Good generalisation in QWK does not by itself guarantee the safety criterion: accuracy and safety must be measured separately. This motivates DOTS.</a:t>
            </a:r>
            <a:endParaRPr lang="en-US" sz="1700" dirty="0"/>
          </a:p>
        </p:txBody>
      </p:sp>
      <p:sp>
        <p:nvSpPr>
          <p:cNvPr id="17" name="Text 14"/>
          <p:cNvSpPr txBox="1"/>
          <p:nvPr/>
        </p:nvSpPr>
        <p:spPr>
          <a:xfrm>
            <a:off x="731520" y="5349240"/>
            <a:ext cx="10744200" cy="457200"/>
          </a:xfrm>
          <a:prstGeom prst="rect">
            <a:avLst/>
          </a:prstGeom>
          <a:noFill/>
          <a:ln/>
        </p:spPr>
        <p:txBody>
          <a:bodyPr wrap="square" lIns="0" tIns="0" rIns="0" bIns="0" rtlCol="0" anchor="ctr"/>
          <a:lstStyle/>
          <a:p>
            <a:pPr indent="0" marL="0">
              <a:buNone/>
            </a:pPr>
            <a:r>
              <a:rPr lang="en-US" sz="1500" i="1" dirty="0">
                <a:solidFill>
                  <a:srgbClr val="5A6470"/>
                </a:solidFill>
                <a:latin typeface="Calibri" pitchFamily="34" charset="0"/>
                <a:ea typeface="Calibri" pitchFamily="34" charset="-122"/>
                <a:cs typeface="Calibri" pitchFamily="34" charset="-120"/>
              </a:rPr>
              <a:t>Inference: 18.3 ms per image on one T4 GPU (14.1 ms for EfficientNet-B4 alone).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Screening-oriented targets of H3</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744200" cy="914400"/>
        </p:xfrm>
        <a:graphic>
          <a:graphicData uri="http://schemas.openxmlformats.org/drawingml/2006/table">
            <a:tbl>
              <a:tblPr/>
              <a:tblGrid>
                <a:gridCol w="3931920"/>
                <a:gridCol w="1645920"/>
                <a:gridCol w="516636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Criterion</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Threshold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Rationale</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r>
              <a:tr h="50292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Quadratic weighted kappa (QWK)</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0.80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Substantial agreement with the reference grades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Severe non-referral rate (Sev-NR)</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2%</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Missed urgent referrals, Grade 3</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0292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PDR non-referral rate (PDR-NR)</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2%</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Missed urgent referrals, Grade 4</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Grade 0↔4 confusions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Catastrophic ordinal errors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9" name="Shape 5"/>
          <p:cNvSpPr/>
          <p:nvPr/>
        </p:nvSpPr>
        <p:spPr>
          <a:xfrm>
            <a:off x="731520" y="4160520"/>
            <a:ext cx="5257800" cy="1874520"/>
          </a:xfrm>
          <a:prstGeom prst="roundRect">
            <a:avLst>
              <a:gd name="adj" fmla="val 3902"/>
            </a:avLst>
          </a:prstGeom>
          <a:solidFill>
            <a:srgbClr val="EADCF3"/>
          </a:solidFill>
          <a:ln w="12700">
            <a:solidFill>
              <a:srgbClr val="EADCF3"/>
            </a:solidFill>
            <a:prstDash val="solid"/>
          </a:ln>
        </p:spPr>
      </p:sp>
      <p:sp>
        <p:nvSpPr>
          <p:cNvPr id="10" name="Text 6"/>
          <p:cNvSpPr txBox="1"/>
          <p:nvPr/>
        </p:nvSpPr>
        <p:spPr>
          <a:xfrm>
            <a:off x="914400" y="4297680"/>
            <a:ext cx="4892040" cy="411480"/>
          </a:xfrm>
          <a:prstGeom prst="rect">
            <a:avLst/>
          </a:prstGeom>
          <a:noFill/>
          <a:ln/>
        </p:spPr>
        <p:txBody>
          <a:bodyPr wrap="square" lIns="0" tIns="0" rIns="0" bIns="0" rtlCol="0" anchor="t"/>
          <a:lstStyle/>
          <a:p>
            <a:pPr indent="0" marL="0">
              <a:buNone/>
            </a:pPr>
            <a:r>
              <a:rPr lang="en-US" sz="1800" b="1" dirty="0">
                <a:solidFill>
                  <a:srgbClr val="6B3D8C"/>
                </a:solidFill>
                <a:latin typeface="Cambria" pitchFamily="34" charset="0"/>
                <a:ea typeface="Cambria" pitchFamily="34" charset="-122"/>
                <a:cs typeface="Cambria" pitchFamily="34" charset="-120"/>
              </a:rPr>
              <a:t>Where they come from</a:t>
            </a:r>
            <a:endParaRPr lang="en-US" sz="1800" dirty="0"/>
          </a:p>
        </p:txBody>
      </p:sp>
      <p:sp>
        <p:nvSpPr>
          <p:cNvPr id="11" name="Text 7"/>
          <p:cNvSpPr txBox="1"/>
          <p:nvPr/>
        </p:nvSpPr>
        <p:spPr>
          <a:xfrm>
            <a:off x="914400" y="4754880"/>
            <a:ext cx="4892040" cy="118872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DOTS article; informed by the autonomous-AI pivotal trial and national screening programmes</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Evaluation targets, not regulatory thresholds</a:t>
            </a:r>
            <a:endParaRPr lang="en-US" sz="1400" dirty="0"/>
          </a:p>
        </p:txBody>
      </p:sp>
      <p:sp>
        <p:nvSpPr>
          <p:cNvPr id="12" name="Shape 8"/>
          <p:cNvSpPr/>
          <p:nvPr/>
        </p:nvSpPr>
        <p:spPr>
          <a:xfrm>
            <a:off x="6217920" y="4160520"/>
            <a:ext cx="5257800" cy="1874520"/>
          </a:xfrm>
          <a:prstGeom prst="roundRect">
            <a:avLst>
              <a:gd name="adj" fmla="val 3902"/>
            </a:avLst>
          </a:prstGeom>
          <a:solidFill>
            <a:srgbClr val="F8D6D6"/>
          </a:solidFill>
          <a:ln w="12700">
            <a:solidFill>
              <a:srgbClr val="F8D6D6"/>
            </a:solidFill>
            <a:prstDash val="solid"/>
          </a:ln>
        </p:spPr>
      </p:sp>
      <p:sp>
        <p:nvSpPr>
          <p:cNvPr id="13" name="Text 9"/>
          <p:cNvSpPr txBox="1"/>
          <p:nvPr/>
        </p:nvSpPr>
        <p:spPr>
          <a:xfrm>
            <a:off x="6400800" y="4297680"/>
            <a:ext cx="489204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Definition, stated explicitly</a:t>
            </a:r>
            <a:endParaRPr lang="en-US" sz="1800" dirty="0"/>
          </a:p>
        </p:txBody>
      </p:sp>
      <p:sp>
        <p:nvSpPr>
          <p:cNvPr id="14" name="Text 10"/>
          <p:cNvSpPr txBox="1"/>
          <p:nvPr/>
        </p:nvSpPr>
        <p:spPr>
          <a:xfrm>
            <a:off x="6400800" y="4754880"/>
            <a:ext cx="4892040" cy="118872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Severe predicted as Moderate counts as referred</a:t>
            </a:r>
            <a:endParaRPr lang="en-US" sz="1400" dirty="0"/>
          </a:p>
          <a:p>
            <a:pPr marL="342900" indent="-342900">
              <a:spcAft>
                <a:spcPts val="800"/>
              </a:spcAft>
              <a:buSzPct val="100000"/>
              <a:buChar char="•"/>
            </a:pPr>
            <a:r>
              <a:rPr lang="en-US" sz="1400" dirty="0">
                <a:solidFill>
                  <a:srgbClr val="1F2933"/>
                </a:solidFill>
                <a:latin typeface="Calibri" pitchFamily="34" charset="0"/>
                <a:ea typeface="Calibri" pitchFamily="34" charset="-122"/>
                <a:cs typeface="Calibri" pitchFamily="34" charset="-120"/>
              </a:rPr>
              <a:t>A stricter definition (≥ Grade 3) would give higher rates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DOTS: ordinal, safety-oriented grading</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28</a:t>
            </a:r>
            <a:endParaRPr lang="en-US" sz="1000" dirty="0"/>
          </a:p>
        </p:txBody>
      </p:sp>
      <p:graphicFrame>
        <p:nvGraphicFramePr>
          <p:cNvPr id="8" name="Chart 0" descr=""/>
          <p:cNvGraphicFramePr/>
          <p:nvPr/>
        </p:nvGraphicFramePr>
        <p:xfrm>
          <a:off x="731520" y="1280160"/>
          <a:ext cx="6675120" cy="48006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680960" y="1325880"/>
            <a:ext cx="3794760" cy="2377440"/>
          </a:xfrm>
          <a:prstGeom prst="roundRect">
            <a:avLst>
              <a:gd name="adj" fmla="val 3077"/>
            </a:avLst>
          </a:prstGeom>
          <a:solidFill>
            <a:srgbClr val="EADCF3"/>
          </a:solidFill>
          <a:ln w="12700">
            <a:solidFill>
              <a:srgbClr val="EADCF3"/>
            </a:solidFill>
            <a:prstDash val="solid"/>
          </a:ln>
        </p:spPr>
      </p:sp>
      <p:sp>
        <p:nvSpPr>
          <p:cNvPr id="10" name="Text 6"/>
          <p:cNvSpPr txBox="1"/>
          <p:nvPr/>
        </p:nvSpPr>
        <p:spPr>
          <a:xfrm>
            <a:off x="7863840" y="1463040"/>
            <a:ext cx="3429000" cy="411480"/>
          </a:xfrm>
          <a:prstGeom prst="rect">
            <a:avLst/>
          </a:prstGeom>
          <a:noFill/>
          <a:ln/>
        </p:spPr>
        <p:txBody>
          <a:bodyPr wrap="square" lIns="0" tIns="0" rIns="0" bIns="0" rtlCol="0" anchor="t"/>
          <a:lstStyle/>
          <a:p>
            <a:pPr indent="0" marL="0">
              <a:buNone/>
            </a:pPr>
            <a:r>
              <a:rPr lang="en-US" sz="1800" b="1" dirty="0">
                <a:solidFill>
                  <a:srgbClr val="6B3D8C"/>
                </a:solidFill>
                <a:latin typeface="Cambria" pitchFamily="34" charset="0"/>
                <a:ea typeface="Cambria" pitchFamily="34" charset="-122"/>
                <a:cs typeface="Cambria" pitchFamily="34" charset="-120"/>
              </a:rPr>
              <a:t>Pipeline</a:t>
            </a:r>
            <a:endParaRPr lang="en-US" sz="1800" dirty="0"/>
          </a:p>
        </p:txBody>
      </p:sp>
      <p:sp>
        <p:nvSpPr>
          <p:cNvPr id="11" name="Text 7"/>
          <p:cNvSpPr txBox="1"/>
          <p:nvPr/>
        </p:nvSpPr>
        <p:spPr>
          <a:xfrm>
            <a:off x="7863840" y="1920240"/>
            <a:ext cx="3429000" cy="1691640"/>
          </a:xfrm>
          <a:prstGeom prst="rect">
            <a:avLst/>
          </a:prstGeom>
          <a:noFill/>
          <a:ln/>
        </p:spPr>
        <p:txBody>
          <a:bodyPr wrap="square" lIns="635" tIns="635" rIns="635" bIns="635" rtlCol="0" anchor="t"/>
          <a:lstStyle/>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EfficientNet-B3, fine-tuned, 320×320</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Projection + FRE (residual MLP)</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CORAL head: 4 rank logits</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Test-time augmentation ×5</a:t>
            </a:r>
            <a:endParaRPr lang="en-US" sz="1300" dirty="0"/>
          </a:p>
        </p:txBody>
      </p:sp>
      <p:sp>
        <p:nvSpPr>
          <p:cNvPr id="12" name="Shape 8"/>
          <p:cNvSpPr/>
          <p:nvPr/>
        </p:nvSpPr>
        <p:spPr>
          <a:xfrm>
            <a:off x="7680960" y="3886200"/>
            <a:ext cx="3794760" cy="2194560"/>
          </a:xfrm>
          <a:prstGeom prst="roundRect">
            <a:avLst>
              <a:gd name="adj" fmla="val 3333"/>
            </a:avLst>
          </a:prstGeom>
          <a:solidFill>
            <a:srgbClr val="F8D6D6"/>
          </a:solidFill>
          <a:ln w="12700">
            <a:solidFill>
              <a:srgbClr val="F8D6D6"/>
            </a:solidFill>
            <a:prstDash val="solid"/>
          </a:ln>
        </p:spPr>
      </p:sp>
      <p:sp>
        <p:nvSpPr>
          <p:cNvPr id="13" name="Text 9"/>
          <p:cNvSpPr txBox="1"/>
          <p:nvPr/>
        </p:nvSpPr>
        <p:spPr>
          <a:xfrm>
            <a:off x="7863840" y="4023360"/>
            <a:ext cx="342900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Honest note</a:t>
            </a:r>
            <a:endParaRPr lang="en-US" sz="1800" dirty="0"/>
          </a:p>
        </p:txBody>
      </p:sp>
      <p:sp>
        <p:nvSpPr>
          <p:cNvPr id="14" name="Text 10"/>
          <p:cNvSpPr txBox="1"/>
          <p:nvPr/>
        </p:nvSpPr>
        <p:spPr>
          <a:xfrm>
            <a:off x="7863840" y="4480560"/>
            <a:ext cx="3429000" cy="1508760"/>
          </a:xfrm>
          <a:prstGeom prst="rect">
            <a:avLst/>
          </a:prstGeom>
          <a:noFill/>
          <a:ln/>
        </p:spPr>
        <p:txBody>
          <a:bodyPr wrap="square" lIns="635" tIns="635" rIns="635" bIns="635" rtlCol="0" anchor="t"/>
          <a:lstStyle/>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FRE runs on a sequence of length one: attention is inactive</a:t>
            </a:r>
            <a:endParaRPr lang="en-US" sz="1300" dirty="0"/>
          </a:p>
          <a:p>
            <a:pPr marL="342900" indent="-3429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No attention-based benefit is claimed</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H3</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H3a: targets satisfied at the point estimate</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914400"/>
        </p:xfrm>
        <a:graphic>
          <a:graphicData uri="http://schemas.openxmlformats.org/drawingml/2006/table">
            <a:tbl>
              <a:tblPr/>
              <a:tblGrid>
                <a:gridCol w="2743200"/>
                <a:gridCol w="1371600"/>
                <a:gridCol w="3429000"/>
                <a:gridCol w="320040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Criterion</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Target</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Internal (N = 5,859)</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Messidor-2 (N = 1,744)</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6B3D8C"/>
                    </a:solidFill>
                  </a:tcPr>
                </a:tc>
              </a:tr>
              <a:tr h="45720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QWK</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0.80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0.953 [0.944, 0.961]</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0.931 [0.919, 0.942]</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Sev-NR</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2%</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0.97% (3/309) [0.2%, 2.8%]</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PDR-NR</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 2%</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1.27% (6/472) [0.5%, 2.7%]</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1.9%</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Grade 0↔4 confusions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b="1" dirty="0">
                          <a:solidFill>
                            <a:srgbClr val="6B3D8C"/>
                          </a:solidFill>
                          <a:latin typeface="Calibri" pitchFamily="34" charset="0"/>
                          <a:ea typeface="Calibri" pitchFamily="34" charset="-122"/>
                          <a:cs typeface="Calibri" pitchFamily="34" charset="-120"/>
                        </a:rPr>
                        <a:t>satisfied at the point estimate</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b="1" dirty="0">
                          <a:solidFill>
                            <a:srgbClr val="6B3D8C"/>
                          </a:solidFill>
                          <a:latin typeface="Calibri" pitchFamily="34" charset="0"/>
                          <a:ea typeface="Calibri" pitchFamily="34" charset="-122"/>
                          <a:cs typeface="Calibri" pitchFamily="34" charset="-120"/>
                        </a:rPr>
                        <a:t>satisfied at the point estimate</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731520" y="4343400"/>
            <a:ext cx="6949440" cy="1691640"/>
          </a:xfrm>
          <a:prstGeom prst="roundRect">
            <a:avLst>
              <a:gd name="adj" fmla="val 4324"/>
            </a:avLst>
          </a:prstGeom>
          <a:solidFill>
            <a:srgbClr val="F8D6D6"/>
          </a:solidFill>
          <a:ln w="12700">
            <a:solidFill>
              <a:srgbClr val="F8D6D6"/>
            </a:solidFill>
            <a:prstDash val="solid"/>
          </a:ln>
        </p:spPr>
      </p:sp>
      <p:sp>
        <p:nvSpPr>
          <p:cNvPr id="10" name="Text 6"/>
          <p:cNvSpPr txBox="1"/>
          <p:nvPr/>
        </p:nvSpPr>
        <p:spPr>
          <a:xfrm>
            <a:off x="914400" y="4480560"/>
            <a:ext cx="6583680" cy="411480"/>
          </a:xfrm>
          <a:prstGeom prst="rect">
            <a:avLst/>
          </a:prstGeom>
          <a:noFill/>
          <a:ln/>
        </p:spPr>
        <p:txBody>
          <a:bodyPr wrap="square" lIns="0" tIns="0" rIns="0" bIns="0" rtlCol="0" anchor="t"/>
          <a:lstStyle/>
          <a:p>
            <a:pPr indent="0" marL="0">
              <a:buNone/>
            </a:pPr>
            <a:r>
              <a:rPr lang="en-US" sz="1800" b="1" dirty="0">
                <a:solidFill>
                  <a:srgbClr val="A32020"/>
                </a:solidFill>
                <a:latin typeface="Cambria" pitchFamily="34" charset="0"/>
                <a:ea typeface="Cambria" pitchFamily="34" charset="-122"/>
                <a:cs typeface="Cambria" pitchFamily="34" charset="-120"/>
              </a:rPr>
              <a:t>Statistical uncertainty</a:t>
            </a:r>
            <a:endParaRPr lang="en-US" sz="1800" dirty="0"/>
          </a:p>
        </p:txBody>
      </p:sp>
      <p:sp>
        <p:nvSpPr>
          <p:cNvPr id="11" name="Text 7"/>
          <p:cNvSpPr txBox="1"/>
          <p:nvPr/>
        </p:nvSpPr>
        <p:spPr>
          <a:xfrm>
            <a:off x="914400" y="4937760"/>
            <a:ext cx="6583680" cy="100584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With 309 severe images the internal interval [0.2%, 2.8%] crosses 2%; external intervals cannot be computed from the published counts. Safety is not demonstrated.</a:t>
            </a:r>
            <a:endParaRPr lang="en-US" sz="1500" dirty="0"/>
          </a:p>
        </p:txBody>
      </p:sp>
      <p:sp>
        <p:nvSpPr>
          <p:cNvPr id="12" name="Shape 8"/>
          <p:cNvSpPr/>
          <p:nvPr/>
        </p:nvSpPr>
        <p:spPr>
          <a:xfrm>
            <a:off x="7955280" y="4343400"/>
            <a:ext cx="3520440" cy="1691640"/>
          </a:xfrm>
          <a:prstGeom prst="roundRect">
            <a:avLst>
              <a:gd name="adj" fmla="val 4324"/>
            </a:avLst>
          </a:prstGeom>
          <a:solidFill>
            <a:srgbClr val="6B3D8C"/>
          </a:solidFill>
          <a:ln w="12700">
            <a:solidFill>
              <a:srgbClr val="6B3D8C"/>
            </a:solidFill>
            <a:prstDash val="solid"/>
          </a:ln>
        </p:spPr>
      </p:sp>
      <p:sp>
        <p:nvSpPr>
          <p:cNvPr id="13" name="Text 9"/>
          <p:cNvSpPr txBox="1"/>
          <p:nvPr/>
        </p:nvSpPr>
        <p:spPr>
          <a:xfrm>
            <a:off x="8092440" y="4434840"/>
            <a:ext cx="3246120" cy="150876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 650</a:t>
            </a:r>
            <a:endParaRPr lang="en-US" sz="3600" dirty="0"/>
          </a:p>
          <a:p>
            <a:pPr algn="ctr" indent="0" marL="0">
              <a:buNone/>
            </a:pPr>
            <a:r>
              <a:rPr lang="en-US" sz="1300" dirty="0">
                <a:solidFill>
                  <a:srgbClr val="FFFFFF"/>
                </a:solidFill>
                <a:latin typeface="Calibri" pitchFamily="34" charset="0"/>
                <a:ea typeface="Calibri" pitchFamily="34" charset="-122"/>
                <a:cs typeface="Calibri" pitchFamily="34" charset="-120"/>
              </a:rPr>
              <a:t>severe images needed for an upper bound below 2%</a:t>
            </a:r>
            <a:endParaRPr lang="en-US"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H3</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H3b: only the full pipeline meets the target</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30</a:t>
            </a:r>
            <a:endParaRPr lang="en-US" sz="1000" dirty="0"/>
          </a:p>
        </p:txBody>
      </p:sp>
      <p:pic>
        <p:nvPicPr>
          <p:cNvPr id="8" name="Image 0" descr="/tmp/claude-0/-home-user-SRT26/618f6450-ab76-51da-ba52-60090a9566a0/scratchpad/deckfig/fig_progressive.png">    </p:cNvPr>
          <p:cNvPicPr>
            <a:picLocks noChangeAspect="1"/>
          </p:cNvPicPr>
          <p:nvPr/>
        </p:nvPicPr>
        <p:blipFill>
          <a:blip r:embed="rId1"/>
          <a:stretch>
            <a:fillRect/>
          </a:stretch>
        </p:blipFill>
        <p:spPr>
          <a:xfrm>
            <a:off x="731520" y="1636725"/>
            <a:ext cx="7498080" cy="3218789"/>
          </a:xfrm>
          <a:prstGeom prst="rect">
            <a:avLst/>
          </a:prstGeom>
        </p:spPr>
      </p:pic>
      <p:sp>
        <p:nvSpPr>
          <p:cNvPr id="9" name="Shape 5"/>
          <p:cNvSpPr/>
          <p:nvPr/>
        </p:nvSpPr>
        <p:spPr>
          <a:xfrm>
            <a:off x="8503920" y="1325880"/>
            <a:ext cx="2971800" cy="3931920"/>
          </a:xfrm>
          <a:prstGeom prst="roundRect">
            <a:avLst>
              <a:gd name="adj" fmla="val 2462"/>
            </a:avLst>
          </a:prstGeom>
          <a:solidFill>
            <a:srgbClr val="EADCF3"/>
          </a:solidFill>
          <a:ln w="12700">
            <a:solidFill>
              <a:srgbClr val="EADCF3"/>
            </a:solidFill>
            <a:prstDash val="solid"/>
          </a:ln>
        </p:spPr>
      </p:sp>
      <p:sp>
        <p:nvSpPr>
          <p:cNvPr id="10" name="Text 6"/>
          <p:cNvSpPr txBox="1"/>
          <p:nvPr/>
        </p:nvSpPr>
        <p:spPr>
          <a:xfrm>
            <a:off x="8686800" y="1463040"/>
            <a:ext cx="2606040" cy="411480"/>
          </a:xfrm>
          <a:prstGeom prst="rect">
            <a:avLst/>
          </a:prstGeom>
          <a:noFill/>
          <a:ln/>
        </p:spPr>
        <p:txBody>
          <a:bodyPr wrap="square" lIns="0" tIns="0" rIns="0" bIns="0" rtlCol="0" anchor="t"/>
          <a:lstStyle/>
          <a:p>
            <a:pPr indent="0" marL="0">
              <a:buNone/>
            </a:pPr>
            <a:r>
              <a:rPr lang="en-US" sz="1800" b="1" dirty="0">
                <a:solidFill>
                  <a:srgbClr val="6B3D8C"/>
                </a:solidFill>
                <a:latin typeface="Cambria" pitchFamily="34" charset="0"/>
                <a:ea typeface="Cambria" pitchFamily="34" charset="-122"/>
                <a:cs typeface="Cambria" pitchFamily="34" charset="-120"/>
              </a:rPr>
              <a:t>Messidor-2 Sev-NR</a:t>
            </a:r>
            <a:endParaRPr lang="en-US" sz="1800" dirty="0"/>
          </a:p>
        </p:txBody>
      </p:sp>
      <p:sp>
        <p:nvSpPr>
          <p:cNvPr id="11" name="Text 7"/>
          <p:cNvSpPr txBox="1"/>
          <p:nvPr/>
        </p:nvSpPr>
        <p:spPr>
          <a:xfrm>
            <a:off x="8686800" y="1920240"/>
            <a:ext cx="2606040" cy="324612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Baseline 5.8%</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 GraphSAGE 4.1%</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 CORAL only 3.7%</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 TTA only 2.9%</a:t>
            </a:r>
            <a:endParaRPr lang="en-US" sz="1500" dirty="0"/>
          </a:p>
          <a:p>
            <a:pPr marL="342900" indent="-3429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DOTS complete 1.4%</a:t>
            </a:r>
            <a:endParaRPr lang="en-US" sz="1500" dirty="0"/>
          </a:p>
        </p:txBody>
      </p:sp>
      <p:sp>
        <p:nvSpPr>
          <p:cNvPr id="12" name="Text 8"/>
          <p:cNvSpPr txBox="1"/>
          <p:nvPr/>
        </p:nvSpPr>
        <p:spPr>
          <a:xfrm>
            <a:off x="731520" y="5440680"/>
            <a:ext cx="10744200" cy="640080"/>
          </a:xfrm>
          <a:prstGeom prst="rect">
            <a:avLst/>
          </a:prstGeom>
          <a:noFill/>
          <a:ln/>
        </p:spPr>
        <p:txBody>
          <a:bodyPr wrap="square" lIns="0" tIns="0" rIns="0" bIns="0" rtlCol="0" anchor="ctr"/>
          <a:lstStyle/>
          <a:p>
            <a:pPr indent="0" marL="0">
              <a:buNone/>
            </a:pPr>
            <a:r>
              <a:rPr lang="en-US" sz="1600" i="1" dirty="0">
                <a:solidFill>
                  <a:srgbClr val="16324F"/>
                </a:solidFill>
                <a:latin typeface="Cambria" pitchFamily="34" charset="0"/>
                <a:ea typeface="Cambria" pitchFamily="34" charset="-122"/>
                <a:cs typeface="Cambria" pitchFamily="34" charset="-120"/>
              </a:rPr>
              <a:t>The component that improves safety most is not the one that improves QWK most. Claim limited to the variants of this ablation.</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6B3D8C"/>
          </a:solidFill>
          <a:ln w="12700">
            <a:solidFill>
              <a:srgbClr val="6B3D8C"/>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How DOTS errs: in the safe direction</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31</a:t>
            </a:r>
            <a:endParaRPr lang="en-US" sz="1000" dirty="0"/>
          </a:p>
        </p:txBody>
      </p:sp>
      <p:sp>
        <p:nvSpPr>
          <p:cNvPr id="8" name="Text 5"/>
          <p:cNvSpPr txBox="1"/>
          <p:nvPr/>
        </p:nvSpPr>
        <p:spPr>
          <a:xfrm>
            <a:off x="731520" y="1463040"/>
            <a:ext cx="3291840" cy="914400"/>
          </a:xfrm>
          <a:prstGeom prst="rect">
            <a:avLst/>
          </a:prstGeom>
          <a:noFill/>
          <a:ln/>
        </p:spPr>
        <p:txBody>
          <a:bodyPr wrap="square" lIns="0" tIns="0" rIns="0" bIns="0" rtlCol="0" anchor="ctr"/>
          <a:lstStyle/>
          <a:p>
            <a:pPr algn="l" indent="0" marL="0">
              <a:buNone/>
            </a:pPr>
            <a:r>
              <a:rPr lang="en-US" sz="5000" b="1" dirty="0">
                <a:solidFill>
                  <a:srgbClr val="6B3D8C"/>
                </a:solidFill>
                <a:latin typeface="Cambria" pitchFamily="34" charset="0"/>
                <a:ea typeface="Cambria" pitchFamily="34" charset="-122"/>
                <a:cs typeface="Cambria" pitchFamily="34" charset="-120"/>
              </a:rPr>
              <a:t>82.9%</a:t>
            </a:r>
            <a:endParaRPr lang="en-US" sz="5000" dirty="0"/>
          </a:p>
        </p:txBody>
      </p:sp>
      <p:sp>
        <p:nvSpPr>
          <p:cNvPr id="9" name="Text 6"/>
          <p:cNvSpPr txBox="1"/>
          <p:nvPr/>
        </p:nvSpPr>
        <p:spPr>
          <a:xfrm>
            <a:off x="73152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of the 597 errors are between adjacent grades; none spans four grades</a:t>
            </a:r>
            <a:endParaRPr lang="en-US" sz="1500" dirty="0"/>
          </a:p>
        </p:txBody>
      </p:sp>
      <p:sp>
        <p:nvSpPr>
          <p:cNvPr id="10" name="Text 7"/>
          <p:cNvSpPr txBox="1"/>
          <p:nvPr/>
        </p:nvSpPr>
        <p:spPr>
          <a:xfrm>
            <a:off x="4343400" y="1463040"/>
            <a:ext cx="3291840" cy="914400"/>
          </a:xfrm>
          <a:prstGeom prst="rect">
            <a:avLst/>
          </a:prstGeom>
          <a:noFill/>
          <a:ln/>
        </p:spPr>
        <p:txBody>
          <a:bodyPr wrap="square" lIns="0" tIns="0" rIns="0" bIns="0" rtlCol="0" anchor="ctr"/>
          <a:lstStyle/>
          <a:p>
            <a:pPr algn="l" indent="0" marL="0">
              <a:buNone/>
            </a:pPr>
            <a:r>
              <a:rPr lang="en-US" sz="5000" b="1" dirty="0">
                <a:solidFill>
                  <a:srgbClr val="6B3D8C"/>
                </a:solidFill>
                <a:latin typeface="Cambria" pitchFamily="34" charset="0"/>
                <a:ea typeface="Cambria" pitchFamily="34" charset="-122"/>
                <a:cs typeface="Cambria" pitchFamily="34" charset="-120"/>
              </a:rPr>
              <a:t>0.770</a:t>
            </a:r>
            <a:endParaRPr lang="en-US" sz="5000" dirty="0"/>
          </a:p>
        </p:txBody>
      </p:sp>
      <p:sp>
        <p:nvSpPr>
          <p:cNvPr id="11" name="Text 8"/>
          <p:cNvSpPr txBox="1"/>
          <p:nvPr/>
        </p:nvSpPr>
        <p:spPr>
          <a:xfrm>
            <a:off x="4343400" y="237744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recall of Severe images: over-prediction, the safe direction</a:t>
            </a:r>
            <a:endParaRPr lang="en-US" sz="1500" dirty="0"/>
          </a:p>
        </p:txBody>
      </p:sp>
      <p:sp>
        <p:nvSpPr>
          <p:cNvPr id="12" name="Text 9"/>
          <p:cNvSpPr txBox="1"/>
          <p:nvPr/>
        </p:nvSpPr>
        <p:spPr>
          <a:xfrm>
            <a:off x="7955280" y="1463040"/>
            <a:ext cx="3520440" cy="914400"/>
          </a:xfrm>
          <a:prstGeom prst="rect">
            <a:avLst/>
          </a:prstGeom>
          <a:noFill/>
          <a:ln/>
        </p:spPr>
        <p:txBody>
          <a:bodyPr wrap="square" lIns="0" tIns="0" rIns="0" bIns="0" rtlCol="0" anchor="ctr"/>
          <a:lstStyle/>
          <a:p>
            <a:pPr algn="l" indent="0" marL="0">
              <a:buNone/>
            </a:pPr>
            <a:r>
              <a:rPr lang="en-US" sz="5000" b="1" dirty="0">
                <a:solidFill>
                  <a:srgbClr val="16324F"/>
                </a:solidFill>
                <a:latin typeface="Cambria" pitchFamily="34" charset="0"/>
                <a:ea typeface="Cambria" pitchFamily="34" charset="-122"/>
                <a:cs typeface="Cambria" pitchFamily="34" charset="-120"/>
              </a:rPr>
              <a:t>0.031</a:t>
            </a:r>
            <a:endParaRPr lang="en-US" sz="5000" dirty="0"/>
          </a:p>
        </p:txBody>
      </p:sp>
      <p:sp>
        <p:nvSpPr>
          <p:cNvPr id="13" name="Text 10"/>
          <p:cNvSpPr txBox="1"/>
          <p:nvPr/>
        </p:nvSpPr>
        <p:spPr>
          <a:xfrm>
            <a:off x="7955280" y="2377440"/>
            <a:ext cx="35204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five-grade ECE after temperature scaling (from 0.067), QWK unchanged</a:t>
            </a:r>
            <a:endParaRPr lang="en-US" sz="1500" dirty="0"/>
          </a:p>
        </p:txBody>
      </p:sp>
      <p:sp>
        <p:nvSpPr>
          <p:cNvPr id="14" name="Shape 11"/>
          <p:cNvSpPr/>
          <p:nvPr/>
        </p:nvSpPr>
        <p:spPr>
          <a:xfrm>
            <a:off x="731520" y="3657600"/>
            <a:ext cx="10744200" cy="1920240"/>
          </a:xfrm>
          <a:prstGeom prst="roundRect">
            <a:avLst>
              <a:gd name="adj" fmla="val 3810"/>
            </a:avLst>
          </a:prstGeom>
          <a:solidFill>
            <a:srgbClr val="F3F5F8"/>
          </a:solidFill>
          <a:ln w="12700">
            <a:solidFill>
              <a:srgbClr val="F3F5F8"/>
            </a:solidFill>
            <a:prstDash val="solid"/>
          </a:ln>
        </p:spPr>
      </p:sp>
      <p:sp>
        <p:nvSpPr>
          <p:cNvPr id="15" name="Text 12"/>
          <p:cNvSpPr txBox="1"/>
          <p:nvPr/>
        </p:nvSpPr>
        <p:spPr>
          <a:xfrm>
            <a:off x="914400" y="3794760"/>
            <a:ext cx="10378440" cy="411480"/>
          </a:xfrm>
          <a:prstGeom prst="rect">
            <a:avLst/>
          </a:prstGeom>
          <a:noFill/>
          <a:ln/>
        </p:spPr>
        <p:txBody>
          <a:bodyPr wrap="square" lIns="0" tIns="0" rIns="0" bIns="0" rtlCol="0" anchor="t"/>
          <a:lstStyle/>
          <a:p>
            <a:pPr indent="0" marL="0">
              <a:buNone/>
            </a:pPr>
            <a:r>
              <a:rPr lang="en-US" sz="1800" b="1" dirty="0">
                <a:solidFill>
                  <a:srgbClr val="6B3D8C"/>
                </a:solidFill>
                <a:latin typeface="Cambria" pitchFamily="34" charset="0"/>
                <a:ea typeface="Cambria" pitchFamily="34" charset="-122"/>
                <a:cs typeface="Cambria" pitchFamily="34" charset="-120"/>
              </a:rPr>
              <a:t>Reading</a:t>
            </a:r>
            <a:endParaRPr lang="en-US" sz="1800" dirty="0"/>
          </a:p>
        </p:txBody>
      </p:sp>
      <p:sp>
        <p:nvSpPr>
          <p:cNvPr id="16" name="Text 13"/>
          <p:cNvSpPr txBox="1"/>
          <p:nvPr/>
        </p:nvSpPr>
        <p:spPr>
          <a:xfrm>
            <a:off x="914400" y="4251960"/>
            <a:ext cx="10378440" cy="1234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Dominant confusion Mild → Moderate: an over-referral rather than an under-referral</a:t>
            </a:r>
            <a:endParaRPr lang="en-US" sz="1600" dirty="0"/>
          </a:p>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Referral decision: AUC 0.971 [0.963, 0.979]; ECE 0.041</a:t>
            </a:r>
            <a:endParaRPr lang="en-US" sz="1600" dirty="0"/>
          </a:p>
          <a:p>
            <a:pPr marL="342900" indent="-3429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McNemar test, DOTS vs CNN baseline on paired predictions: p = 0.013</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B35C00"/>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6</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Engineering</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Six-stage architecture and regulatory-oriented design (Chapter 6)</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B35C00"/>
          </a:solidFill>
          <a:ln w="12700">
            <a:solidFill>
              <a:srgbClr val="B35C00"/>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Designed with regulatory considerations in mind</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33</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914400"/>
        </p:xfrm>
        <a:graphic>
          <a:graphicData uri="http://schemas.openxmlformats.org/drawingml/2006/table">
            <a:tbl>
              <a:tblPr/>
              <a:tblGrid>
                <a:gridCol w="5486400"/>
                <a:gridCol w="525780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Component</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B35C0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Status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B35C00"/>
                    </a:solidFill>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Grading pipelines (TOPORET, DGTS, DOTS)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Implemented as research code; evaluated retrospectively</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Stage-level verification plan (IEC 62304)</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Specified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Risk analysis (FMEA, ISO 14971)</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Performed at design level</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Audit trail and Article 13 template (EU AI Act)</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Designed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Automatic deferral of uncertain images</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b="1" dirty="0">
                          <a:solidFill>
                            <a:srgbClr val="A32020"/>
                          </a:solidFill>
                          <a:latin typeface="Calibri" pitchFamily="34" charset="0"/>
                          <a:ea typeface="Calibri" pitchFamily="34" charset="-122"/>
                          <a:cs typeface="Calibri" pitchFamily="34" charset="-120"/>
                        </a:rPr>
                        <a:t>Not implemented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FHIR adapter and hospital integration</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500" b="1" dirty="0">
                          <a:solidFill>
                            <a:srgbClr val="A32020"/>
                          </a:solidFill>
                          <a:latin typeface="Calibri" pitchFamily="34" charset="0"/>
                          <a:ea typeface="Calibri" pitchFamily="34" charset="-122"/>
                          <a:cs typeface="Calibri" pitchFamily="34" charset="-120"/>
                        </a:rPr>
                        <a:t>Designed, not implemented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Clinical deployment, conformity assessment, CE / FDA</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500" b="1" dirty="0">
                          <a:solidFill>
                            <a:srgbClr val="A32020"/>
                          </a:solidFill>
                          <a:latin typeface="Calibri" pitchFamily="34" charset="0"/>
                          <a:ea typeface="Calibri" pitchFamily="34" charset="-122"/>
                          <a:cs typeface="Calibri" pitchFamily="34" charset="-120"/>
                        </a:rPr>
                        <a:t>Not performed</a:t>
                      </a:r>
                      <a:endParaRPr lang="en-US" sz="15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Text 5"/>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600" i="1" dirty="0">
                <a:solidFill>
                  <a:srgbClr val="B35C00"/>
                </a:solidFill>
                <a:latin typeface="Cambria" pitchFamily="34" charset="0"/>
                <a:ea typeface="Cambria" pitchFamily="34" charset="-122"/>
                <a:cs typeface="Cambria" pitchFamily="34" charset="-120"/>
              </a:rPr>
              <a:t>An engineering-oriented mapping exercise, not a conformity assessment, clinical evaluation or certification.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22960" y="2331720"/>
            <a:ext cx="1371600" cy="1371600"/>
          </a:xfrm>
          <a:prstGeom prst="ellipse">
            <a:avLst/>
          </a:prstGeom>
          <a:solidFill>
            <a:srgbClr val="16324F"/>
          </a:solidFill>
          <a:ln w="25400">
            <a:solidFill>
              <a:srgbClr val="FFFFFF"/>
            </a:solidFill>
            <a:prstDash val="solid"/>
          </a:ln>
        </p:spPr>
      </p:sp>
      <p:sp>
        <p:nvSpPr>
          <p:cNvPr id="3" name="Text 1"/>
          <p:cNvSpPr txBox="1"/>
          <p:nvPr/>
        </p:nvSpPr>
        <p:spPr>
          <a:xfrm>
            <a:off x="822960"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7</a:t>
            </a:r>
            <a:endParaRPr lang="en-US" sz="4400" dirty="0"/>
          </a:p>
        </p:txBody>
      </p:sp>
      <p:sp>
        <p:nvSpPr>
          <p:cNvPr id="4" name="Text 2"/>
          <p:cNvSpPr txBox="1"/>
          <p:nvPr/>
        </p:nvSpPr>
        <p:spPr>
          <a:xfrm>
            <a:off x="2651760" y="2240280"/>
            <a:ext cx="877824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Synthesis</a:t>
            </a:r>
            <a:endParaRPr lang="en-US" sz="4000" dirty="0"/>
          </a:p>
        </p:txBody>
      </p:sp>
      <p:sp>
        <p:nvSpPr>
          <p:cNvPr id="5" name="Text 3"/>
          <p:cNvSpPr txBox="1"/>
          <p:nvPr/>
        </p:nvSpPr>
        <p:spPr>
          <a:xfrm>
            <a:off x="2651760" y="3154680"/>
            <a:ext cx="877824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What is shown, what is supported, what remains to be done</a:t>
            </a:r>
            <a:endParaRPr lang="en-US" sz="1800" dirty="0"/>
          </a:p>
        </p:txBody>
      </p:sp>
      <p:sp>
        <p:nvSpPr>
          <p:cNvPr id="6" name="Text 4"/>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AFC3D6"/>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7" name="Text 5"/>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AFC3D6"/>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Σ</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Evidence architecture of the thesis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35</a:t>
            </a:r>
            <a:endParaRPr lang="en-US" sz="1000" dirty="0"/>
          </a:p>
        </p:txBody>
      </p:sp>
      <p:pic>
        <p:nvPicPr>
          <p:cNvPr id="8" name="Image 0" descr="/tmp/claude-0/-home-user-SRT26/618f6450-ab76-51da-ba52-60090a9566a0/scratchpad/deckfig/fig_evidence.png">    </p:cNvPr>
          <p:cNvPicPr>
            <a:picLocks noChangeAspect="1"/>
          </p:cNvPicPr>
          <p:nvPr/>
        </p:nvPicPr>
        <p:blipFill>
          <a:blip r:embed="rId1"/>
          <a:stretch>
            <a:fillRect/>
          </a:stretch>
        </p:blipFill>
        <p:spPr>
          <a:xfrm>
            <a:off x="1203326" y="1234440"/>
            <a:ext cx="9800589" cy="484632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Σ</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Shown, supported, and not claimed</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914400"/>
        </p:xfrm>
        <a:graphic>
          <a:graphicData uri="http://schemas.openxmlformats.org/drawingml/2006/table">
            <a:tbl>
              <a:tblPr/>
              <a:tblGrid>
                <a:gridCol w="3246120"/>
                <a:gridCol w="3291840"/>
                <a:gridCol w="1554480"/>
                <a:gridCol w="26517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Claim</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Level</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Main limitation</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Relational information improves grading</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H1 (TOPORET); DGTS +0.018 QWK, inductive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Five folds; corrected p only combined</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Topology is associated with severity</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H2: F = 84.3, p &lt; 0.001</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η² ≈ 0.01; association only</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Topological regularisation helps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DGTS ablation +0.030 QWK</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Feature-space topology</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DGTS keeps its QWK externally</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EyePACS zero-shot 0.925</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Moderate-strong</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Sev-NR ≈ 2.1%</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DOTS satisfies the targets (H3a)</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Internal + Messidor-2, point estimates</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Interval [0.2%, 2.8%]</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No reduced variant suffices (H3b)</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Four variants fail on Messidor-2</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Moderate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One ablation specification</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75488">
                <a:tc>
                  <a:txBody>
                    <a:bodyPr/>
                    <a:lstStyle/>
                    <a:p>
                      <a:pPr indent="0" marL="0">
                        <a:buNone/>
                      </a:pPr>
                      <a:r>
                        <a:rPr lang="en-US" sz="1300" b="1" dirty="0">
                          <a:solidFill>
                            <a:srgbClr val="A32020"/>
                          </a:solidFill>
                          <a:latin typeface="Calibri" pitchFamily="34" charset="0"/>
                          <a:ea typeface="Calibri" pitchFamily="34" charset="-122"/>
                          <a:cs typeface="Calibri" pitchFamily="34" charset="-120"/>
                        </a:rPr>
                        <a:t>Clinical safety, regulatory compliance</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b="1" dirty="0">
                          <a:solidFill>
                            <a:srgbClr val="A32020"/>
                          </a:solidFill>
                          <a:latin typeface="Calibri" pitchFamily="34" charset="0"/>
                          <a:ea typeface="Calibri" pitchFamily="34" charset="-122"/>
                          <a:cs typeface="Calibri" pitchFamily="34" charset="-120"/>
                        </a:rPr>
                        <a:t>Not established</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No prospective study; no conformity assessment</a:t>
                      </a:r>
                      <a:endParaRPr lang="en-US" sz="13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Text 5"/>
          <p:cNvSpPr txBox="1"/>
          <p:nvPr/>
        </p:nvSpPr>
        <p:spPr>
          <a:xfrm>
            <a:off x="731520" y="5349240"/>
            <a:ext cx="10744200" cy="685800"/>
          </a:xfrm>
          <a:prstGeom prst="rect">
            <a:avLst/>
          </a:prstGeom>
          <a:noFill/>
          <a:ln/>
        </p:spPr>
        <p:txBody>
          <a:bodyPr wrap="square" lIns="0" tIns="0" rIns="0" bIns="0" rtlCol="0" anchor="ctr"/>
          <a:lstStyle/>
          <a:p>
            <a:pPr indent="0" marL="0">
              <a:buNone/>
            </a:pPr>
            <a:r>
              <a:rPr lang="en-US" sz="1600" i="1" dirty="0">
                <a:solidFill>
                  <a:srgbClr val="16324F"/>
                </a:solidFill>
                <a:latin typeface="Cambria" pitchFamily="34" charset="0"/>
                <a:ea typeface="Cambria" pitchFamily="34" charset="-122"/>
                <a:cs typeface="Cambria" pitchFamily="34" charset="-120"/>
              </a:rPr>
              <a:t>Central contribution: a structured body of retrospective evidence on how relational, topological and ordinal information can complement deep visual representations.</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Limitations and perspectives</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37</a:t>
            </a:r>
            <a:endParaRPr lang="en-US" sz="1000" dirty="0"/>
          </a:p>
        </p:txBody>
      </p:sp>
      <p:sp>
        <p:nvSpPr>
          <p:cNvPr id="8" name="Shape 5"/>
          <p:cNvSpPr/>
          <p:nvPr/>
        </p:nvSpPr>
        <p:spPr>
          <a:xfrm>
            <a:off x="731520" y="1444752"/>
            <a:ext cx="594360" cy="594360"/>
          </a:xfrm>
          <a:prstGeom prst="ellipse">
            <a:avLst/>
          </a:prstGeom>
          <a:solidFill>
            <a:srgbClr val="1F4E79"/>
          </a:solidFill>
          <a:ln w="12700">
            <a:solidFill>
              <a:srgbClr val="1F4E79"/>
            </a:solidFill>
            <a:prstDash val="solid"/>
          </a:ln>
        </p:spPr>
      </p:sp>
      <p:sp>
        <p:nvSpPr>
          <p:cNvPr id="9" name="Text 6"/>
          <p:cNvSpPr txBox="1"/>
          <p:nvPr/>
        </p:nvSpPr>
        <p:spPr>
          <a:xfrm>
            <a:off x="731520" y="14447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0" name="Text 7"/>
          <p:cNvSpPr txBox="1"/>
          <p:nvPr/>
        </p:nvSpPr>
        <p:spPr>
          <a:xfrm>
            <a:off x="1508760" y="137160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Patient-level split for TOPORET (grouped folds, per-fold graph)</a:t>
            </a:r>
            <a:endParaRPr lang="en-US" sz="1600" dirty="0"/>
          </a:p>
        </p:txBody>
      </p:sp>
      <p:sp>
        <p:nvSpPr>
          <p:cNvPr id="11" name="Shape 8"/>
          <p:cNvSpPr/>
          <p:nvPr/>
        </p:nvSpPr>
        <p:spPr>
          <a:xfrm>
            <a:off x="731520" y="2542032"/>
            <a:ext cx="594360" cy="594360"/>
          </a:xfrm>
          <a:prstGeom prst="ellipse">
            <a:avLst/>
          </a:prstGeom>
          <a:solidFill>
            <a:srgbClr val="1F4E79"/>
          </a:solidFill>
          <a:ln w="12700">
            <a:solidFill>
              <a:srgbClr val="1F4E79"/>
            </a:solidFill>
            <a:prstDash val="solid"/>
          </a:ln>
        </p:spPr>
      </p:sp>
      <p:sp>
        <p:nvSpPr>
          <p:cNvPr id="12" name="Text 9"/>
          <p:cNvSpPr txBox="1"/>
          <p:nvPr/>
        </p:nvSpPr>
        <p:spPr>
          <a:xfrm>
            <a:off x="731520" y="254203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0"/>
          <p:cNvSpPr txBox="1"/>
          <p:nvPr/>
        </p:nvSpPr>
        <p:spPr>
          <a:xfrm>
            <a:off x="1508760" y="246888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Multi-seed validation</a:t>
            </a:r>
            <a:endParaRPr lang="en-US" sz="1600" dirty="0"/>
          </a:p>
        </p:txBody>
      </p:sp>
      <p:sp>
        <p:nvSpPr>
          <p:cNvPr id="14" name="Shape 11"/>
          <p:cNvSpPr/>
          <p:nvPr/>
        </p:nvSpPr>
        <p:spPr>
          <a:xfrm>
            <a:off x="731520" y="3639312"/>
            <a:ext cx="594360" cy="594360"/>
          </a:xfrm>
          <a:prstGeom prst="ellipse">
            <a:avLst/>
          </a:prstGeom>
          <a:solidFill>
            <a:srgbClr val="1F4E79"/>
          </a:solidFill>
          <a:ln w="12700">
            <a:solidFill>
              <a:srgbClr val="1F4E79"/>
            </a:solidFill>
            <a:prstDash val="solid"/>
          </a:ln>
        </p:spPr>
      </p:sp>
      <p:sp>
        <p:nvSpPr>
          <p:cNvPr id="15" name="Text 12"/>
          <p:cNvSpPr txBox="1"/>
          <p:nvPr/>
        </p:nvSpPr>
        <p:spPr>
          <a:xfrm>
            <a:off x="731520" y="363931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3"/>
          <p:cNvSpPr txBox="1"/>
          <p:nvPr/>
        </p:nvSpPr>
        <p:spPr>
          <a:xfrm>
            <a:off x="1508760" y="356616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New external datasets (≈ 650 severe images)</a:t>
            </a:r>
            <a:endParaRPr lang="en-US" sz="1600" dirty="0"/>
          </a:p>
        </p:txBody>
      </p:sp>
      <p:sp>
        <p:nvSpPr>
          <p:cNvPr id="17" name="Shape 14"/>
          <p:cNvSpPr/>
          <p:nvPr/>
        </p:nvSpPr>
        <p:spPr>
          <a:xfrm>
            <a:off x="731520" y="4736592"/>
            <a:ext cx="594360" cy="594360"/>
          </a:xfrm>
          <a:prstGeom prst="ellipse">
            <a:avLst/>
          </a:prstGeom>
          <a:solidFill>
            <a:srgbClr val="6B3D8C"/>
          </a:solidFill>
          <a:ln w="12700">
            <a:solidFill>
              <a:srgbClr val="6B3D8C"/>
            </a:solidFill>
            <a:prstDash val="solid"/>
          </a:ln>
        </p:spPr>
      </p:sp>
      <p:sp>
        <p:nvSpPr>
          <p:cNvPr id="18" name="Text 15"/>
          <p:cNvSpPr txBox="1"/>
          <p:nvPr/>
        </p:nvSpPr>
        <p:spPr>
          <a:xfrm>
            <a:off x="731520" y="47365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9" name="Text 16"/>
          <p:cNvSpPr txBox="1"/>
          <p:nvPr/>
        </p:nvSpPr>
        <p:spPr>
          <a:xfrm>
            <a:off x="1508760" y="466344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Unified three-axis model with deferral</a:t>
            </a:r>
            <a:endParaRPr lang="en-US" sz="1600" dirty="0"/>
          </a:p>
        </p:txBody>
      </p:sp>
      <p:sp>
        <p:nvSpPr>
          <p:cNvPr id="20" name="Shape 17"/>
          <p:cNvSpPr/>
          <p:nvPr/>
        </p:nvSpPr>
        <p:spPr>
          <a:xfrm>
            <a:off x="6217920" y="1444752"/>
            <a:ext cx="594360" cy="594360"/>
          </a:xfrm>
          <a:prstGeom prst="ellipse">
            <a:avLst/>
          </a:prstGeom>
          <a:solidFill>
            <a:srgbClr val="1B7A4E"/>
          </a:solidFill>
          <a:ln w="12700">
            <a:solidFill>
              <a:srgbClr val="1B7A4E"/>
            </a:solidFill>
            <a:prstDash val="solid"/>
          </a:ln>
        </p:spPr>
      </p:sp>
      <p:sp>
        <p:nvSpPr>
          <p:cNvPr id="21" name="Text 18"/>
          <p:cNvSpPr txBox="1"/>
          <p:nvPr/>
        </p:nvSpPr>
        <p:spPr>
          <a:xfrm>
            <a:off x="6217920" y="14447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19"/>
          <p:cNvSpPr txBox="1"/>
          <p:nvPr/>
        </p:nvSpPr>
        <p:spPr>
          <a:xfrm>
            <a:off x="6995160" y="137160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Reader study (graders with and without the system)</a:t>
            </a:r>
            <a:endParaRPr lang="en-US" sz="1600" dirty="0"/>
          </a:p>
        </p:txBody>
      </p:sp>
      <p:sp>
        <p:nvSpPr>
          <p:cNvPr id="23" name="Shape 20"/>
          <p:cNvSpPr/>
          <p:nvPr/>
        </p:nvSpPr>
        <p:spPr>
          <a:xfrm>
            <a:off x="6217920" y="2542032"/>
            <a:ext cx="594360" cy="594360"/>
          </a:xfrm>
          <a:prstGeom prst="ellipse">
            <a:avLst/>
          </a:prstGeom>
          <a:solidFill>
            <a:srgbClr val="1B7A4E"/>
          </a:solidFill>
          <a:ln w="12700">
            <a:solidFill>
              <a:srgbClr val="1B7A4E"/>
            </a:solidFill>
            <a:prstDash val="solid"/>
          </a:ln>
        </p:spPr>
      </p:sp>
      <p:sp>
        <p:nvSpPr>
          <p:cNvPr id="24" name="Text 21"/>
          <p:cNvSpPr txBox="1"/>
          <p:nvPr/>
        </p:nvSpPr>
        <p:spPr>
          <a:xfrm>
            <a:off x="6217920" y="254203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5" name="Text 22"/>
          <p:cNvSpPr txBox="1"/>
          <p:nvPr/>
        </p:nvSpPr>
        <p:spPr>
          <a:xfrm>
            <a:off x="6995160" y="246888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Prospective study (≈ 1,240 severe images, 80% power)</a:t>
            </a:r>
            <a:endParaRPr lang="en-US" sz="1600" dirty="0"/>
          </a:p>
        </p:txBody>
      </p:sp>
      <p:sp>
        <p:nvSpPr>
          <p:cNvPr id="26" name="Shape 23"/>
          <p:cNvSpPr/>
          <p:nvPr/>
        </p:nvSpPr>
        <p:spPr>
          <a:xfrm>
            <a:off x="6217920" y="3639312"/>
            <a:ext cx="594360" cy="594360"/>
          </a:xfrm>
          <a:prstGeom prst="ellipse">
            <a:avLst/>
          </a:prstGeom>
          <a:solidFill>
            <a:srgbClr val="1B7A4E"/>
          </a:solidFill>
          <a:ln w="12700">
            <a:solidFill>
              <a:srgbClr val="1B7A4E"/>
            </a:solidFill>
            <a:prstDash val="solid"/>
          </a:ln>
        </p:spPr>
      </p:sp>
      <p:sp>
        <p:nvSpPr>
          <p:cNvPr id="27" name="Text 24"/>
          <p:cNvSpPr txBox="1"/>
          <p:nvPr/>
        </p:nvSpPr>
        <p:spPr>
          <a:xfrm>
            <a:off x="6217920" y="363931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28" name="Text 25"/>
          <p:cNvSpPr txBox="1"/>
          <p:nvPr/>
        </p:nvSpPr>
        <p:spPr>
          <a:xfrm>
            <a:off x="6995160" y="356616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True multi-site and federated validation</a:t>
            </a:r>
            <a:endParaRPr lang="en-US" sz="1600" dirty="0"/>
          </a:p>
        </p:txBody>
      </p:sp>
      <p:sp>
        <p:nvSpPr>
          <p:cNvPr id="29" name="Shape 26"/>
          <p:cNvSpPr/>
          <p:nvPr/>
        </p:nvSpPr>
        <p:spPr>
          <a:xfrm>
            <a:off x="6217920" y="4736592"/>
            <a:ext cx="594360" cy="594360"/>
          </a:xfrm>
          <a:prstGeom prst="ellipse">
            <a:avLst/>
          </a:prstGeom>
          <a:solidFill>
            <a:srgbClr val="1B7A4E"/>
          </a:solidFill>
          <a:ln w="12700">
            <a:solidFill>
              <a:srgbClr val="1B7A4E"/>
            </a:solidFill>
            <a:prstDash val="solid"/>
          </a:ln>
        </p:spPr>
      </p:sp>
      <p:sp>
        <p:nvSpPr>
          <p:cNvPr id="30" name="Text 27"/>
          <p:cNvSpPr txBox="1"/>
          <p:nvPr/>
        </p:nvSpPr>
        <p:spPr>
          <a:xfrm>
            <a:off x="6217920" y="47365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8</a:t>
            </a:r>
            <a:endParaRPr lang="en-US" sz="1800" dirty="0"/>
          </a:p>
        </p:txBody>
      </p:sp>
      <p:sp>
        <p:nvSpPr>
          <p:cNvPr id="31" name="Text 28"/>
          <p:cNvSpPr txBox="1"/>
          <p:nvPr/>
        </p:nvSpPr>
        <p:spPr>
          <a:xfrm>
            <a:off x="6995160" y="4663440"/>
            <a:ext cx="4526280" cy="73152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Clinical validation (MDR)</a:t>
            </a:r>
            <a:endParaRPr lang="en-US" sz="1600" dirty="0"/>
          </a:p>
        </p:txBody>
      </p:sp>
      <p:sp>
        <p:nvSpPr>
          <p:cNvPr id="32" name="Text 29"/>
          <p:cNvSpPr txBox="1"/>
          <p:nvPr/>
        </p:nvSpPr>
        <p:spPr>
          <a:xfrm>
            <a:off x="731520" y="5669280"/>
            <a:ext cx="10744200" cy="36576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Blue: statistical limits, no new infrastructure  |  Purple: unified model  |  Green: clinical translation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12064" cy="512064"/>
          </a:xfrm>
          <a:prstGeom prst="ellipse">
            <a:avLst/>
          </a:prstGeom>
          <a:solidFill>
            <a:srgbClr val="16324F"/>
          </a:solidFill>
          <a:ln w="12700">
            <a:solidFill>
              <a:srgbClr val="16324F"/>
            </a:solidFill>
            <a:prstDash val="solid"/>
          </a:ln>
        </p:spPr>
      </p:sp>
      <p:sp>
        <p:nvSpPr>
          <p:cNvPr id="3" name="Text 1"/>
          <p:cNvSpPr txBox="1"/>
          <p:nvPr/>
        </p:nvSpPr>
        <p:spPr>
          <a:xfrm>
            <a:off x="548640" y="3840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a:t>
            </a:r>
            <a:endParaRPr lang="en-US" sz="1500" dirty="0"/>
          </a:p>
        </p:txBody>
      </p:sp>
      <p:sp>
        <p:nvSpPr>
          <p:cNvPr id="4" name="Text 2"/>
          <p:cNvSpPr txBox="1"/>
          <p:nvPr/>
        </p:nvSpPr>
        <p:spPr>
          <a:xfrm>
            <a:off x="1234440" y="274320"/>
            <a:ext cx="10424160" cy="731520"/>
          </a:xfrm>
          <a:prstGeom prst="rect">
            <a:avLst/>
          </a:prstGeom>
          <a:noFill/>
          <a:ln/>
        </p:spPr>
        <p:txBody>
          <a:bodyPr wrap="square" lIns="0" tIns="0" rIns="0" bIns="0" rtlCol="0" anchor="ctr"/>
          <a:lstStyle/>
          <a:p>
            <a:pPr indent="0" marL="0">
              <a:buNone/>
            </a:pPr>
            <a:r>
              <a:rPr lang="en-US" sz="2800" b="1" dirty="0">
                <a:solidFill>
                  <a:srgbClr val="16324F"/>
                </a:solidFill>
                <a:latin typeface="Cambria" pitchFamily="34" charset="0"/>
                <a:ea typeface="Cambria" pitchFamily="34" charset="-122"/>
                <a:cs typeface="Cambria" pitchFamily="34" charset="-120"/>
              </a:rPr>
              <a:t>Scientific output</a:t>
            </a:r>
            <a:endParaRPr lang="en-US" sz="2800" dirty="0"/>
          </a:p>
        </p:txBody>
      </p:sp>
      <p:sp>
        <p:nvSpPr>
          <p:cNvPr id="5" name="Text 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A94A0"/>
                </a:solidFill>
                <a:latin typeface="Calibri" pitchFamily="34" charset="0"/>
                <a:ea typeface="Calibri" pitchFamily="34" charset="-122"/>
                <a:cs typeface="Calibri" pitchFamily="34" charset="-120"/>
              </a:rPr>
              <a:t>N. Belhadj  |  PhD defence  |  ENSI, University of Manouba</a:t>
            </a:r>
            <a:endParaRPr lang="en-US" sz="1000" dirty="0"/>
          </a:p>
        </p:txBody>
      </p:sp>
      <p:sp>
        <p:nvSpPr>
          <p:cNvPr id="6" name="Text 4"/>
          <p:cNvSpPr txBox="1"/>
          <p:nvPr/>
        </p:nvSpPr>
        <p:spPr>
          <a:xfrm>
            <a:off x="10911535" y="6473952"/>
            <a:ext cx="731520" cy="274320"/>
          </a:xfrm>
          <a:prstGeom prst="rect">
            <a:avLst/>
          </a:prstGeom>
          <a:noFill/>
          <a:ln/>
        </p:spPr>
        <p:txBody>
          <a:bodyPr wrap="square" lIns="0" tIns="0" rIns="0" bIns="0" rtlCol="0" anchor="ctr"/>
          <a:lstStyle/>
          <a:p>
            <a:pPr algn="r" indent="0" marL="0">
              <a:buNone/>
            </a:pPr>
            <a:r>
              <a:rPr lang="en-US" sz="1000" dirty="0">
                <a:solidFill>
                  <a:srgbClr val="8A94A0"/>
                </a:solidFill>
                <a:latin typeface="Calibri" pitchFamily="34" charset="0"/>
                <a:ea typeface="Calibri" pitchFamily="34" charset="-122"/>
                <a:cs typeface="Calibri" pitchFamily="34" charset="-120"/>
              </a:rPr>
              <a:t>38</a:t>
            </a:r>
            <a:endParaRPr lang="en-US" sz="1000" dirty="0"/>
          </a:p>
        </p:txBody>
      </p:sp>
      <p:sp>
        <p:nvSpPr>
          <p:cNvPr id="8" name="Text 5"/>
          <p:cNvSpPr txBox="1"/>
          <p:nvPr/>
        </p:nvSpPr>
        <p:spPr>
          <a:xfrm>
            <a:off x="731520" y="1371600"/>
            <a:ext cx="3291840" cy="914400"/>
          </a:xfrm>
          <a:prstGeom prst="rect">
            <a:avLst/>
          </a:prstGeom>
          <a:noFill/>
          <a:ln/>
        </p:spPr>
        <p:txBody>
          <a:bodyPr wrap="square" lIns="0" tIns="0" rIns="0" bIns="0" rtlCol="0" anchor="ctr"/>
          <a:lstStyle/>
          <a:p>
            <a:pPr algn="l" indent="0" marL="0">
              <a:buNone/>
            </a:pPr>
            <a:r>
              <a:rPr lang="en-US" sz="5000" b="1" dirty="0">
                <a:solidFill>
                  <a:srgbClr val="16324F"/>
                </a:solidFill>
                <a:latin typeface="Cambria" pitchFamily="34" charset="0"/>
                <a:ea typeface="Cambria" pitchFamily="34" charset="-122"/>
                <a:cs typeface="Cambria" pitchFamily="34" charset="-120"/>
              </a:rPr>
              <a:t>13</a:t>
            </a:r>
            <a:endParaRPr lang="en-US" sz="5000" dirty="0"/>
          </a:p>
        </p:txBody>
      </p:sp>
      <p:sp>
        <p:nvSpPr>
          <p:cNvPr id="9" name="Text 6"/>
          <p:cNvSpPr txBox="1"/>
          <p:nvPr/>
        </p:nvSpPr>
        <p:spPr>
          <a:xfrm>
            <a:off x="731520" y="228600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publications supporting the thesis</a:t>
            </a:r>
            <a:endParaRPr lang="en-US" sz="1500" dirty="0"/>
          </a:p>
        </p:txBody>
      </p:sp>
      <p:sp>
        <p:nvSpPr>
          <p:cNvPr id="10" name="Text 7"/>
          <p:cNvSpPr txBox="1"/>
          <p:nvPr/>
        </p:nvSpPr>
        <p:spPr>
          <a:xfrm>
            <a:off x="4343400" y="1371600"/>
            <a:ext cx="3291840" cy="914400"/>
          </a:xfrm>
          <a:prstGeom prst="rect">
            <a:avLst/>
          </a:prstGeom>
          <a:noFill/>
          <a:ln/>
        </p:spPr>
        <p:txBody>
          <a:bodyPr wrap="square" lIns="0" tIns="0" rIns="0" bIns="0" rtlCol="0" anchor="ctr"/>
          <a:lstStyle/>
          <a:p>
            <a:pPr algn="l" indent="0" marL="0">
              <a:buNone/>
            </a:pPr>
            <a:r>
              <a:rPr lang="en-US" sz="5000" b="1" dirty="0">
                <a:solidFill>
                  <a:srgbClr val="1B7A4E"/>
                </a:solidFill>
                <a:latin typeface="Cambria" pitchFamily="34" charset="0"/>
                <a:ea typeface="Cambria" pitchFamily="34" charset="-122"/>
                <a:cs typeface="Cambria" pitchFamily="34" charset="-120"/>
              </a:rPr>
              <a:t>9</a:t>
            </a:r>
            <a:endParaRPr lang="en-US" sz="5000" dirty="0"/>
          </a:p>
        </p:txBody>
      </p:sp>
      <p:sp>
        <p:nvSpPr>
          <p:cNvPr id="11" name="Text 8"/>
          <p:cNvSpPr txBox="1"/>
          <p:nvPr/>
        </p:nvSpPr>
        <p:spPr>
          <a:xfrm>
            <a:off x="4343400" y="2286000"/>
            <a:ext cx="32918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accepted or published (7 conference papers, 2 book chapters)</a:t>
            </a:r>
            <a:endParaRPr lang="en-US" sz="1500" dirty="0"/>
          </a:p>
        </p:txBody>
      </p:sp>
      <p:sp>
        <p:nvSpPr>
          <p:cNvPr id="12" name="Text 9"/>
          <p:cNvSpPr txBox="1"/>
          <p:nvPr/>
        </p:nvSpPr>
        <p:spPr>
          <a:xfrm>
            <a:off x="7955280" y="1371600"/>
            <a:ext cx="3520440" cy="914400"/>
          </a:xfrm>
          <a:prstGeom prst="rect">
            <a:avLst/>
          </a:prstGeom>
          <a:noFill/>
          <a:ln/>
        </p:spPr>
        <p:txBody>
          <a:bodyPr wrap="square" lIns="0" tIns="0" rIns="0" bIns="0" rtlCol="0" anchor="ctr"/>
          <a:lstStyle/>
          <a:p>
            <a:pPr algn="l" indent="0" marL="0">
              <a:buNone/>
            </a:pPr>
            <a:r>
              <a:rPr lang="en-US" sz="5000" b="1" dirty="0">
                <a:solidFill>
                  <a:srgbClr val="6B3D8C"/>
                </a:solidFill>
                <a:latin typeface="Cambria" pitchFamily="34" charset="0"/>
                <a:ea typeface="Cambria" pitchFamily="34" charset="-122"/>
                <a:cs typeface="Cambria" pitchFamily="34" charset="-120"/>
              </a:rPr>
              <a:t>4</a:t>
            </a:r>
            <a:endParaRPr lang="en-US" sz="5000" dirty="0"/>
          </a:p>
        </p:txBody>
      </p:sp>
      <p:sp>
        <p:nvSpPr>
          <p:cNvPr id="13" name="Text 10"/>
          <p:cNvSpPr txBox="1"/>
          <p:nvPr/>
        </p:nvSpPr>
        <p:spPr>
          <a:xfrm>
            <a:off x="7955280" y="2286000"/>
            <a:ext cx="3520440" cy="640080"/>
          </a:xfrm>
          <a:prstGeom prst="rect">
            <a:avLst/>
          </a:prstGeom>
          <a:noFill/>
          <a:ln/>
        </p:spPr>
        <p:txBody>
          <a:bodyPr wrap="square" lIns="0" tIns="0" rIns="0" bIns="0" rtlCol="0" anchor="t"/>
          <a:lstStyle/>
          <a:p>
            <a:pPr indent="0" marL="0">
              <a:buNone/>
            </a:pPr>
            <a:r>
              <a:rPr lang="en-US" sz="1500" dirty="0">
                <a:solidFill>
                  <a:srgbClr val="5A6470"/>
                </a:solidFill>
                <a:latin typeface="Calibri" pitchFamily="34" charset="0"/>
                <a:ea typeface="Calibri" pitchFamily="34" charset="-122"/>
                <a:cs typeface="Calibri" pitchFamily="34" charset="-120"/>
              </a:rPr>
              <a:t>journal articles: 1 under revision (PLOS ONE), 3 under review</a:t>
            </a:r>
            <a:endParaRPr lang="en-US" sz="15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31520" y="3383280"/>
          <a:ext cx="10744200" cy="914400"/>
        </p:xfrm>
        <a:graphic>
          <a:graphicData uri="http://schemas.openxmlformats.org/drawingml/2006/table">
            <a:tbl>
              <a:tblPr/>
              <a:tblGrid>
                <a:gridCol w="1188720"/>
                <a:gridCol w="5715000"/>
                <a:gridCol w="38404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Chapter</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Content</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Publications</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6324F"/>
                    </a:solidFill>
                  </a:tcPr>
                </a:tc>
              </a:tr>
              <a:tr h="45720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Graph template outside medicine; structural evidence on DR</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P1-P4, P7, B1, B2, J2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TOPORET; tests of H1 and H2</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J3 (PLOS ONE), P5 (ENASE), P6 (MIUA)</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DGTS and DOTS; H3</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J1, J4</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Software architecture, regulatory-oriented design</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P5</a:t>
                      </a:r>
                      <a:endParaRPr lang="en-US" sz="1400" dirty="0">
                        <a:latin typeface="Calibri" charset="0"/>
                        <a:ea typeface="Calibri" charset="0"/>
                        <a:cs typeface="Calibri" charset="0"/>
                      </a:endParaRPr>
                    </a:p>
                  </a:txBody>
                  <a:tcPr marL="76200" marR="76200" marT="38100" marB="3810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6324F"/>
        </a:solidFill>
      </p:bgPr>
    </p:bg>
    <p:spTree>
      <p:nvGrpSpPr>
        <p:cNvPr id="1" name=""/>
        <p:cNvGrpSpPr/>
        <p:nvPr/>
      </p:nvGrpSpPr>
      <p:grpSpPr>
        <a:xfrm>
          <a:off x="0" y="0"/>
          <a:ext cx="0" cy="0"/>
          <a:chOff x="0" y="0"/>
          <a:chExt cx="0" cy="0"/>
        </a:xfrm>
      </p:grpSpPr>
      <p:sp>
        <p:nvSpPr>
          <p:cNvPr id="2" name="Text 0"/>
          <p:cNvSpPr txBox="1"/>
          <p:nvPr/>
        </p:nvSpPr>
        <p:spPr>
          <a:xfrm>
            <a:off x="822960" y="54864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Conclusion</a:t>
            </a:r>
            <a:endParaRPr lang="en-US" sz="4000" dirty="0"/>
          </a:p>
        </p:txBody>
      </p:sp>
      <p:sp>
        <p:nvSpPr>
          <p:cNvPr id="3" name="Shape 1"/>
          <p:cNvSpPr/>
          <p:nvPr/>
        </p:nvSpPr>
        <p:spPr>
          <a:xfrm>
            <a:off x="822960" y="1600200"/>
            <a:ext cx="777240" cy="777240"/>
          </a:xfrm>
          <a:prstGeom prst="ellipse">
            <a:avLst/>
          </a:prstGeom>
          <a:solidFill>
            <a:srgbClr val="1F4E79"/>
          </a:solidFill>
          <a:ln w="19050">
            <a:solidFill>
              <a:srgbClr val="FFFFFF"/>
            </a:solidFill>
            <a:prstDash val="solid"/>
          </a:ln>
        </p:spPr>
      </p:sp>
      <p:sp>
        <p:nvSpPr>
          <p:cNvPr id="4" name="Text 2"/>
          <p:cNvSpPr txBox="1"/>
          <p:nvPr/>
        </p:nvSpPr>
        <p:spPr>
          <a:xfrm>
            <a:off x="822960" y="16002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R</a:t>
            </a:r>
            <a:endParaRPr lang="en-US" sz="2200" dirty="0"/>
          </a:p>
        </p:txBody>
      </p:sp>
      <p:sp>
        <p:nvSpPr>
          <p:cNvPr id="5" name="Text 3"/>
          <p:cNvSpPr txBox="1"/>
          <p:nvPr/>
        </p:nvSpPr>
        <p:spPr>
          <a:xfrm>
            <a:off x="1828800" y="1600200"/>
            <a:ext cx="2103120"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Relations</a:t>
            </a:r>
            <a:endParaRPr lang="en-US" sz="2200" dirty="0"/>
          </a:p>
        </p:txBody>
      </p:sp>
      <p:sp>
        <p:nvSpPr>
          <p:cNvPr id="6" name="Text 4"/>
          <p:cNvSpPr txBox="1"/>
          <p:nvPr/>
        </p:nvSpPr>
        <p:spPr>
          <a:xfrm>
            <a:off x="3931920" y="1600200"/>
            <a:ext cx="7406640" cy="7772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Evidence supporting H1: consistent gains, limited by five folds; inductive confirmation with DGTS.</a:t>
            </a:r>
            <a:endParaRPr lang="en-US" sz="1600" dirty="0"/>
          </a:p>
        </p:txBody>
      </p:sp>
      <p:sp>
        <p:nvSpPr>
          <p:cNvPr id="7" name="Shape 5"/>
          <p:cNvSpPr/>
          <p:nvPr/>
        </p:nvSpPr>
        <p:spPr>
          <a:xfrm>
            <a:off x="822960" y="2788920"/>
            <a:ext cx="777240" cy="777240"/>
          </a:xfrm>
          <a:prstGeom prst="ellipse">
            <a:avLst/>
          </a:prstGeom>
          <a:solidFill>
            <a:srgbClr val="1B7A4E"/>
          </a:solidFill>
          <a:ln w="19050">
            <a:solidFill>
              <a:srgbClr val="FFFFFF"/>
            </a:solidFill>
            <a:prstDash val="solid"/>
          </a:ln>
        </p:spPr>
      </p:sp>
      <p:sp>
        <p:nvSpPr>
          <p:cNvPr id="8" name="Text 6"/>
          <p:cNvSpPr txBox="1"/>
          <p:nvPr/>
        </p:nvSpPr>
        <p:spPr>
          <a:xfrm>
            <a:off x="822960" y="27889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S</a:t>
            </a:r>
            <a:endParaRPr lang="en-US" sz="2200" dirty="0"/>
          </a:p>
        </p:txBody>
      </p:sp>
      <p:sp>
        <p:nvSpPr>
          <p:cNvPr id="9" name="Text 7"/>
          <p:cNvSpPr txBox="1"/>
          <p:nvPr/>
        </p:nvSpPr>
        <p:spPr>
          <a:xfrm>
            <a:off x="1828800" y="2788920"/>
            <a:ext cx="2103120"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Topology</a:t>
            </a:r>
            <a:endParaRPr lang="en-US" sz="2200" dirty="0"/>
          </a:p>
        </p:txBody>
      </p:sp>
      <p:sp>
        <p:nvSpPr>
          <p:cNvPr id="10" name="Text 8"/>
          <p:cNvSpPr txBox="1"/>
          <p:nvPr/>
        </p:nvSpPr>
        <p:spPr>
          <a:xfrm>
            <a:off x="3931920" y="2788920"/>
            <a:ext cx="7406640" cy="7772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small but robust statistical association (H2); a useful regulariser in DGTS; not a biomarker.</a:t>
            </a:r>
            <a:endParaRPr lang="en-US" sz="1600" dirty="0"/>
          </a:p>
        </p:txBody>
      </p:sp>
      <p:sp>
        <p:nvSpPr>
          <p:cNvPr id="11" name="Shape 9"/>
          <p:cNvSpPr/>
          <p:nvPr/>
        </p:nvSpPr>
        <p:spPr>
          <a:xfrm>
            <a:off x="822960" y="3977640"/>
            <a:ext cx="777240" cy="777240"/>
          </a:xfrm>
          <a:prstGeom prst="ellipse">
            <a:avLst/>
          </a:prstGeom>
          <a:solidFill>
            <a:srgbClr val="6B3D8C"/>
          </a:solidFill>
          <a:ln w="19050">
            <a:solidFill>
              <a:srgbClr val="FFFFFF"/>
            </a:solidFill>
            <a:prstDash val="solid"/>
          </a:ln>
        </p:spPr>
      </p:sp>
      <p:sp>
        <p:nvSpPr>
          <p:cNvPr id="12" name="Text 10"/>
          <p:cNvSpPr txBox="1"/>
          <p:nvPr/>
        </p:nvSpPr>
        <p:spPr>
          <a:xfrm>
            <a:off x="822960" y="397764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O</a:t>
            </a:r>
            <a:endParaRPr lang="en-US" sz="2200" dirty="0"/>
          </a:p>
        </p:txBody>
      </p:sp>
      <p:sp>
        <p:nvSpPr>
          <p:cNvPr id="13" name="Text 11"/>
          <p:cNvSpPr txBox="1"/>
          <p:nvPr/>
        </p:nvSpPr>
        <p:spPr>
          <a:xfrm>
            <a:off x="1828800" y="3977640"/>
            <a:ext cx="2103120"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Ordinality</a:t>
            </a:r>
            <a:endParaRPr lang="en-US" sz="2200" dirty="0"/>
          </a:p>
        </p:txBody>
      </p:sp>
      <p:sp>
        <p:nvSpPr>
          <p:cNvPr id="14" name="Text 12"/>
          <p:cNvSpPr txBox="1"/>
          <p:nvPr/>
        </p:nvSpPr>
        <p:spPr>
          <a:xfrm>
            <a:off x="3931920" y="3977640"/>
            <a:ext cx="7406640" cy="7772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DOTS satisfies the screening targets at the point estimate, internally and on Messidor-2; safety not yet demonstrated.</a:t>
            </a:r>
            <a:endParaRPr lang="en-US" sz="1600" dirty="0"/>
          </a:p>
        </p:txBody>
      </p:sp>
      <p:sp>
        <p:nvSpPr>
          <p:cNvPr id="15" name="Text 13"/>
          <p:cNvSpPr txBox="1"/>
          <p:nvPr/>
        </p:nvSpPr>
        <p:spPr>
          <a:xfrm>
            <a:off x="822960" y="5212080"/>
            <a:ext cx="10515600" cy="731520"/>
          </a:xfrm>
          <a:prstGeom prst="rect">
            <a:avLst/>
          </a:prstGeom>
          <a:noFill/>
          <a:ln/>
        </p:spPr>
        <p:txBody>
          <a:bodyPr wrap="square" lIns="0" tIns="0" rIns="0" bIns="0" rtlCol="0" anchor="ctr"/>
          <a:lstStyle/>
          <a:p>
            <a:pPr indent="0" marL="0">
              <a:buNone/>
            </a:pPr>
            <a:r>
              <a:rPr lang="en-US" sz="1800" i="1" dirty="0">
                <a:solidFill>
                  <a:srgbClr val="FFFFFF"/>
                </a:solidFill>
                <a:latin typeface="Cambria" pitchFamily="34" charset="0"/>
                <a:ea typeface="Cambria" pitchFamily="34" charset="-122"/>
                <a:cs typeface="Cambria" pitchFamily="34" charset="-120"/>
              </a:rPr>
              <a:t>Relational, topological and ordinal information can complement deep visual representations for DR grading: here is the evidence, and here is exactly where it stops.</a:t>
            </a:r>
            <a:endParaRPr lang="en-US" sz="1800" dirty="0"/>
          </a:p>
        </p:txBody>
      </p:sp>
      <p:sp>
        <p:nvSpPr>
          <p:cNvPr id="16" name="Text 14"/>
          <p:cNvSpPr txBox="1"/>
          <p:nvPr/>
        </p:nvSpPr>
        <p:spPr>
          <a:xfrm>
            <a:off x="822960" y="5989320"/>
            <a:ext cx="10515600" cy="457200"/>
          </a:xfrm>
          <a:prstGeom prst="rect">
            <a:avLst/>
          </a:prstGeom>
          <a:noFill/>
          <a:ln/>
        </p:spPr>
        <p:txBody>
          <a:bodyPr wrap="square" lIns="0" tIns="0" rIns="0" bIns="0" rtlCol="0" anchor="ctr"/>
          <a:lstStyle/>
          <a:p>
            <a:pPr indent="0" marL="0">
              <a:buNone/>
            </a:pPr>
            <a:r>
              <a:rPr lang="en-US" sz="1800" b="1" dirty="0">
                <a:solidFill>
                  <a:srgbClr val="CADCFC"/>
                </a:solidFill>
                <a:latin typeface="Cambria" pitchFamily="34" charset="0"/>
                <a:ea typeface="Cambria" pitchFamily="34" charset="-122"/>
                <a:cs typeface="Cambria" pitchFamily="34" charset="-120"/>
              </a:rPr>
              <a:t>Thank you for your attention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PhD defence - Deep Learning-Based Prediction of Disease Severity Using Medical Imaging</dc:title>
  <dc:subject>PptxGenJS Presentation</dc:subject>
  <dc:creator>Nader Belhadj</dc:creator>
  <cp:lastModifiedBy>Nader Belhadj</cp:lastModifiedBy>
  <cp:revision>1</cp:revision>
  <dcterms:created xsi:type="dcterms:W3CDTF">2026-09-29T22:04:54Z</dcterms:created>
  <dcterms:modified xsi:type="dcterms:W3CDTF">2026-09-29T22:04:54Z</dcterms:modified>
</cp:coreProperties>
</file>